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Vandaag laat ik TaskBuddy zien — een app die mensen met een licht verstandelijke beperking helpt hun dag te overzien, en hun begeleider grip geeft.
Belangrijk om vooraf te benoemen: dit is geen losse "leuke app". Elke kernfunctie is gebaseerd op bestaande wetenschappelijke literatuur over technologie en LVB. Dat is wat ik in deze presentatie laat zien — eerst de app, en daarna per onderdeel waarom we het zo gemaakt hebben.
De presentatie duurt ongeveer 8 minuten. Vragen graag aan het einde.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Nederland hebben 1,1 miljoen mensen een lichte verstandelijke beperking. Voor velen van hen zijn deze vier dingen elke dag een drempel:
1. Taken opbouwen — stap voor stap een dagelijkse handeling doen.
2. Agenda missen — overzicht houden over wat er vandaag en morgen komt.
3. Medicijnen vergeten — vaste momenten zonder externe trigger.
4. Vol hoofd — plotselinge overprikkeling.
Dit zijn niet "leuke probleempjes om op te lossen met techniek" — het zijn de exacte drempels die in de Nederlandse literatuur (Innovatie-impuls Academy Het Dorp, 2021) worden benoemd als belangrijkste obstakels voor zelfredzaamheid.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zit de kern van het verhaal. TaskBuddy is opgebouwd rond vier pijlers uit de literatuur.
Pijler 1 — Visual Activity Schedules. Knight en collega's toonden in 2017 aan dat dit een evidence-based practice is voor dagelijkse vaardigheden.
Pijler 2 — De W3C richtlijnen voor cognitieve toegankelijkheid: voorspelbaarheid, simpele taal op B1-niveau, kleine stappen.
Pijler 3 — App-based token economies. Saini en collega's lieten zien dat dit zelfs tot 6 weken na het stoppen van de interventie nog effect heeft.
Pijler 4 — Emotieregulatie. Recente reviews benadrukken: eerst herkennen wat je voelt, dan reguleren. Dit is de basis voor onze "vol hoofd"-feature.
Elke functie die ik straks laat zien koppel ik terug naar één van deze pijlers.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wat de cliënt ziet als hij inlogt. Grote knoppen, één doel per tegel, geen ruis.
Belangrijk: in de cliëntomgeving is geen tekst-zware uitleg. Alles is icoon + woord + spraak. Dit is precies de Steffie-methode die in Nederland al jaren bewezen werkt voor B1-communicatie.
De rechter-tegel — de beloningenboom — is meer dan decoratie. Het is een visueel anker voor voortgang. Daar kom ik bij slide 7 op terug.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begeleider ziet 9 tegels — alles binnen handbereik, niets verstopt in menu's.
Rechts zie je de AI-functies. Dit is bewust beperkt en gericht: AI doet hier alleen dingen die de begeleider tíjd besparen — taken voorstellen, taal vereenvoudigen, een conceptrapportage maken. De begeleider blijft eindverantwoordelijk.
De Innovatie-impuls (Academy Het Dorp, 2021) benoemt expliciet dat technologie in de gehandicaptenzorg vaak faalt omdat het de begeleider méér werk geeft. Hier hebben we omgekeerd ontworpen — de AI verlaagt belasting.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een van de twee verbeteringen die we vanuit de literatuur hebben doorgevoerd.
Vroeger was het simpel: je tikt op "vol hoofd" en je krijgt direct een lijst met rust-activiteiten.
Maar emotieregulatie-onderzoek bij LVB (Tandfonline 2024-2025) laat zien: kinderen en jongeren met een verstandelijke beperking moeten eerst hun gevoel herkennen voordat regulatie effectief is. Dus we hebben de flow uitgebreid naar drie stappen.
Stap 1: hoe voelt het? Drie kernopties — druk, boos, verdrietig. Bewust beperkt, want te veel keuze geeft beslisstress.
Stap 2: wat helpt? Hier komt de activiteitenlijst.
Stap 3: hielp dit? Een eenvoudige duim omhoog of omlaag.
Deze stap-3 data slaan we op. Over de tijd ziet de begeleider per cliënt welke strategie het beste werkt. Dat is gericht ondersteunen, gepersonaliseerd door echte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tweede verbetering. Voorheen kreeg de cliënt zijn beloning pas als de hele taak — dus alle stappen — klaar was. Dat is voor mensen met LVB vaak te ver weg.
Saini en collega's lieten in 2023 zien dat app-based token economies dramatisch effectiever zijn als de beloning direct en frequent komt. Het effect bleef tot zes weken na de interventie aanhouden.
Dus nu krijgt de cliënt bij elke voltooide stap een micro-celebration: korte animatie met sterren, een +1 die opzweeft, en een vriendelijk kort geluid. 0,75 seconde — niet storend, wel positief versterkend.
Voor de gedragskundige: dit is operant-conditioneringstechniek in zijn meest directe vorm. Positieve bekrachtiging op het moment van het gewenste gedrag.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Voor de gedragskundige: dit is dé slide om bij stil te staan.
In één tabel: elke kernfunctie van TaskBuddy gekoppeld aan een specifieke bron uit de literatuur. Geen functie staat hier zonder onderbouwing.
Loop even hardop door de drie meest opvallende:
- "Vol hoofd: emotie vóór actie" — direct uit recent emotie-regulatie-onderzoek.
- "Beloningenboom met micro-celebrations" — token economy literatuur.
- "B1-taalcheck door AI" — operationaliseert WCAG-richtlijn 3.1.5.
Vraag of er specifieke functies zijn waar de gedragskundige meer over wil weten — die kunnen we daarna in detail bespreken.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 slot: wat levert dit de organisatie op?
Vier dingen, met elk een concrete verandering:
1. Minder crisismomenten — door de emotiekaart vangen we vroeger op wat eraan komt.
2. Snellere rapportage — AI maakt een conceptrapportage; de begeleider stuurt bij.
3. Soepele overdracht — de "op dienst"-tegel maakt op elk moment duidelijk wie de eerste contactpersoon is.
4. Datagedreven beslissingen — per cliënt zien we wat werkt, niet alleen wat gebeurt.
En de quote rechts vat het samen: een rustig hoofd voor de cliënt, overzicht voor het team. Dat is het doel.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 brengt me bij het slot. "Klein in handen, groot in impact" — die tagline vat samen wat we proberen te doen.
Rechts staan de zeven kernbronnen die de basis vormen. Deze stuur ik graag in de bijlage door, samen met de directe links.
Ik wil het hier laten — dank voor jullie aandacht. Vragen?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645F"/>
        </a:solidFill>
      </p:bgPr>
    </p:bg>
    <p:spTree>
      <p:nvGrpSpPr>
        <p:cNvPr id="1" name=""/>
        <p:cNvGrpSpPr/>
        <p:nvPr/>
      </p:nvGrpSpPr>
      <p:grpSpPr>
        <a:xfrm>
          <a:off x="0" y="0"/>
          <a:ext cx="0" cy="0"/>
          <a:chOff x="0" y="0"/>
          <a:chExt cx="0" cy="0"/>
        </a:xfrm>
      </p:grpSpPr>
      <p:sp>
        <p:nvSpPr>
          <p:cNvPr id="2" name="Shape 0"/>
          <p:cNvSpPr/>
          <p:nvPr/>
        </p:nvSpPr>
        <p:spPr>
          <a:xfrm>
            <a:off x="8686800" y="-1828800"/>
            <a:ext cx="7315200" cy="7315200"/>
          </a:xfrm>
          <a:prstGeom prst="ellipse">
            <a:avLst/>
          </a:prstGeom>
          <a:solidFill>
            <a:srgbClr val="0E3F3C"/>
          </a:solidFill>
          <a:ln w="12700">
            <a:solidFill>
              <a:srgbClr val="0E3F3C"/>
            </a:solidFill>
            <a:prstDash val="solid"/>
          </a:ln>
        </p:spPr>
      </p:sp>
      <p:sp>
        <p:nvSpPr>
          <p:cNvPr id="3" name="Shape 1"/>
          <p:cNvSpPr/>
          <p:nvPr/>
        </p:nvSpPr>
        <p:spPr>
          <a:xfrm>
            <a:off x="9601200" y="-914400"/>
            <a:ext cx="4572000" cy="4572000"/>
          </a:xfrm>
          <a:prstGeom prst="ellipse">
            <a:avLst/>
          </a:prstGeom>
          <a:solidFill>
            <a:srgbClr val="80A599"/>
          </a:solidFill>
          <a:ln w="12700">
            <a:solidFill>
              <a:srgbClr val="80A599"/>
            </a:solidFill>
            <a:prstDash val="solid"/>
          </a:ln>
        </p:spPr>
      </p:sp>
      <p:sp>
        <p:nvSpPr>
          <p:cNvPr id="4" name="Shape 2"/>
          <p:cNvSpPr/>
          <p:nvPr/>
        </p:nvSpPr>
        <p:spPr>
          <a:xfrm>
            <a:off x="914400" y="5303520"/>
            <a:ext cx="365760" cy="365760"/>
          </a:xfrm>
          <a:prstGeom prst="ellipse">
            <a:avLst/>
          </a:prstGeom>
          <a:solidFill>
            <a:srgbClr val="FFD3C2"/>
          </a:solidFill>
          <a:ln w="12700">
            <a:solidFill>
              <a:srgbClr val="FFD3C2"/>
            </a:solidFill>
            <a:prstDash val="solid"/>
          </a:ln>
        </p:spPr>
      </p:sp>
      <p:sp>
        <p:nvSpPr>
          <p:cNvPr id="5" name="Shape 3"/>
          <p:cNvSpPr/>
          <p:nvPr/>
        </p:nvSpPr>
        <p:spPr>
          <a:xfrm>
            <a:off x="1463040" y="5669280"/>
            <a:ext cx="201168" cy="201168"/>
          </a:xfrm>
          <a:prstGeom prst="ellipse">
            <a:avLst/>
          </a:prstGeom>
          <a:solidFill>
            <a:srgbClr val="E0805A"/>
          </a:solidFill>
          <a:ln w="12700">
            <a:solidFill>
              <a:srgbClr val="E0805A"/>
            </a:solidFill>
            <a:prstDash val="solid"/>
          </a:ln>
        </p:spPr>
      </p:sp>
      <p:sp>
        <p:nvSpPr>
          <p:cNvPr id="6" name="Shape 4"/>
          <p:cNvSpPr/>
          <p:nvPr/>
        </p:nvSpPr>
        <p:spPr>
          <a:xfrm>
            <a:off x="822960" y="1280160"/>
            <a:ext cx="2743200" cy="365760"/>
          </a:xfrm>
          <a:prstGeom prst="roundRect">
            <a:avLst>
              <a:gd name="adj" fmla="val 50000"/>
            </a:avLst>
          </a:prstGeom>
          <a:solidFill>
            <a:srgbClr val="FFD3C2"/>
          </a:solidFill>
          <a:ln w="12700">
            <a:solidFill>
              <a:srgbClr val="FFD3C2"/>
            </a:solidFill>
            <a:prstDash val="solid"/>
          </a:ln>
        </p:spPr>
      </p:sp>
      <p:sp>
        <p:nvSpPr>
          <p:cNvPr id="7" name="Text 5"/>
          <p:cNvSpPr/>
          <p:nvPr/>
        </p:nvSpPr>
        <p:spPr>
          <a:xfrm>
            <a:off x="822960" y="1280160"/>
            <a:ext cx="2743200" cy="365760"/>
          </a:xfrm>
          <a:prstGeom prst="rect">
            <a:avLst/>
          </a:prstGeom>
          <a:noFill/>
          <a:ln/>
        </p:spPr>
        <p:txBody>
          <a:bodyPr wrap="square" rtlCol="0" anchor="ctr"/>
          <a:lstStyle/>
          <a:p>
            <a:pPr algn="ctr" indent="0" marL="0">
              <a:buNone/>
            </a:pPr>
            <a:r>
              <a:rPr lang="en-US" sz="1000" b="1" spc="400" kern="0" dirty="0">
                <a:solidFill>
                  <a:srgbClr val="0E3F3C"/>
                </a:solidFill>
                <a:latin typeface="Helvetica" pitchFamily="34" charset="0"/>
                <a:ea typeface="Helvetica" pitchFamily="34" charset="-122"/>
                <a:cs typeface="Helvetica" pitchFamily="34" charset="-120"/>
              </a:rPr>
              <a:t>EVIDENCE-BASED · LVB</a:t>
            </a:r>
            <a:endParaRPr lang="en-US" sz="1000" dirty="0"/>
          </a:p>
        </p:txBody>
      </p:sp>
      <p:sp>
        <p:nvSpPr>
          <p:cNvPr id="8" name="Text 6"/>
          <p:cNvSpPr/>
          <p:nvPr/>
        </p:nvSpPr>
        <p:spPr>
          <a:xfrm>
            <a:off x="777240" y="1828800"/>
            <a:ext cx="7772400" cy="1280160"/>
          </a:xfrm>
          <a:prstGeom prst="rect">
            <a:avLst/>
          </a:prstGeom>
          <a:noFill/>
          <a:ln/>
        </p:spPr>
        <p:txBody>
          <a:bodyPr wrap="square" rtlCol="0" anchor="ctr"/>
          <a:lstStyle/>
          <a:p>
            <a:pPr indent="0" marL="0">
              <a:buNone/>
            </a:pPr>
            <a:r>
              <a:rPr lang="en-US" sz="8800" b="1" dirty="0">
                <a:solidFill>
                  <a:srgbClr val="FFFFFF"/>
                </a:solidFill>
                <a:latin typeface="Helvetica Neue" pitchFamily="34" charset="0"/>
                <a:ea typeface="Helvetica Neue" pitchFamily="34" charset="-122"/>
                <a:cs typeface="Helvetica Neue" pitchFamily="34" charset="-120"/>
              </a:rPr>
              <a:t>TaskBuddy</a:t>
            </a:r>
            <a:endParaRPr lang="en-US" sz="8800" dirty="0"/>
          </a:p>
        </p:txBody>
      </p:sp>
      <p:sp>
        <p:nvSpPr>
          <p:cNvPr id="9" name="Text 7"/>
          <p:cNvSpPr/>
          <p:nvPr/>
        </p:nvSpPr>
        <p:spPr>
          <a:xfrm>
            <a:off x="822960" y="3291840"/>
            <a:ext cx="7772400" cy="1280160"/>
          </a:xfrm>
          <a:prstGeom prst="rect">
            <a:avLst/>
          </a:prstGeom>
          <a:noFill/>
          <a:ln/>
        </p:spPr>
        <p:txBody>
          <a:bodyPr wrap="square" rtlCol="0" anchor="ctr"/>
          <a:lstStyle/>
          <a:p>
            <a:pPr indent="0" marL="0">
              <a:buNone/>
            </a:pPr>
            <a:r>
              <a:rPr lang="en-US" sz="2200" i="1" dirty="0">
                <a:solidFill>
                  <a:srgbClr val="EEECDE"/>
                </a:solidFill>
                <a:latin typeface="Helvetica Neue" pitchFamily="34" charset="0"/>
                <a:ea typeface="Helvetica Neue" pitchFamily="34" charset="-122"/>
                <a:cs typeface="Helvetica Neue" pitchFamily="34" charset="-120"/>
              </a:rPr>
              <a:t>Dagstructuur voor mensen met een licht</a:t>
            </a:r>
            <a:endParaRPr lang="en-US" sz="2200" dirty="0"/>
          </a:p>
          <a:p>
            <a:pPr indent="0" marL="0">
              <a:buNone/>
            </a:pPr>
            <a:r>
              <a:rPr lang="en-US" sz="2200" i="1" dirty="0">
                <a:solidFill>
                  <a:srgbClr val="EEECDE"/>
                </a:solidFill>
                <a:latin typeface="Helvetica Neue" pitchFamily="34" charset="0"/>
                <a:ea typeface="Helvetica Neue" pitchFamily="34" charset="-122"/>
                <a:cs typeface="Helvetica Neue" pitchFamily="34" charset="-120"/>
              </a:rPr>
              <a:t>verstandelijke beperking</a:t>
            </a:r>
            <a:endParaRPr lang="en-US" sz="2200" dirty="0"/>
          </a:p>
        </p:txBody>
      </p:sp>
      <p:sp>
        <p:nvSpPr>
          <p:cNvPr id="10" name="Text 8"/>
          <p:cNvSpPr/>
          <p:nvPr/>
        </p:nvSpPr>
        <p:spPr>
          <a:xfrm>
            <a:off x="822960" y="5029200"/>
            <a:ext cx="7772400" cy="365760"/>
          </a:xfrm>
          <a:prstGeom prst="rect">
            <a:avLst/>
          </a:prstGeom>
          <a:noFill/>
          <a:ln/>
        </p:spPr>
        <p:txBody>
          <a:bodyPr wrap="square" rtlCol="0" anchor="ctr"/>
          <a:lstStyle/>
          <a:p>
            <a:pPr indent="0" marL="0">
              <a:buNone/>
            </a:pPr>
            <a:r>
              <a:rPr lang="en-US" sz="1300" dirty="0">
                <a:solidFill>
                  <a:srgbClr val="FFD3C2"/>
                </a:solidFill>
                <a:latin typeface="Helvetica" pitchFamily="34" charset="0"/>
                <a:ea typeface="Helvetica" pitchFamily="34" charset="-122"/>
                <a:cs typeface="Helvetica" pitchFamily="34" charset="-120"/>
              </a:rPr>
              <a:t>Onderbouwd met internationale en Nederlandse literatuur</a:t>
            </a:r>
            <a:endParaRPr lang="en-US" sz="1300" dirty="0"/>
          </a:p>
        </p:txBody>
      </p:sp>
      <p:sp>
        <p:nvSpPr>
          <p:cNvPr id="11" name="Text 9"/>
          <p:cNvSpPr/>
          <p:nvPr/>
        </p:nvSpPr>
        <p:spPr>
          <a:xfrm>
            <a:off x="822960" y="5852160"/>
            <a:ext cx="3657600" cy="365760"/>
          </a:xfrm>
          <a:prstGeom prst="rect">
            <a:avLst/>
          </a:prstGeom>
          <a:noFill/>
          <a:ln/>
        </p:spPr>
        <p:txBody>
          <a:bodyPr wrap="square" rtlCol="0" anchor="ctr"/>
          <a:lstStyle/>
          <a:p>
            <a:pPr indent="0" marL="0">
              <a:buNone/>
            </a:pPr>
            <a:r>
              <a:rPr lang="en-US" sz="1300" dirty="0">
                <a:solidFill>
                  <a:srgbClr val="EEECDE"/>
                </a:solidFill>
                <a:latin typeface="Helvetica" pitchFamily="34" charset="0"/>
                <a:ea typeface="Helvetica" pitchFamily="34" charset="-122"/>
                <a:cs typeface="Helvetica" pitchFamily="34" charset="-120"/>
              </a:rPr>
              <a:t>Evelien Bruns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CDE"/>
        </a:solidFill>
      </p:bgPr>
    </p:bg>
    <p:spTree>
      <p:nvGrpSpPr>
        <p:cNvPr id="1" name=""/>
        <p:cNvGrpSpPr/>
        <p:nvPr/>
      </p:nvGrpSpPr>
      <p:grpSpPr>
        <a:xfrm>
          <a:off x="0" y="0"/>
          <a:ext cx="0" cy="0"/>
          <a:chOff x="0" y="0"/>
          <a:chExt cx="0" cy="0"/>
        </a:xfrm>
      </p:grpSpPr>
      <p:sp>
        <p:nvSpPr>
          <p:cNvPr id="2" name="Text 0"/>
          <p:cNvSpPr/>
          <p:nvPr/>
        </p:nvSpPr>
        <p:spPr>
          <a:xfrm>
            <a:off x="548640" y="457200"/>
            <a:ext cx="4572000" cy="365760"/>
          </a:xfrm>
          <a:prstGeom prst="rect">
            <a:avLst/>
          </a:prstGeom>
          <a:noFill/>
          <a:ln/>
        </p:spPr>
        <p:txBody>
          <a:bodyPr wrap="square" rtlCol="0" anchor="ctr"/>
          <a:lstStyle/>
          <a:p>
            <a:pPr indent="0" marL="0">
              <a:buNone/>
            </a:pPr>
            <a:r>
              <a:rPr lang="en-US" sz="1100" b="1" spc="600" kern="0" dirty="0">
                <a:solidFill>
                  <a:srgbClr val="E0805A"/>
                </a:solidFill>
                <a:latin typeface="Helvetica" pitchFamily="34" charset="0"/>
                <a:ea typeface="Helvetica" pitchFamily="34" charset="-122"/>
                <a:cs typeface="Helvetica" pitchFamily="34" charset="-120"/>
              </a:rPr>
              <a:t>01 · CONTEXT</a:t>
            </a:r>
            <a:endParaRPr lang="en-US" sz="1100" dirty="0"/>
          </a:p>
        </p:txBody>
      </p:sp>
      <p:sp>
        <p:nvSpPr>
          <p:cNvPr id="3" name="Text 1"/>
          <p:cNvSpPr/>
          <p:nvPr/>
        </p:nvSpPr>
        <p:spPr>
          <a:xfrm>
            <a:off x="548640" y="914400"/>
            <a:ext cx="8229600" cy="914400"/>
          </a:xfrm>
          <a:prstGeom prst="rect">
            <a:avLst/>
          </a:prstGeom>
          <a:noFill/>
          <a:ln/>
        </p:spPr>
        <p:txBody>
          <a:bodyPr wrap="square" rtlCol="0" anchor="ctr"/>
          <a:lstStyle/>
          <a:p>
            <a:pPr indent="0" marL="0">
              <a:buNone/>
            </a:pPr>
            <a:r>
              <a:rPr lang="en-US" sz="3400" b="1" dirty="0">
                <a:solidFill>
                  <a:srgbClr val="0E3F3C"/>
                </a:solidFill>
                <a:latin typeface="Helvetica Neue" pitchFamily="34" charset="0"/>
                <a:ea typeface="Helvetica Neue" pitchFamily="34" charset="-122"/>
                <a:cs typeface="Helvetica Neue" pitchFamily="34" charset="-120"/>
              </a:rPr>
              <a:t>Waar lopen ze tegenaan?</a:t>
            </a:r>
            <a:endParaRPr lang="en-US" sz="3400" dirty="0"/>
          </a:p>
        </p:txBody>
      </p:sp>
      <p:sp>
        <p:nvSpPr>
          <p:cNvPr id="4" name="Text 2"/>
          <p:cNvSpPr/>
          <p:nvPr/>
        </p:nvSpPr>
        <p:spPr>
          <a:xfrm>
            <a:off x="548640" y="1783080"/>
            <a:ext cx="8229600" cy="457200"/>
          </a:xfrm>
          <a:prstGeom prst="rect">
            <a:avLst/>
          </a:prstGeom>
          <a:noFill/>
          <a:ln/>
        </p:spPr>
        <p:txBody>
          <a:bodyPr wrap="square" rtlCol="0" anchor="ctr"/>
          <a:lstStyle/>
          <a:p>
            <a:pPr indent="0" marL="0">
              <a:buNone/>
            </a:pPr>
            <a:r>
              <a:rPr lang="en-US" sz="1500" i="1" dirty="0">
                <a:solidFill>
                  <a:srgbClr val="5A6E69"/>
                </a:solidFill>
                <a:latin typeface="Helvetica" pitchFamily="34" charset="0"/>
                <a:ea typeface="Helvetica" pitchFamily="34" charset="-122"/>
                <a:cs typeface="Helvetica" pitchFamily="34" charset="-120"/>
              </a:rPr>
              <a:t>Vier terugkerende drempels in het dagelijks leven.</a:t>
            </a:r>
            <a:endParaRPr lang="en-US" sz="1500" dirty="0"/>
          </a:p>
        </p:txBody>
      </p:sp>
      <p:sp>
        <p:nvSpPr>
          <p:cNvPr id="5" name="Shape 3"/>
          <p:cNvSpPr/>
          <p:nvPr/>
        </p:nvSpPr>
        <p:spPr>
          <a:xfrm>
            <a:off x="9144000" y="822960"/>
            <a:ext cx="2560320" cy="1371600"/>
          </a:xfrm>
          <a:prstGeom prst="roundRect">
            <a:avLst>
              <a:gd name="adj" fmla="val 10000"/>
            </a:avLst>
          </a:prstGeom>
          <a:solidFill>
            <a:srgbClr val="16645F"/>
          </a:solidFill>
          <a:ln w="12700">
            <a:solidFill>
              <a:srgbClr val="16645F"/>
            </a:solidFill>
            <a:prstDash val="solid"/>
          </a:ln>
        </p:spPr>
      </p:sp>
      <p:sp>
        <p:nvSpPr>
          <p:cNvPr id="6" name="Text 4"/>
          <p:cNvSpPr/>
          <p:nvPr/>
        </p:nvSpPr>
        <p:spPr>
          <a:xfrm>
            <a:off x="9144000" y="868680"/>
            <a:ext cx="2560320" cy="640080"/>
          </a:xfrm>
          <a:prstGeom prst="rect">
            <a:avLst/>
          </a:prstGeom>
          <a:noFill/>
          <a:ln/>
        </p:spPr>
        <p:txBody>
          <a:bodyPr wrap="square" rtlCol="0" anchor="ctr"/>
          <a:lstStyle/>
          <a:p>
            <a:pPr algn="ctr" indent="0" marL="0">
              <a:buNone/>
            </a:pPr>
            <a:r>
              <a:rPr lang="en-US" sz="3600" b="1" dirty="0">
                <a:solidFill>
                  <a:srgbClr val="FFFFFF"/>
                </a:solidFill>
                <a:latin typeface="Helvetica Neue" pitchFamily="34" charset="0"/>
                <a:ea typeface="Helvetica Neue" pitchFamily="34" charset="-122"/>
                <a:cs typeface="Helvetica Neue" pitchFamily="34" charset="-120"/>
              </a:rPr>
              <a:t>1,1 mln</a:t>
            </a:r>
            <a:endParaRPr lang="en-US" sz="3600" dirty="0"/>
          </a:p>
        </p:txBody>
      </p:sp>
      <p:sp>
        <p:nvSpPr>
          <p:cNvPr id="7" name="Text 5"/>
          <p:cNvSpPr/>
          <p:nvPr/>
        </p:nvSpPr>
        <p:spPr>
          <a:xfrm>
            <a:off x="9144000" y="1554480"/>
            <a:ext cx="2560320" cy="548640"/>
          </a:xfrm>
          <a:prstGeom prst="rect">
            <a:avLst/>
          </a:prstGeom>
          <a:noFill/>
          <a:ln/>
        </p:spPr>
        <p:txBody>
          <a:bodyPr wrap="square" rtlCol="0" anchor="ctr"/>
          <a:lstStyle/>
          <a:p>
            <a:pPr algn="ctr" indent="0" marL="0">
              <a:buNone/>
            </a:pPr>
            <a:r>
              <a:rPr lang="en-US" sz="1100" i="1" dirty="0">
                <a:solidFill>
                  <a:srgbClr val="EEECDE"/>
                </a:solidFill>
                <a:latin typeface="Helvetica" pitchFamily="34" charset="0"/>
                <a:ea typeface="Helvetica" pitchFamily="34" charset="-122"/>
                <a:cs typeface="Helvetica" pitchFamily="34" charset="-120"/>
              </a:rPr>
              <a:t>mensen in NL met een LVB</a:t>
            </a:r>
            <a:endParaRPr lang="en-US" sz="1100" dirty="0"/>
          </a:p>
        </p:txBody>
      </p:sp>
      <p:sp>
        <p:nvSpPr>
          <p:cNvPr id="8" name="Shape 6"/>
          <p:cNvSpPr/>
          <p:nvPr/>
        </p:nvSpPr>
        <p:spPr>
          <a:xfrm>
            <a:off x="548640" y="2743200"/>
            <a:ext cx="5212080" cy="1691640"/>
          </a:xfrm>
          <a:prstGeom prst="roundRect">
            <a:avLst>
              <a:gd name="adj" fmla="val 8108"/>
            </a:avLst>
          </a:prstGeom>
          <a:solidFill>
            <a:srgbClr val="FFFFFF"/>
          </a:solidFill>
          <a:ln w="12700">
            <a:solidFill>
              <a:srgbClr val="DCD8C8"/>
            </a:solidFill>
            <a:prstDash val="solid"/>
          </a:ln>
        </p:spPr>
      </p:sp>
      <p:sp>
        <p:nvSpPr>
          <p:cNvPr id="9" name="Shape 7"/>
          <p:cNvSpPr/>
          <p:nvPr/>
        </p:nvSpPr>
        <p:spPr>
          <a:xfrm>
            <a:off x="822960" y="3017520"/>
            <a:ext cx="777240" cy="777240"/>
          </a:xfrm>
          <a:prstGeom prst="ellipse">
            <a:avLst/>
          </a:prstGeom>
          <a:solidFill>
            <a:srgbClr val="FFD3C2"/>
          </a:solidFill>
          <a:ln w="12700">
            <a:solidFill>
              <a:srgbClr val="FFD3C2"/>
            </a:solidFill>
            <a:prstDash val="solid"/>
          </a:ln>
        </p:spPr>
      </p:sp>
      <p:sp>
        <p:nvSpPr>
          <p:cNvPr id="10" name="Text 8"/>
          <p:cNvSpPr/>
          <p:nvPr/>
        </p:nvSpPr>
        <p:spPr>
          <a:xfrm>
            <a:off x="822960" y="3017520"/>
            <a:ext cx="777240" cy="7772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1" name="Text 9"/>
          <p:cNvSpPr/>
          <p:nvPr/>
        </p:nvSpPr>
        <p:spPr>
          <a:xfrm>
            <a:off x="1783080" y="3035808"/>
            <a:ext cx="3840480" cy="411480"/>
          </a:xfrm>
          <a:prstGeom prst="rect">
            <a:avLst/>
          </a:prstGeom>
          <a:noFill/>
          <a:ln/>
        </p:spPr>
        <p:txBody>
          <a:bodyPr wrap="square" rtlCol="0" anchor="ctr"/>
          <a:lstStyle/>
          <a:p>
            <a:pPr indent="0" marL="0">
              <a:buNone/>
            </a:pPr>
            <a:r>
              <a:rPr lang="en-US" sz="1800" b="1" dirty="0">
                <a:solidFill>
                  <a:srgbClr val="0E3F3C"/>
                </a:solidFill>
                <a:latin typeface="Helvetica Neue" pitchFamily="34" charset="0"/>
                <a:ea typeface="Helvetica Neue" pitchFamily="34" charset="-122"/>
                <a:cs typeface="Helvetica Neue" pitchFamily="34" charset="-120"/>
              </a:rPr>
              <a:t>Taken opbouwen</a:t>
            </a:r>
            <a:endParaRPr lang="en-US" sz="1800" dirty="0"/>
          </a:p>
        </p:txBody>
      </p:sp>
      <p:sp>
        <p:nvSpPr>
          <p:cNvPr id="12" name="Text 10"/>
          <p:cNvSpPr/>
          <p:nvPr/>
        </p:nvSpPr>
        <p:spPr>
          <a:xfrm>
            <a:off x="1783080" y="3474720"/>
            <a:ext cx="3840480" cy="822960"/>
          </a:xfrm>
          <a:prstGeom prst="rect">
            <a:avLst/>
          </a:prstGeom>
          <a:noFill/>
          <a:ln/>
        </p:spPr>
        <p:txBody>
          <a:bodyPr wrap="square" rtlCol="0" anchor="t"/>
          <a:lstStyle/>
          <a:p>
            <a:pPr indent="0" marL="0">
              <a:buNone/>
            </a:pPr>
            <a:r>
              <a:rPr lang="en-US" sz="1200" dirty="0">
                <a:solidFill>
                  <a:srgbClr val="5A6E69"/>
                </a:solidFill>
                <a:latin typeface="Helvetica" pitchFamily="34" charset="0"/>
                <a:ea typeface="Helvetica" pitchFamily="34" charset="-122"/>
                <a:cs typeface="Helvetica" pitchFamily="34" charset="-120"/>
              </a:rPr>
              <a:t>Stappen overzien valt vaak weg, met als gevolg afbreken of frustratie.</a:t>
            </a:r>
            <a:endParaRPr lang="en-US" sz="1200" dirty="0"/>
          </a:p>
        </p:txBody>
      </p:sp>
      <p:sp>
        <p:nvSpPr>
          <p:cNvPr id="13" name="Shape 11"/>
          <p:cNvSpPr/>
          <p:nvPr/>
        </p:nvSpPr>
        <p:spPr>
          <a:xfrm>
            <a:off x="6035040" y="2743200"/>
            <a:ext cx="5212080" cy="1691640"/>
          </a:xfrm>
          <a:prstGeom prst="roundRect">
            <a:avLst>
              <a:gd name="adj" fmla="val 8108"/>
            </a:avLst>
          </a:prstGeom>
          <a:solidFill>
            <a:srgbClr val="FFFFFF"/>
          </a:solidFill>
          <a:ln w="12700">
            <a:solidFill>
              <a:srgbClr val="DCD8C8"/>
            </a:solidFill>
            <a:prstDash val="solid"/>
          </a:ln>
        </p:spPr>
      </p:sp>
      <p:sp>
        <p:nvSpPr>
          <p:cNvPr id="14" name="Shape 12"/>
          <p:cNvSpPr/>
          <p:nvPr/>
        </p:nvSpPr>
        <p:spPr>
          <a:xfrm>
            <a:off x="6309360" y="3017520"/>
            <a:ext cx="777240" cy="777240"/>
          </a:xfrm>
          <a:prstGeom prst="ellipse">
            <a:avLst/>
          </a:prstGeom>
          <a:solidFill>
            <a:srgbClr val="FFD3C2"/>
          </a:solidFill>
          <a:ln w="12700">
            <a:solidFill>
              <a:srgbClr val="FFD3C2"/>
            </a:solidFill>
            <a:prstDash val="solid"/>
          </a:ln>
        </p:spPr>
      </p:sp>
      <p:sp>
        <p:nvSpPr>
          <p:cNvPr id="15" name="Text 13"/>
          <p:cNvSpPr/>
          <p:nvPr/>
        </p:nvSpPr>
        <p:spPr>
          <a:xfrm>
            <a:off x="6309360" y="3017520"/>
            <a:ext cx="777240" cy="7772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6" name="Text 14"/>
          <p:cNvSpPr/>
          <p:nvPr/>
        </p:nvSpPr>
        <p:spPr>
          <a:xfrm>
            <a:off x="7269480" y="3035808"/>
            <a:ext cx="3840480" cy="411480"/>
          </a:xfrm>
          <a:prstGeom prst="rect">
            <a:avLst/>
          </a:prstGeom>
          <a:noFill/>
          <a:ln/>
        </p:spPr>
        <p:txBody>
          <a:bodyPr wrap="square" rtlCol="0" anchor="ctr"/>
          <a:lstStyle/>
          <a:p>
            <a:pPr indent="0" marL="0">
              <a:buNone/>
            </a:pPr>
            <a:r>
              <a:rPr lang="en-US" sz="1800" b="1" dirty="0">
                <a:solidFill>
                  <a:srgbClr val="0E3F3C"/>
                </a:solidFill>
                <a:latin typeface="Helvetica Neue" pitchFamily="34" charset="0"/>
                <a:ea typeface="Helvetica Neue" pitchFamily="34" charset="-122"/>
                <a:cs typeface="Helvetica Neue" pitchFamily="34" charset="-120"/>
              </a:rPr>
              <a:t>Agenda missen</a:t>
            </a:r>
            <a:endParaRPr lang="en-US" sz="1800" dirty="0"/>
          </a:p>
        </p:txBody>
      </p:sp>
      <p:sp>
        <p:nvSpPr>
          <p:cNvPr id="17" name="Text 15"/>
          <p:cNvSpPr/>
          <p:nvPr/>
        </p:nvSpPr>
        <p:spPr>
          <a:xfrm>
            <a:off x="7269480" y="3474720"/>
            <a:ext cx="3840480" cy="822960"/>
          </a:xfrm>
          <a:prstGeom prst="rect">
            <a:avLst/>
          </a:prstGeom>
          <a:noFill/>
          <a:ln/>
        </p:spPr>
        <p:txBody>
          <a:bodyPr wrap="square" rtlCol="0" anchor="t"/>
          <a:lstStyle/>
          <a:p>
            <a:pPr indent="0" marL="0">
              <a:buNone/>
            </a:pPr>
            <a:r>
              <a:rPr lang="en-US" sz="1200" dirty="0">
                <a:solidFill>
                  <a:srgbClr val="5A6E69"/>
                </a:solidFill>
                <a:latin typeface="Helvetica" pitchFamily="34" charset="0"/>
                <a:ea typeface="Helvetica" pitchFamily="34" charset="-122"/>
                <a:cs typeface="Helvetica" pitchFamily="34" charset="-120"/>
              </a:rPr>
              <a:t>Wat komt er vandaag? Wat morgen? Het overzicht verdwijnt snel.</a:t>
            </a:r>
            <a:endParaRPr lang="en-US" sz="1200" dirty="0"/>
          </a:p>
        </p:txBody>
      </p:sp>
      <p:sp>
        <p:nvSpPr>
          <p:cNvPr id="18" name="Shape 16"/>
          <p:cNvSpPr/>
          <p:nvPr/>
        </p:nvSpPr>
        <p:spPr>
          <a:xfrm>
            <a:off x="548640" y="4663440"/>
            <a:ext cx="5212080" cy="1691640"/>
          </a:xfrm>
          <a:prstGeom prst="roundRect">
            <a:avLst>
              <a:gd name="adj" fmla="val 8108"/>
            </a:avLst>
          </a:prstGeom>
          <a:solidFill>
            <a:srgbClr val="FFFFFF"/>
          </a:solidFill>
          <a:ln w="12700">
            <a:solidFill>
              <a:srgbClr val="DCD8C8"/>
            </a:solidFill>
            <a:prstDash val="solid"/>
          </a:ln>
        </p:spPr>
      </p:sp>
      <p:sp>
        <p:nvSpPr>
          <p:cNvPr id="19" name="Shape 17"/>
          <p:cNvSpPr/>
          <p:nvPr/>
        </p:nvSpPr>
        <p:spPr>
          <a:xfrm>
            <a:off x="822960" y="4937760"/>
            <a:ext cx="777240" cy="777240"/>
          </a:xfrm>
          <a:prstGeom prst="ellipse">
            <a:avLst/>
          </a:prstGeom>
          <a:solidFill>
            <a:srgbClr val="FFD3C2"/>
          </a:solidFill>
          <a:ln w="12700">
            <a:solidFill>
              <a:srgbClr val="FFD3C2"/>
            </a:solidFill>
            <a:prstDash val="solid"/>
          </a:ln>
        </p:spPr>
      </p:sp>
      <p:sp>
        <p:nvSpPr>
          <p:cNvPr id="20" name="Text 18"/>
          <p:cNvSpPr/>
          <p:nvPr/>
        </p:nvSpPr>
        <p:spPr>
          <a:xfrm>
            <a:off x="822960" y="4937760"/>
            <a:ext cx="777240" cy="7772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1" name="Text 19"/>
          <p:cNvSpPr/>
          <p:nvPr/>
        </p:nvSpPr>
        <p:spPr>
          <a:xfrm>
            <a:off x="1783080" y="4956048"/>
            <a:ext cx="3840480" cy="411480"/>
          </a:xfrm>
          <a:prstGeom prst="rect">
            <a:avLst/>
          </a:prstGeom>
          <a:noFill/>
          <a:ln/>
        </p:spPr>
        <p:txBody>
          <a:bodyPr wrap="square" rtlCol="0" anchor="ctr"/>
          <a:lstStyle/>
          <a:p>
            <a:pPr indent="0" marL="0">
              <a:buNone/>
            </a:pPr>
            <a:r>
              <a:rPr lang="en-US" sz="1800" b="1" dirty="0">
                <a:solidFill>
                  <a:srgbClr val="0E3F3C"/>
                </a:solidFill>
                <a:latin typeface="Helvetica Neue" pitchFamily="34" charset="0"/>
                <a:ea typeface="Helvetica Neue" pitchFamily="34" charset="-122"/>
                <a:cs typeface="Helvetica Neue" pitchFamily="34" charset="-120"/>
              </a:rPr>
              <a:t>Medicijnen vergeten</a:t>
            </a:r>
            <a:endParaRPr lang="en-US" sz="1800" dirty="0"/>
          </a:p>
        </p:txBody>
      </p:sp>
      <p:sp>
        <p:nvSpPr>
          <p:cNvPr id="22" name="Text 20"/>
          <p:cNvSpPr/>
          <p:nvPr/>
        </p:nvSpPr>
        <p:spPr>
          <a:xfrm>
            <a:off x="1783080" y="5394960"/>
            <a:ext cx="3840480" cy="822960"/>
          </a:xfrm>
          <a:prstGeom prst="rect">
            <a:avLst/>
          </a:prstGeom>
          <a:noFill/>
          <a:ln/>
        </p:spPr>
        <p:txBody>
          <a:bodyPr wrap="square" rtlCol="0" anchor="t"/>
          <a:lstStyle/>
          <a:p>
            <a:pPr indent="0" marL="0">
              <a:buNone/>
            </a:pPr>
            <a:r>
              <a:rPr lang="en-US" sz="1200" dirty="0">
                <a:solidFill>
                  <a:srgbClr val="5A6E69"/>
                </a:solidFill>
                <a:latin typeface="Helvetica" pitchFamily="34" charset="0"/>
                <a:ea typeface="Helvetica" pitchFamily="34" charset="-122"/>
                <a:cs typeface="Helvetica" pitchFamily="34" charset="-120"/>
              </a:rPr>
              <a:t>Vaste momenten worden niet meer herinnerd zonder externe trigger.</a:t>
            </a:r>
            <a:endParaRPr lang="en-US" sz="1200" dirty="0"/>
          </a:p>
        </p:txBody>
      </p:sp>
      <p:sp>
        <p:nvSpPr>
          <p:cNvPr id="23" name="Shape 21"/>
          <p:cNvSpPr/>
          <p:nvPr/>
        </p:nvSpPr>
        <p:spPr>
          <a:xfrm>
            <a:off x="6035040" y="4663440"/>
            <a:ext cx="5212080" cy="1691640"/>
          </a:xfrm>
          <a:prstGeom prst="roundRect">
            <a:avLst>
              <a:gd name="adj" fmla="val 8108"/>
            </a:avLst>
          </a:prstGeom>
          <a:solidFill>
            <a:srgbClr val="FFFFFF"/>
          </a:solidFill>
          <a:ln w="12700">
            <a:solidFill>
              <a:srgbClr val="DCD8C8"/>
            </a:solidFill>
            <a:prstDash val="solid"/>
          </a:ln>
        </p:spPr>
      </p:sp>
      <p:sp>
        <p:nvSpPr>
          <p:cNvPr id="24" name="Shape 22"/>
          <p:cNvSpPr/>
          <p:nvPr/>
        </p:nvSpPr>
        <p:spPr>
          <a:xfrm>
            <a:off x="6309360" y="4937760"/>
            <a:ext cx="777240" cy="777240"/>
          </a:xfrm>
          <a:prstGeom prst="ellipse">
            <a:avLst/>
          </a:prstGeom>
          <a:solidFill>
            <a:srgbClr val="FFD3C2"/>
          </a:solidFill>
          <a:ln w="12700">
            <a:solidFill>
              <a:srgbClr val="FFD3C2"/>
            </a:solidFill>
            <a:prstDash val="solid"/>
          </a:ln>
        </p:spPr>
      </p:sp>
      <p:sp>
        <p:nvSpPr>
          <p:cNvPr id="25" name="Text 23"/>
          <p:cNvSpPr/>
          <p:nvPr/>
        </p:nvSpPr>
        <p:spPr>
          <a:xfrm>
            <a:off x="6309360" y="4937760"/>
            <a:ext cx="777240" cy="7772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6" name="Text 24"/>
          <p:cNvSpPr/>
          <p:nvPr/>
        </p:nvSpPr>
        <p:spPr>
          <a:xfrm>
            <a:off x="7269480" y="4956048"/>
            <a:ext cx="3840480" cy="411480"/>
          </a:xfrm>
          <a:prstGeom prst="rect">
            <a:avLst/>
          </a:prstGeom>
          <a:noFill/>
          <a:ln/>
        </p:spPr>
        <p:txBody>
          <a:bodyPr wrap="square" rtlCol="0" anchor="ctr"/>
          <a:lstStyle/>
          <a:p>
            <a:pPr indent="0" marL="0">
              <a:buNone/>
            </a:pPr>
            <a:r>
              <a:rPr lang="en-US" sz="1800" b="1" dirty="0">
                <a:solidFill>
                  <a:srgbClr val="0E3F3C"/>
                </a:solidFill>
                <a:latin typeface="Helvetica Neue" pitchFamily="34" charset="0"/>
                <a:ea typeface="Helvetica Neue" pitchFamily="34" charset="-122"/>
                <a:cs typeface="Helvetica Neue" pitchFamily="34" charset="-120"/>
              </a:rPr>
              <a:t>Vol hoofd</a:t>
            </a:r>
            <a:endParaRPr lang="en-US" sz="1800" dirty="0"/>
          </a:p>
        </p:txBody>
      </p:sp>
      <p:sp>
        <p:nvSpPr>
          <p:cNvPr id="27" name="Text 25"/>
          <p:cNvSpPr/>
          <p:nvPr/>
        </p:nvSpPr>
        <p:spPr>
          <a:xfrm>
            <a:off x="7269480" y="5394960"/>
            <a:ext cx="3840480" cy="822960"/>
          </a:xfrm>
          <a:prstGeom prst="rect">
            <a:avLst/>
          </a:prstGeom>
          <a:noFill/>
          <a:ln/>
        </p:spPr>
        <p:txBody>
          <a:bodyPr wrap="square" rtlCol="0" anchor="t"/>
          <a:lstStyle/>
          <a:p>
            <a:pPr indent="0" marL="0">
              <a:buNone/>
            </a:pPr>
            <a:r>
              <a:rPr lang="en-US" sz="1200" dirty="0">
                <a:solidFill>
                  <a:srgbClr val="5A6E69"/>
                </a:solidFill>
                <a:latin typeface="Helvetica" pitchFamily="34" charset="0"/>
                <a:ea typeface="Helvetica" pitchFamily="34" charset="-122"/>
                <a:cs typeface="Helvetica" pitchFamily="34" charset="-120"/>
              </a:rPr>
              <a:t>Overprikkeling slaat plotseling toe — er is dan rust en houvast nodig.</a:t>
            </a:r>
            <a:endParaRPr lang="en-US" sz="1200" dirty="0"/>
          </a:p>
        </p:txBody>
      </p:sp>
      <p:sp>
        <p:nvSpPr>
          <p:cNvPr id="28" name="Shape 26"/>
          <p:cNvSpPr/>
          <p:nvPr/>
        </p:nvSpPr>
        <p:spPr>
          <a:xfrm>
            <a:off x="411480" y="6446520"/>
            <a:ext cx="228600" cy="228600"/>
          </a:xfrm>
          <a:prstGeom prst="ellipse">
            <a:avLst/>
          </a:prstGeom>
          <a:solidFill>
            <a:srgbClr val="16645F"/>
          </a:solidFill>
          <a:ln w="12700">
            <a:solidFill>
              <a:srgbClr val="16645F"/>
            </a:solidFill>
            <a:prstDash val="solid"/>
          </a:ln>
        </p:spPr>
      </p:sp>
      <p:sp>
        <p:nvSpPr>
          <p:cNvPr id="29" name="Text 27"/>
          <p:cNvSpPr/>
          <p:nvPr/>
        </p:nvSpPr>
        <p:spPr>
          <a:xfrm>
            <a:off x="685800" y="6419088"/>
            <a:ext cx="1828800" cy="274320"/>
          </a:xfrm>
          <a:prstGeom prst="rect">
            <a:avLst/>
          </a:prstGeom>
          <a:noFill/>
          <a:ln/>
        </p:spPr>
        <p:txBody>
          <a:bodyPr wrap="square" rtlCol="0" anchor="ctr"/>
          <a:lstStyle/>
          <a:p>
            <a:pPr indent="0" marL="0">
              <a:buNone/>
            </a:pPr>
            <a:r>
              <a:rPr lang="en-US" sz="1000" b="1" dirty="0">
                <a:solidFill>
                  <a:srgbClr val="0E3F3C"/>
                </a:solidFill>
                <a:latin typeface="Helvetica Neue" pitchFamily="34" charset="0"/>
                <a:ea typeface="Helvetica Neue" pitchFamily="34" charset="-122"/>
                <a:cs typeface="Helvetica Neue" pitchFamily="34" charset="-120"/>
              </a:rPr>
              <a:t>TaskBuddy</a:t>
            </a:r>
            <a:endParaRPr lang="en-US" sz="1000" dirty="0"/>
          </a:p>
        </p:txBody>
      </p:sp>
      <p:sp>
        <p:nvSpPr>
          <p:cNvPr id="30" name="Text 28"/>
          <p:cNvSpPr/>
          <p:nvPr/>
        </p:nvSpPr>
        <p:spPr>
          <a:xfrm>
            <a:off x="11338560" y="6446520"/>
            <a:ext cx="640080" cy="320040"/>
          </a:xfrm>
          <a:prstGeom prst="rect">
            <a:avLst/>
          </a:prstGeom>
          <a:noFill/>
          <a:ln/>
        </p:spPr>
        <p:txBody>
          <a:bodyPr wrap="square" rtlCol="0" anchor="ctr"/>
          <a:lstStyle/>
          <a:p>
            <a:pPr algn="r" indent="0" marL="0">
              <a:buNone/>
            </a:pPr>
            <a:r>
              <a:rPr lang="en-US" sz="900" dirty="0">
                <a:solidFill>
                  <a:srgbClr val="94A29D"/>
                </a:solidFill>
                <a:latin typeface="Helvetica" pitchFamily="34" charset="0"/>
                <a:ea typeface="Helvetica" pitchFamily="34" charset="-122"/>
                <a:cs typeface="Helvetica"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365760"/>
          </a:xfrm>
          <a:prstGeom prst="rect">
            <a:avLst/>
          </a:prstGeom>
          <a:noFill/>
          <a:ln/>
        </p:spPr>
        <p:txBody>
          <a:bodyPr wrap="square" rtlCol="0" anchor="ctr"/>
          <a:lstStyle/>
          <a:p>
            <a:pPr indent="0" marL="0">
              <a:buNone/>
            </a:pPr>
            <a:r>
              <a:rPr lang="en-US" sz="1100" b="1" spc="600" kern="0" dirty="0">
                <a:solidFill>
                  <a:srgbClr val="E0805A"/>
                </a:solidFill>
                <a:latin typeface="Helvetica" pitchFamily="34" charset="0"/>
                <a:ea typeface="Helvetica" pitchFamily="34" charset="-122"/>
                <a:cs typeface="Helvetica" pitchFamily="34" charset="-120"/>
              </a:rPr>
              <a:t>02 · THEORETISCH KADER</a:t>
            </a:r>
            <a:endParaRPr lang="en-US" sz="1100" dirty="0"/>
          </a:p>
        </p:txBody>
      </p:sp>
      <p:sp>
        <p:nvSpPr>
          <p:cNvPr id="3" name="Text 1"/>
          <p:cNvSpPr/>
          <p:nvPr/>
        </p:nvSpPr>
        <p:spPr>
          <a:xfrm>
            <a:off x="548640" y="914400"/>
            <a:ext cx="10972800" cy="914400"/>
          </a:xfrm>
          <a:prstGeom prst="rect">
            <a:avLst/>
          </a:prstGeom>
          <a:noFill/>
          <a:ln/>
        </p:spPr>
        <p:txBody>
          <a:bodyPr wrap="square" rtlCol="0" anchor="ctr"/>
          <a:lstStyle/>
          <a:p>
            <a:pPr indent="0" marL="0">
              <a:buNone/>
            </a:pPr>
            <a:r>
              <a:rPr lang="en-US" sz="3400" b="1" dirty="0">
                <a:solidFill>
                  <a:srgbClr val="0E3F3C"/>
                </a:solidFill>
                <a:latin typeface="Helvetica Neue" pitchFamily="34" charset="0"/>
                <a:ea typeface="Helvetica Neue" pitchFamily="34" charset="-122"/>
                <a:cs typeface="Helvetica Neue" pitchFamily="34" charset="-120"/>
              </a:rPr>
              <a:t>Vier wetenschappelijke pijlers</a:t>
            </a:r>
            <a:endParaRPr lang="en-US" sz="3400" dirty="0"/>
          </a:p>
        </p:txBody>
      </p:sp>
      <p:sp>
        <p:nvSpPr>
          <p:cNvPr id="4" name="Text 2"/>
          <p:cNvSpPr/>
          <p:nvPr/>
        </p:nvSpPr>
        <p:spPr>
          <a:xfrm>
            <a:off x="548640" y="1783080"/>
            <a:ext cx="10972800" cy="457200"/>
          </a:xfrm>
          <a:prstGeom prst="rect">
            <a:avLst/>
          </a:prstGeom>
          <a:noFill/>
          <a:ln/>
        </p:spPr>
        <p:txBody>
          <a:bodyPr wrap="square" rtlCol="0" anchor="ctr"/>
          <a:lstStyle/>
          <a:p>
            <a:pPr indent="0" marL="0">
              <a:buNone/>
            </a:pPr>
            <a:r>
              <a:rPr lang="en-US" sz="1500" i="1" dirty="0">
                <a:solidFill>
                  <a:srgbClr val="5A6E69"/>
                </a:solidFill>
                <a:latin typeface="Helvetica" pitchFamily="34" charset="0"/>
                <a:ea typeface="Helvetica" pitchFamily="34" charset="-122"/>
                <a:cs typeface="Helvetica" pitchFamily="34" charset="-120"/>
              </a:rPr>
              <a:t>De architectuur van TaskBuddy rust op evidence-based principes.</a:t>
            </a:r>
            <a:endParaRPr lang="en-US" sz="1500" dirty="0"/>
          </a:p>
        </p:txBody>
      </p:sp>
      <p:sp>
        <p:nvSpPr>
          <p:cNvPr id="5" name="Shape 3"/>
          <p:cNvSpPr/>
          <p:nvPr/>
        </p:nvSpPr>
        <p:spPr>
          <a:xfrm>
            <a:off x="548640" y="2331720"/>
            <a:ext cx="2743200" cy="3657600"/>
          </a:xfrm>
          <a:prstGeom prst="roundRect">
            <a:avLst>
              <a:gd name="adj" fmla="val 5000"/>
            </a:avLst>
          </a:prstGeom>
          <a:solidFill>
            <a:srgbClr val="B2DCFA"/>
          </a:solidFill>
          <a:ln w="12700">
            <a:solidFill>
              <a:srgbClr val="B2DCFA"/>
            </a:solidFill>
            <a:prstDash val="solid"/>
          </a:ln>
        </p:spPr>
      </p:sp>
      <p:sp>
        <p:nvSpPr>
          <p:cNvPr id="6" name="Shape 4"/>
          <p:cNvSpPr/>
          <p:nvPr/>
        </p:nvSpPr>
        <p:spPr>
          <a:xfrm>
            <a:off x="548640" y="2331720"/>
            <a:ext cx="2743200" cy="57150"/>
          </a:xfrm>
          <a:prstGeom prst="rect">
            <a:avLst/>
          </a:prstGeom>
          <a:solidFill>
            <a:srgbClr val="7FA4C6"/>
          </a:solidFill>
          <a:ln w="12700">
            <a:solidFill>
              <a:srgbClr val="7FA4C6"/>
            </a:solidFill>
            <a:prstDash val="solid"/>
          </a:ln>
        </p:spPr>
      </p:sp>
      <p:sp>
        <p:nvSpPr>
          <p:cNvPr id="7" name="Text 5"/>
          <p:cNvSpPr/>
          <p:nvPr/>
        </p:nvSpPr>
        <p:spPr>
          <a:xfrm>
            <a:off x="822960" y="2606040"/>
            <a:ext cx="731520" cy="731520"/>
          </a:xfrm>
          <a:prstGeom prst="rect">
            <a:avLst/>
          </a:prstGeom>
          <a:noFill/>
          <a:ln/>
        </p:spPr>
        <p:txBody>
          <a:bodyPr wrap="square" rtlCol="0" anchor="ctr"/>
          <a:lstStyle/>
          <a:p>
            <a:pPr indent="0" marL="0">
              <a:buNone/>
            </a:pPr>
            <a:r>
              <a:rPr lang="en-US" sz="4000" b="1" dirty="0">
                <a:solidFill>
                  <a:srgbClr val="0E3F3C"/>
                </a:solidFill>
                <a:latin typeface="Helvetica Neue" pitchFamily="34" charset="0"/>
                <a:ea typeface="Helvetica Neue" pitchFamily="34" charset="-122"/>
                <a:cs typeface="Helvetica Neue" pitchFamily="34" charset="-120"/>
              </a:rPr>
              <a:t>1</a:t>
            </a:r>
            <a:endParaRPr lang="en-US" sz="4000" dirty="0"/>
          </a:p>
        </p:txBody>
      </p:sp>
      <p:sp>
        <p:nvSpPr>
          <p:cNvPr id="8" name="Text 6"/>
          <p:cNvSpPr/>
          <p:nvPr/>
        </p:nvSpPr>
        <p:spPr>
          <a:xfrm>
            <a:off x="822960" y="3337560"/>
            <a:ext cx="2194560" cy="822960"/>
          </a:xfrm>
          <a:prstGeom prst="rect">
            <a:avLst/>
          </a:prstGeom>
          <a:noFill/>
          <a:ln/>
        </p:spPr>
        <p:txBody>
          <a:bodyPr wrap="square" rtlCol="0" anchor="ctr"/>
          <a:lstStyle/>
          <a:p>
            <a:pPr indent="0" marL="0">
              <a:buNone/>
            </a:pPr>
            <a:r>
              <a:rPr lang="en-US" sz="1600" b="1" dirty="0">
                <a:solidFill>
                  <a:srgbClr val="0E3F3C"/>
                </a:solidFill>
                <a:latin typeface="Helvetica Neue" pitchFamily="34" charset="0"/>
                <a:ea typeface="Helvetica Neue" pitchFamily="34" charset="-122"/>
                <a:cs typeface="Helvetica Neue" pitchFamily="34" charset="-120"/>
              </a:rPr>
              <a:t>Visual Activity Schedules</a:t>
            </a:r>
            <a:endParaRPr lang="en-US" sz="1600" dirty="0"/>
          </a:p>
        </p:txBody>
      </p:sp>
      <p:sp>
        <p:nvSpPr>
          <p:cNvPr id="9" name="Text 7"/>
          <p:cNvSpPr/>
          <p:nvPr/>
        </p:nvSpPr>
        <p:spPr>
          <a:xfrm>
            <a:off x="822960" y="4206240"/>
            <a:ext cx="2194560" cy="1280160"/>
          </a:xfrm>
          <a:prstGeom prst="rect">
            <a:avLst/>
          </a:prstGeom>
          <a:noFill/>
          <a:ln/>
        </p:spPr>
        <p:txBody>
          <a:bodyPr wrap="square" rtlCol="0" anchor="t"/>
          <a:lstStyle/>
          <a:p>
            <a:pPr indent="0" marL="0">
              <a:buNone/>
            </a:pPr>
            <a:r>
              <a:rPr lang="en-US" sz="1150" dirty="0">
                <a:solidFill>
                  <a:srgbClr val="1F3531"/>
                </a:solidFill>
                <a:latin typeface="Helvetica" pitchFamily="34" charset="0"/>
                <a:ea typeface="Helvetica" pitchFamily="34" charset="-122"/>
                <a:cs typeface="Helvetica" pitchFamily="34" charset="-120"/>
              </a:rPr>
              <a:t>Visuele schema's verhogen zelfstandigheid bij dagelijkse vaardigheden — bewezen effectief.</a:t>
            </a:r>
            <a:endParaRPr lang="en-US" sz="1150" dirty="0"/>
          </a:p>
        </p:txBody>
      </p:sp>
      <p:sp>
        <p:nvSpPr>
          <p:cNvPr id="10" name="Shape 8"/>
          <p:cNvSpPr/>
          <p:nvPr/>
        </p:nvSpPr>
        <p:spPr>
          <a:xfrm>
            <a:off x="822960" y="5486400"/>
            <a:ext cx="2194560" cy="0"/>
          </a:xfrm>
          <a:prstGeom prst="line">
            <a:avLst/>
          </a:prstGeom>
          <a:noFill/>
          <a:ln w="12700">
            <a:solidFill>
              <a:srgbClr val="0E3F3C"/>
            </a:solidFill>
            <a:prstDash val="solid"/>
          </a:ln>
        </p:spPr>
      </p:sp>
      <p:sp>
        <p:nvSpPr>
          <p:cNvPr id="11" name="Text 9"/>
          <p:cNvSpPr/>
          <p:nvPr/>
        </p:nvSpPr>
        <p:spPr>
          <a:xfrm>
            <a:off x="822960" y="5532120"/>
            <a:ext cx="2194560" cy="365760"/>
          </a:xfrm>
          <a:prstGeom prst="rect">
            <a:avLst/>
          </a:prstGeom>
          <a:noFill/>
          <a:ln/>
        </p:spPr>
        <p:txBody>
          <a:bodyPr wrap="square" rtlCol="0" anchor="ctr"/>
          <a:lstStyle/>
          <a:p>
            <a:pPr indent="0" marL="0">
              <a:buNone/>
            </a:pPr>
            <a:r>
              <a:rPr lang="en-US" sz="1000" b="1" i="1" dirty="0">
                <a:solidFill>
                  <a:srgbClr val="0E3F3C"/>
                </a:solidFill>
                <a:latin typeface="Helvetica" pitchFamily="34" charset="0"/>
                <a:ea typeface="Helvetica" pitchFamily="34" charset="-122"/>
                <a:cs typeface="Helvetica" pitchFamily="34" charset="-120"/>
              </a:rPr>
              <a:t>Knight et al., 2017</a:t>
            </a:r>
            <a:endParaRPr lang="en-US" sz="1000" dirty="0"/>
          </a:p>
        </p:txBody>
      </p:sp>
      <p:sp>
        <p:nvSpPr>
          <p:cNvPr id="12" name="Shape 10"/>
          <p:cNvSpPr/>
          <p:nvPr/>
        </p:nvSpPr>
        <p:spPr>
          <a:xfrm>
            <a:off x="3429000" y="2331720"/>
            <a:ext cx="2743200" cy="3657600"/>
          </a:xfrm>
          <a:prstGeom prst="roundRect">
            <a:avLst>
              <a:gd name="adj" fmla="val 5000"/>
            </a:avLst>
          </a:prstGeom>
          <a:solidFill>
            <a:srgbClr val="E0FE9C"/>
          </a:solidFill>
          <a:ln w="12700">
            <a:solidFill>
              <a:srgbClr val="E0FE9C"/>
            </a:solidFill>
            <a:prstDash val="solid"/>
          </a:ln>
        </p:spPr>
      </p:sp>
      <p:sp>
        <p:nvSpPr>
          <p:cNvPr id="13" name="Shape 11"/>
          <p:cNvSpPr/>
          <p:nvPr/>
        </p:nvSpPr>
        <p:spPr>
          <a:xfrm>
            <a:off x="3429000" y="2331720"/>
            <a:ext cx="2743200" cy="57150"/>
          </a:xfrm>
          <a:prstGeom prst="rect">
            <a:avLst/>
          </a:prstGeom>
          <a:solidFill>
            <a:srgbClr val="80A599"/>
          </a:solidFill>
          <a:ln w="12700">
            <a:solidFill>
              <a:srgbClr val="80A599"/>
            </a:solidFill>
            <a:prstDash val="solid"/>
          </a:ln>
        </p:spPr>
      </p:sp>
      <p:sp>
        <p:nvSpPr>
          <p:cNvPr id="14" name="Text 12"/>
          <p:cNvSpPr/>
          <p:nvPr/>
        </p:nvSpPr>
        <p:spPr>
          <a:xfrm>
            <a:off x="3703320" y="2606040"/>
            <a:ext cx="731520" cy="731520"/>
          </a:xfrm>
          <a:prstGeom prst="rect">
            <a:avLst/>
          </a:prstGeom>
          <a:noFill/>
          <a:ln/>
        </p:spPr>
        <p:txBody>
          <a:bodyPr wrap="square" rtlCol="0" anchor="ctr"/>
          <a:lstStyle/>
          <a:p>
            <a:pPr indent="0" marL="0">
              <a:buNone/>
            </a:pPr>
            <a:r>
              <a:rPr lang="en-US" sz="4000" b="1" dirty="0">
                <a:solidFill>
                  <a:srgbClr val="0E3F3C"/>
                </a:solidFill>
                <a:latin typeface="Helvetica Neue" pitchFamily="34" charset="0"/>
                <a:ea typeface="Helvetica Neue" pitchFamily="34" charset="-122"/>
                <a:cs typeface="Helvetica Neue" pitchFamily="34" charset="-120"/>
              </a:rPr>
              <a:t>2</a:t>
            </a:r>
            <a:endParaRPr lang="en-US" sz="4000" dirty="0"/>
          </a:p>
        </p:txBody>
      </p:sp>
      <p:sp>
        <p:nvSpPr>
          <p:cNvPr id="15" name="Text 13"/>
          <p:cNvSpPr/>
          <p:nvPr/>
        </p:nvSpPr>
        <p:spPr>
          <a:xfrm>
            <a:off x="3703320" y="3337560"/>
            <a:ext cx="2194560" cy="822960"/>
          </a:xfrm>
          <a:prstGeom prst="rect">
            <a:avLst/>
          </a:prstGeom>
          <a:noFill/>
          <a:ln/>
        </p:spPr>
        <p:txBody>
          <a:bodyPr wrap="square" rtlCol="0" anchor="ctr"/>
          <a:lstStyle/>
          <a:p>
            <a:pPr indent="0" marL="0">
              <a:buNone/>
            </a:pPr>
            <a:r>
              <a:rPr lang="en-US" sz="1600" b="1" dirty="0">
                <a:solidFill>
                  <a:srgbClr val="0E3F3C"/>
                </a:solidFill>
                <a:latin typeface="Helvetica Neue" pitchFamily="34" charset="0"/>
                <a:ea typeface="Helvetica Neue" pitchFamily="34" charset="-122"/>
                <a:cs typeface="Helvetica Neue" pitchFamily="34" charset="-120"/>
              </a:rPr>
              <a:t>WCAG · W3C COGA</a:t>
            </a:r>
            <a:endParaRPr lang="en-US" sz="1600" dirty="0"/>
          </a:p>
        </p:txBody>
      </p:sp>
      <p:sp>
        <p:nvSpPr>
          <p:cNvPr id="16" name="Text 14"/>
          <p:cNvSpPr/>
          <p:nvPr/>
        </p:nvSpPr>
        <p:spPr>
          <a:xfrm>
            <a:off x="3703320" y="4206240"/>
            <a:ext cx="2194560" cy="1280160"/>
          </a:xfrm>
          <a:prstGeom prst="rect">
            <a:avLst/>
          </a:prstGeom>
          <a:noFill/>
          <a:ln/>
        </p:spPr>
        <p:txBody>
          <a:bodyPr wrap="square" rtlCol="0" anchor="t"/>
          <a:lstStyle/>
          <a:p>
            <a:pPr indent="0" marL="0">
              <a:buNone/>
            </a:pPr>
            <a:r>
              <a:rPr lang="en-US" sz="1150" dirty="0">
                <a:solidFill>
                  <a:srgbClr val="1F3531"/>
                </a:solidFill>
                <a:latin typeface="Helvetica" pitchFamily="34" charset="0"/>
                <a:ea typeface="Helvetica" pitchFamily="34" charset="-122"/>
                <a:cs typeface="Helvetica" pitchFamily="34" charset="-120"/>
              </a:rPr>
              <a:t>Cognitieve toegankelijkheid: voorspelbaar, simpele taal (B1), kleine stappen.</a:t>
            </a:r>
            <a:endParaRPr lang="en-US" sz="1150" dirty="0"/>
          </a:p>
        </p:txBody>
      </p:sp>
      <p:sp>
        <p:nvSpPr>
          <p:cNvPr id="17" name="Shape 15"/>
          <p:cNvSpPr/>
          <p:nvPr/>
        </p:nvSpPr>
        <p:spPr>
          <a:xfrm>
            <a:off x="3703320" y="5486400"/>
            <a:ext cx="2194560" cy="0"/>
          </a:xfrm>
          <a:prstGeom prst="line">
            <a:avLst/>
          </a:prstGeom>
          <a:noFill/>
          <a:ln w="12700">
            <a:solidFill>
              <a:srgbClr val="0E3F3C"/>
            </a:solidFill>
            <a:prstDash val="solid"/>
          </a:ln>
        </p:spPr>
      </p:sp>
      <p:sp>
        <p:nvSpPr>
          <p:cNvPr id="18" name="Text 16"/>
          <p:cNvSpPr/>
          <p:nvPr/>
        </p:nvSpPr>
        <p:spPr>
          <a:xfrm>
            <a:off x="3703320" y="5532120"/>
            <a:ext cx="2194560" cy="365760"/>
          </a:xfrm>
          <a:prstGeom prst="rect">
            <a:avLst/>
          </a:prstGeom>
          <a:noFill/>
          <a:ln/>
        </p:spPr>
        <p:txBody>
          <a:bodyPr wrap="square" rtlCol="0" anchor="ctr"/>
          <a:lstStyle/>
          <a:p>
            <a:pPr indent="0" marL="0">
              <a:buNone/>
            </a:pPr>
            <a:r>
              <a:rPr lang="en-US" sz="1000" b="1" i="1" dirty="0">
                <a:solidFill>
                  <a:srgbClr val="0E3F3C"/>
                </a:solidFill>
                <a:latin typeface="Helvetica" pitchFamily="34" charset="0"/>
                <a:ea typeface="Helvetica" pitchFamily="34" charset="-122"/>
                <a:cs typeface="Helvetica" pitchFamily="34" charset="-120"/>
              </a:rPr>
              <a:t>W3C, 2024</a:t>
            </a:r>
            <a:endParaRPr lang="en-US" sz="1000" dirty="0"/>
          </a:p>
        </p:txBody>
      </p:sp>
      <p:sp>
        <p:nvSpPr>
          <p:cNvPr id="19" name="Shape 17"/>
          <p:cNvSpPr/>
          <p:nvPr/>
        </p:nvSpPr>
        <p:spPr>
          <a:xfrm>
            <a:off x="6309360" y="2331720"/>
            <a:ext cx="2743200" cy="3657600"/>
          </a:xfrm>
          <a:prstGeom prst="roundRect">
            <a:avLst>
              <a:gd name="adj" fmla="val 5000"/>
            </a:avLst>
          </a:prstGeom>
          <a:solidFill>
            <a:srgbClr val="FFD3C2"/>
          </a:solidFill>
          <a:ln w="12700">
            <a:solidFill>
              <a:srgbClr val="FFD3C2"/>
            </a:solidFill>
            <a:prstDash val="solid"/>
          </a:ln>
        </p:spPr>
      </p:sp>
      <p:sp>
        <p:nvSpPr>
          <p:cNvPr id="20" name="Shape 18"/>
          <p:cNvSpPr/>
          <p:nvPr/>
        </p:nvSpPr>
        <p:spPr>
          <a:xfrm>
            <a:off x="6309360" y="2331720"/>
            <a:ext cx="2743200" cy="57150"/>
          </a:xfrm>
          <a:prstGeom prst="rect">
            <a:avLst/>
          </a:prstGeom>
          <a:solidFill>
            <a:srgbClr val="E0805A"/>
          </a:solidFill>
          <a:ln w="12700">
            <a:solidFill>
              <a:srgbClr val="E0805A"/>
            </a:solidFill>
            <a:prstDash val="solid"/>
          </a:ln>
        </p:spPr>
      </p:sp>
      <p:sp>
        <p:nvSpPr>
          <p:cNvPr id="21" name="Text 19"/>
          <p:cNvSpPr/>
          <p:nvPr/>
        </p:nvSpPr>
        <p:spPr>
          <a:xfrm>
            <a:off x="6583680" y="2606040"/>
            <a:ext cx="731520" cy="731520"/>
          </a:xfrm>
          <a:prstGeom prst="rect">
            <a:avLst/>
          </a:prstGeom>
          <a:noFill/>
          <a:ln/>
        </p:spPr>
        <p:txBody>
          <a:bodyPr wrap="square" rtlCol="0" anchor="ctr"/>
          <a:lstStyle/>
          <a:p>
            <a:pPr indent="0" marL="0">
              <a:buNone/>
            </a:pPr>
            <a:r>
              <a:rPr lang="en-US" sz="4000" b="1" dirty="0">
                <a:solidFill>
                  <a:srgbClr val="0E3F3C"/>
                </a:solidFill>
                <a:latin typeface="Helvetica Neue" pitchFamily="34" charset="0"/>
                <a:ea typeface="Helvetica Neue" pitchFamily="34" charset="-122"/>
                <a:cs typeface="Helvetica Neue" pitchFamily="34" charset="-120"/>
              </a:rPr>
              <a:t>3</a:t>
            </a:r>
            <a:endParaRPr lang="en-US" sz="4000" dirty="0"/>
          </a:p>
        </p:txBody>
      </p:sp>
      <p:sp>
        <p:nvSpPr>
          <p:cNvPr id="22" name="Text 20"/>
          <p:cNvSpPr/>
          <p:nvPr/>
        </p:nvSpPr>
        <p:spPr>
          <a:xfrm>
            <a:off x="6583680" y="3337560"/>
            <a:ext cx="2194560" cy="822960"/>
          </a:xfrm>
          <a:prstGeom prst="rect">
            <a:avLst/>
          </a:prstGeom>
          <a:noFill/>
          <a:ln/>
        </p:spPr>
        <p:txBody>
          <a:bodyPr wrap="square" rtlCol="0" anchor="ctr"/>
          <a:lstStyle/>
          <a:p>
            <a:pPr indent="0" marL="0">
              <a:buNone/>
            </a:pPr>
            <a:r>
              <a:rPr lang="en-US" sz="1600" b="1" dirty="0">
                <a:solidFill>
                  <a:srgbClr val="0E3F3C"/>
                </a:solidFill>
                <a:latin typeface="Helvetica Neue" pitchFamily="34" charset="0"/>
                <a:ea typeface="Helvetica Neue" pitchFamily="34" charset="-122"/>
                <a:cs typeface="Helvetica Neue" pitchFamily="34" charset="-120"/>
              </a:rPr>
              <a:t>App-based Token Economy</a:t>
            </a:r>
            <a:endParaRPr lang="en-US" sz="1600" dirty="0"/>
          </a:p>
        </p:txBody>
      </p:sp>
      <p:sp>
        <p:nvSpPr>
          <p:cNvPr id="23" name="Text 21"/>
          <p:cNvSpPr/>
          <p:nvPr/>
        </p:nvSpPr>
        <p:spPr>
          <a:xfrm>
            <a:off x="6583680" y="4206240"/>
            <a:ext cx="2194560" cy="1280160"/>
          </a:xfrm>
          <a:prstGeom prst="rect">
            <a:avLst/>
          </a:prstGeom>
          <a:noFill/>
          <a:ln/>
        </p:spPr>
        <p:txBody>
          <a:bodyPr wrap="square" rtlCol="0" anchor="t"/>
          <a:lstStyle/>
          <a:p>
            <a:pPr indent="0" marL="0">
              <a:buNone/>
            </a:pPr>
            <a:r>
              <a:rPr lang="en-US" sz="1150" dirty="0">
                <a:solidFill>
                  <a:srgbClr val="1F3531"/>
                </a:solidFill>
                <a:latin typeface="Helvetica" pitchFamily="34" charset="0"/>
                <a:ea typeface="Helvetica" pitchFamily="34" charset="-122"/>
                <a:cs typeface="Helvetica" pitchFamily="34" charset="-120"/>
              </a:rPr>
              <a:t>Digitale beloningssystemen verhogen taakbetrokkenheid — effect houdt 6+ weken aan.</a:t>
            </a:r>
            <a:endParaRPr lang="en-US" sz="1150" dirty="0"/>
          </a:p>
        </p:txBody>
      </p:sp>
      <p:sp>
        <p:nvSpPr>
          <p:cNvPr id="24" name="Shape 22"/>
          <p:cNvSpPr/>
          <p:nvPr/>
        </p:nvSpPr>
        <p:spPr>
          <a:xfrm>
            <a:off x="6583680" y="5486400"/>
            <a:ext cx="2194560" cy="0"/>
          </a:xfrm>
          <a:prstGeom prst="line">
            <a:avLst/>
          </a:prstGeom>
          <a:noFill/>
          <a:ln w="12700">
            <a:solidFill>
              <a:srgbClr val="0E3F3C"/>
            </a:solidFill>
            <a:prstDash val="solid"/>
          </a:ln>
        </p:spPr>
      </p:sp>
      <p:sp>
        <p:nvSpPr>
          <p:cNvPr id="25" name="Text 23"/>
          <p:cNvSpPr/>
          <p:nvPr/>
        </p:nvSpPr>
        <p:spPr>
          <a:xfrm>
            <a:off x="6583680" y="5532120"/>
            <a:ext cx="2194560" cy="365760"/>
          </a:xfrm>
          <a:prstGeom prst="rect">
            <a:avLst/>
          </a:prstGeom>
          <a:noFill/>
          <a:ln/>
        </p:spPr>
        <p:txBody>
          <a:bodyPr wrap="square" rtlCol="0" anchor="ctr"/>
          <a:lstStyle/>
          <a:p>
            <a:pPr indent="0" marL="0">
              <a:buNone/>
            </a:pPr>
            <a:r>
              <a:rPr lang="en-US" sz="1000" b="1" i="1" dirty="0">
                <a:solidFill>
                  <a:srgbClr val="0E3F3C"/>
                </a:solidFill>
                <a:latin typeface="Helvetica" pitchFamily="34" charset="0"/>
                <a:ea typeface="Helvetica" pitchFamily="34" charset="-122"/>
                <a:cs typeface="Helvetica" pitchFamily="34" charset="-120"/>
              </a:rPr>
              <a:t>Saini et al., 2023</a:t>
            </a:r>
            <a:endParaRPr lang="en-US" sz="1000" dirty="0"/>
          </a:p>
        </p:txBody>
      </p:sp>
      <p:sp>
        <p:nvSpPr>
          <p:cNvPr id="26" name="Shape 24"/>
          <p:cNvSpPr/>
          <p:nvPr/>
        </p:nvSpPr>
        <p:spPr>
          <a:xfrm>
            <a:off x="9189720" y="2331720"/>
            <a:ext cx="2743200" cy="3657600"/>
          </a:xfrm>
          <a:prstGeom prst="roundRect">
            <a:avLst>
              <a:gd name="adj" fmla="val 5000"/>
            </a:avLst>
          </a:prstGeom>
          <a:solidFill>
            <a:srgbClr val="F0CDFF"/>
          </a:solidFill>
          <a:ln w="12700">
            <a:solidFill>
              <a:srgbClr val="F0CDFF"/>
            </a:solidFill>
            <a:prstDash val="solid"/>
          </a:ln>
        </p:spPr>
      </p:sp>
      <p:sp>
        <p:nvSpPr>
          <p:cNvPr id="27" name="Shape 25"/>
          <p:cNvSpPr/>
          <p:nvPr/>
        </p:nvSpPr>
        <p:spPr>
          <a:xfrm>
            <a:off x="9189720" y="2331720"/>
            <a:ext cx="2743200" cy="57150"/>
          </a:xfrm>
          <a:prstGeom prst="rect">
            <a:avLst/>
          </a:prstGeom>
          <a:solidFill>
            <a:srgbClr val="C49AD4"/>
          </a:solidFill>
          <a:ln w="12700">
            <a:solidFill>
              <a:srgbClr val="C49AD4"/>
            </a:solidFill>
            <a:prstDash val="solid"/>
          </a:ln>
        </p:spPr>
      </p:sp>
      <p:sp>
        <p:nvSpPr>
          <p:cNvPr id="28" name="Text 26"/>
          <p:cNvSpPr/>
          <p:nvPr/>
        </p:nvSpPr>
        <p:spPr>
          <a:xfrm>
            <a:off x="9464040" y="2606040"/>
            <a:ext cx="731520" cy="731520"/>
          </a:xfrm>
          <a:prstGeom prst="rect">
            <a:avLst/>
          </a:prstGeom>
          <a:noFill/>
          <a:ln/>
        </p:spPr>
        <p:txBody>
          <a:bodyPr wrap="square" rtlCol="0" anchor="ctr"/>
          <a:lstStyle/>
          <a:p>
            <a:pPr indent="0" marL="0">
              <a:buNone/>
            </a:pPr>
            <a:r>
              <a:rPr lang="en-US" sz="4000" b="1" dirty="0">
                <a:solidFill>
                  <a:srgbClr val="0E3F3C"/>
                </a:solidFill>
                <a:latin typeface="Helvetica Neue" pitchFamily="34" charset="0"/>
                <a:ea typeface="Helvetica Neue" pitchFamily="34" charset="-122"/>
                <a:cs typeface="Helvetica Neue" pitchFamily="34" charset="-120"/>
              </a:rPr>
              <a:t>4</a:t>
            </a:r>
            <a:endParaRPr lang="en-US" sz="4000" dirty="0"/>
          </a:p>
        </p:txBody>
      </p:sp>
      <p:sp>
        <p:nvSpPr>
          <p:cNvPr id="29" name="Text 27"/>
          <p:cNvSpPr/>
          <p:nvPr/>
        </p:nvSpPr>
        <p:spPr>
          <a:xfrm>
            <a:off x="9464040" y="3337560"/>
            <a:ext cx="2194560" cy="822960"/>
          </a:xfrm>
          <a:prstGeom prst="rect">
            <a:avLst/>
          </a:prstGeom>
          <a:noFill/>
          <a:ln/>
        </p:spPr>
        <p:txBody>
          <a:bodyPr wrap="square" rtlCol="0" anchor="ctr"/>
          <a:lstStyle/>
          <a:p>
            <a:pPr indent="0" marL="0">
              <a:buNone/>
            </a:pPr>
            <a:r>
              <a:rPr lang="en-US" sz="1600" b="1" dirty="0">
                <a:solidFill>
                  <a:srgbClr val="0E3F3C"/>
                </a:solidFill>
                <a:latin typeface="Helvetica Neue" pitchFamily="34" charset="0"/>
                <a:ea typeface="Helvetica Neue" pitchFamily="34" charset="-122"/>
                <a:cs typeface="Helvetica Neue" pitchFamily="34" charset="-120"/>
              </a:rPr>
              <a:t>Emotieregulatie bij LVB</a:t>
            </a:r>
            <a:endParaRPr lang="en-US" sz="1600" dirty="0"/>
          </a:p>
        </p:txBody>
      </p:sp>
      <p:sp>
        <p:nvSpPr>
          <p:cNvPr id="30" name="Text 28"/>
          <p:cNvSpPr/>
          <p:nvPr/>
        </p:nvSpPr>
        <p:spPr>
          <a:xfrm>
            <a:off x="9464040" y="4206240"/>
            <a:ext cx="2194560" cy="1280160"/>
          </a:xfrm>
          <a:prstGeom prst="rect">
            <a:avLst/>
          </a:prstGeom>
          <a:noFill/>
          <a:ln/>
        </p:spPr>
        <p:txBody>
          <a:bodyPr wrap="square" rtlCol="0" anchor="t"/>
          <a:lstStyle/>
          <a:p>
            <a:pPr indent="0" marL="0">
              <a:buNone/>
            </a:pPr>
            <a:r>
              <a:rPr lang="en-US" sz="1150" dirty="0">
                <a:solidFill>
                  <a:srgbClr val="1F3531"/>
                </a:solidFill>
                <a:latin typeface="Helvetica" pitchFamily="34" charset="0"/>
                <a:ea typeface="Helvetica" pitchFamily="34" charset="-122"/>
                <a:cs typeface="Helvetica" pitchFamily="34" charset="-120"/>
              </a:rPr>
              <a:t>Herkennen vóór reguleren. Ademhaling en sensorische strategieën werken.</a:t>
            </a:r>
            <a:endParaRPr lang="en-US" sz="1150" dirty="0"/>
          </a:p>
        </p:txBody>
      </p:sp>
      <p:sp>
        <p:nvSpPr>
          <p:cNvPr id="31" name="Shape 29"/>
          <p:cNvSpPr/>
          <p:nvPr/>
        </p:nvSpPr>
        <p:spPr>
          <a:xfrm>
            <a:off x="9464040" y="5486400"/>
            <a:ext cx="2194560" cy="0"/>
          </a:xfrm>
          <a:prstGeom prst="line">
            <a:avLst/>
          </a:prstGeom>
          <a:noFill/>
          <a:ln w="12700">
            <a:solidFill>
              <a:srgbClr val="0E3F3C"/>
            </a:solidFill>
            <a:prstDash val="solid"/>
          </a:ln>
        </p:spPr>
      </p:sp>
      <p:sp>
        <p:nvSpPr>
          <p:cNvPr id="32" name="Text 30"/>
          <p:cNvSpPr/>
          <p:nvPr/>
        </p:nvSpPr>
        <p:spPr>
          <a:xfrm>
            <a:off x="9464040" y="5532120"/>
            <a:ext cx="2194560" cy="365760"/>
          </a:xfrm>
          <a:prstGeom prst="rect">
            <a:avLst/>
          </a:prstGeom>
          <a:noFill/>
          <a:ln/>
        </p:spPr>
        <p:txBody>
          <a:bodyPr wrap="square" rtlCol="0" anchor="ctr"/>
          <a:lstStyle/>
          <a:p>
            <a:pPr indent="0" marL="0">
              <a:buNone/>
            </a:pPr>
            <a:r>
              <a:rPr lang="en-US" sz="1000" b="1" i="1" dirty="0">
                <a:solidFill>
                  <a:srgbClr val="0E3F3C"/>
                </a:solidFill>
                <a:latin typeface="Helvetica" pitchFamily="34" charset="0"/>
                <a:ea typeface="Helvetica" pitchFamily="34" charset="-122"/>
                <a:cs typeface="Helvetica" pitchFamily="34" charset="-120"/>
              </a:rPr>
              <a:t>Tandfonline, 2024-25</a:t>
            </a:r>
            <a:endParaRPr lang="en-US" sz="1000" dirty="0"/>
          </a:p>
        </p:txBody>
      </p:sp>
      <p:sp>
        <p:nvSpPr>
          <p:cNvPr id="33" name="Shape 31"/>
          <p:cNvSpPr/>
          <p:nvPr/>
        </p:nvSpPr>
        <p:spPr>
          <a:xfrm>
            <a:off x="411480" y="6446520"/>
            <a:ext cx="228600" cy="228600"/>
          </a:xfrm>
          <a:prstGeom prst="ellipse">
            <a:avLst/>
          </a:prstGeom>
          <a:solidFill>
            <a:srgbClr val="16645F"/>
          </a:solidFill>
          <a:ln w="12700">
            <a:solidFill>
              <a:srgbClr val="16645F"/>
            </a:solidFill>
            <a:prstDash val="solid"/>
          </a:ln>
        </p:spPr>
      </p:sp>
      <p:sp>
        <p:nvSpPr>
          <p:cNvPr id="34" name="Text 32"/>
          <p:cNvSpPr/>
          <p:nvPr/>
        </p:nvSpPr>
        <p:spPr>
          <a:xfrm>
            <a:off x="685800" y="6419088"/>
            <a:ext cx="1828800" cy="274320"/>
          </a:xfrm>
          <a:prstGeom prst="rect">
            <a:avLst/>
          </a:prstGeom>
          <a:noFill/>
          <a:ln/>
        </p:spPr>
        <p:txBody>
          <a:bodyPr wrap="square" rtlCol="0" anchor="ctr"/>
          <a:lstStyle/>
          <a:p>
            <a:pPr indent="0" marL="0">
              <a:buNone/>
            </a:pPr>
            <a:r>
              <a:rPr lang="en-US" sz="1000" b="1" dirty="0">
                <a:solidFill>
                  <a:srgbClr val="0E3F3C"/>
                </a:solidFill>
                <a:latin typeface="Helvetica Neue" pitchFamily="34" charset="0"/>
                <a:ea typeface="Helvetica Neue" pitchFamily="34" charset="-122"/>
                <a:cs typeface="Helvetica Neue" pitchFamily="34" charset="-120"/>
              </a:rPr>
              <a:t>TaskBuddy</a:t>
            </a:r>
            <a:endParaRPr lang="en-US" sz="1000" dirty="0"/>
          </a:p>
        </p:txBody>
      </p:sp>
      <p:sp>
        <p:nvSpPr>
          <p:cNvPr id="35" name="Text 33"/>
          <p:cNvSpPr/>
          <p:nvPr/>
        </p:nvSpPr>
        <p:spPr>
          <a:xfrm>
            <a:off x="11338560" y="6446520"/>
            <a:ext cx="640080" cy="320040"/>
          </a:xfrm>
          <a:prstGeom prst="rect">
            <a:avLst/>
          </a:prstGeom>
          <a:noFill/>
          <a:ln/>
        </p:spPr>
        <p:txBody>
          <a:bodyPr wrap="square" rtlCol="0" anchor="ctr"/>
          <a:lstStyle/>
          <a:p>
            <a:pPr algn="r" indent="0" marL="0">
              <a:buNone/>
            </a:pPr>
            <a:r>
              <a:rPr lang="en-US" sz="900" dirty="0">
                <a:solidFill>
                  <a:srgbClr val="94A29D"/>
                </a:solidFill>
                <a:latin typeface="Helvetica" pitchFamily="34" charset="0"/>
                <a:ea typeface="Helvetica" pitchFamily="34" charset="-122"/>
                <a:cs typeface="Helvetica"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CDE"/>
        </a:solidFill>
      </p:bgPr>
    </p:bg>
    <p:spTree>
      <p:nvGrpSpPr>
        <p:cNvPr id="1" name=""/>
        <p:cNvGrpSpPr/>
        <p:nvPr/>
      </p:nvGrpSpPr>
      <p:grpSpPr>
        <a:xfrm>
          <a:off x="0" y="0"/>
          <a:ext cx="0" cy="0"/>
          <a:chOff x="0" y="0"/>
          <a:chExt cx="0" cy="0"/>
        </a:xfrm>
      </p:grpSpPr>
      <p:sp>
        <p:nvSpPr>
          <p:cNvPr id="2" name="Text 0"/>
          <p:cNvSpPr/>
          <p:nvPr/>
        </p:nvSpPr>
        <p:spPr>
          <a:xfrm>
            <a:off x="548640" y="457200"/>
            <a:ext cx="4572000" cy="365760"/>
          </a:xfrm>
          <a:prstGeom prst="rect">
            <a:avLst/>
          </a:prstGeom>
          <a:noFill/>
          <a:ln/>
        </p:spPr>
        <p:txBody>
          <a:bodyPr wrap="square" rtlCol="0" anchor="ctr"/>
          <a:lstStyle/>
          <a:p>
            <a:pPr indent="0" marL="0">
              <a:buNone/>
            </a:pPr>
            <a:r>
              <a:rPr lang="en-US" sz="1100" b="1" spc="600" kern="0" dirty="0">
                <a:solidFill>
                  <a:srgbClr val="E0805A"/>
                </a:solidFill>
                <a:latin typeface="Helvetica" pitchFamily="34" charset="0"/>
                <a:ea typeface="Helvetica" pitchFamily="34" charset="-122"/>
                <a:cs typeface="Helvetica" pitchFamily="34" charset="-120"/>
              </a:rPr>
              <a:t>03 · CLIËNT</a:t>
            </a:r>
            <a:endParaRPr lang="en-US" sz="1100" dirty="0"/>
          </a:p>
        </p:txBody>
      </p:sp>
      <p:sp>
        <p:nvSpPr>
          <p:cNvPr id="3" name="Text 1"/>
          <p:cNvSpPr/>
          <p:nvPr/>
        </p:nvSpPr>
        <p:spPr>
          <a:xfrm>
            <a:off x="548640" y="914400"/>
            <a:ext cx="8229600" cy="914400"/>
          </a:xfrm>
          <a:prstGeom prst="rect">
            <a:avLst/>
          </a:prstGeom>
          <a:noFill/>
          <a:ln/>
        </p:spPr>
        <p:txBody>
          <a:bodyPr wrap="square" rtlCol="0" anchor="ctr"/>
          <a:lstStyle/>
          <a:p>
            <a:pPr indent="0" marL="0">
              <a:buNone/>
            </a:pPr>
            <a:r>
              <a:rPr lang="en-US" sz="3400" b="1" dirty="0">
                <a:solidFill>
                  <a:srgbClr val="0E3F3C"/>
                </a:solidFill>
                <a:latin typeface="Helvetica Neue" pitchFamily="34" charset="0"/>
                <a:ea typeface="Helvetica Neue" pitchFamily="34" charset="-122"/>
                <a:cs typeface="Helvetica Neue" pitchFamily="34" charset="-120"/>
              </a:rPr>
              <a:t>Wat de cliënt op het scherm ziet</a:t>
            </a:r>
            <a:endParaRPr lang="en-US" sz="3400" dirty="0"/>
          </a:p>
        </p:txBody>
      </p:sp>
      <p:sp>
        <p:nvSpPr>
          <p:cNvPr id="4" name="Shape 2"/>
          <p:cNvSpPr/>
          <p:nvPr/>
        </p:nvSpPr>
        <p:spPr>
          <a:xfrm>
            <a:off x="8961120" y="502920"/>
            <a:ext cx="2743200" cy="868680"/>
          </a:xfrm>
          <a:prstGeom prst="roundRect">
            <a:avLst>
              <a:gd name="adj" fmla="val 10526"/>
            </a:avLst>
          </a:prstGeom>
          <a:solidFill>
            <a:srgbClr val="16645F"/>
          </a:solidFill>
          <a:ln w="12700">
            <a:solidFill>
              <a:srgbClr val="16645F"/>
            </a:solidFill>
            <a:prstDash val="solid"/>
          </a:ln>
        </p:spPr>
      </p:sp>
      <p:sp>
        <p:nvSpPr>
          <p:cNvPr id="5" name="Shape 3"/>
          <p:cNvSpPr/>
          <p:nvPr/>
        </p:nvSpPr>
        <p:spPr>
          <a:xfrm>
            <a:off x="8961120" y="502920"/>
            <a:ext cx="109728" cy="868680"/>
          </a:xfrm>
          <a:prstGeom prst="rect">
            <a:avLst/>
          </a:prstGeom>
          <a:solidFill>
            <a:srgbClr val="FFD3C2"/>
          </a:solidFill>
          <a:ln w="12700">
            <a:solidFill>
              <a:srgbClr val="FFD3C2"/>
            </a:solidFill>
            <a:prstDash val="solid"/>
          </a:ln>
        </p:spPr>
      </p:sp>
      <p:sp>
        <p:nvSpPr>
          <p:cNvPr id="6" name="Text 4"/>
          <p:cNvSpPr/>
          <p:nvPr/>
        </p:nvSpPr>
        <p:spPr>
          <a:xfrm>
            <a:off x="9189720" y="576072"/>
            <a:ext cx="2468880" cy="274320"/>
          </a:xfrm>
          <a:prstGeom prst="rect">
            <a:avLst/>
          </a:prstGeom>
          <a:noFill/>
          <a:ln/>
        </p:spPr>
        <p:txBody>
          <a:bodyPr wrap="square" rtlCol="0" anchor="ctr"/>
          <a:lstStyle/>
          <a:p>
            <a:pPr indent="0" marL="0">
              <a:buNone/>
            </a:pPr>
            <a:r>
              <a:rPr lang="en-US" sz="900" b="1" spc="400" kern="0" dirty="0">
                <a:solidFill>
                  <a:srgbClr val="FFD3C2"/>
                </a:solidFill>
                <a:latin typeface="Helvetica" pitchFamily="34" charset="0"/>
                <a:ea typeface="Helvetica" pitchFamily="34" charset="-122"/>
                <a:cs typeface="Helvetica" pitchFamily="34" charset="-120"/>
              </a:rPr>
              <a:t>EVIDENCE</a:t>
            </a:r>
            <a:endParaRPr lang="en-US" sz="900" dirty="0"/>
          </a:p>
        </p:txBody>
      </p:sp>
      <p:sp>
        <p:nvSpPr>
          <p:cNvPr id="7" name="Text 5"/>
          <p:cNvSpPr/>
          <p:nvPr/>
        </p:nvSpPr>
        <p:spPr>
          <a:xfrm>
            <a:off x="9189720" y="795528"/>
            <a:ext cx="2468880" cy="292608"/>
          </a:xfrm>
          <a:prstGeom prst="rect">
            <a:avLst/>
          </a:prstGeom>
          <a:noFill/>
          <a:ln/>
        </p:spPr>
        <p:txBody>
          <a:bodyPr wrap="square" rtlCol="0" anchor="ctr"/>
          <a:lstStyle/>
          <a:p>
            <a:pPr indent="0" marL="0">
              <a:buNone/>
            </a:pPr>
            <a:r>
              <a:rPr lang="en-US" sz="1200" b="1" dirty="0">
                <a:solidFill>
                  <a:srgbClr val="FFFFFF"/>
                </a:solidFill>
                <a:latin typeface="Helvetica Neue" pitchFamily="34" charset="0"/>
                <a:ea typeface="Helvetica Neue" pitchFamily="34" charset="-122"/>
                <a:cs typeface="Helvetica Neue" pitchFamily="34" charset="-120"/>
              </a:rPr>
              <a:t>Pijler 1 + 2</a:t>
            </a:r>
            <a:endParaRPr lang="en-US" sz="1200" dirty="0"/>
          </a:p>
        </p:txBody>
      </p:sp>
      <p:sp>
        <p:nvSpPr>
          <p:cNvPr id="8" name="Text 6"/>
          <p:cNvSpPr/>
          <p:nvPr/>
        </p:nvSpPr>
        <p:spPr>
          <a:xfrm>
            <a:off x="9189720" y="1051560"/>
            <a:ext cx="2468880" cy="274320"/>
          </a:xfrm>
          <a:prstGeom prst="rect">
            <a:avLst/>
          </a:prstGeom>
          <a:noFill/>
          <a:ln/>
        </p:spPr>
        <p:txBody>
          <a:bodyPr wrap="square" rtlCol="0" anchor="ctr"/>
          <a:lstStyle/>
          <a:p>
            <a:pPr indent="0" marL="0">
              <a:buNone/>
            </a:pPr>
            <a:r>
              <a:rPr lang="en-US" sz="950" i="1" dirty="0">
                <a:solidFill>
                  <a:srgbClr val="EEECDE"/>
                </a:solidFill>
                <a:latin typeface="Helvetica" pitchFamily="34" charset="0"/>
                <a:ea typeface="Helvetica" pitchFamily="34" charset="-122"/>
                <a:cs typeface="Helvetica" pitchFamily="34" charset="-120"/>
              </a:rPr>
              <a:t>Visual schedules + W3C COGA</a:t>
            </a:r>
            <a:endParaRPr lang="en-US" sz="950" dirty="0"/>
          </a:p>
        </p:txBody>
      </p:sp>
      <p:sp>
        <p:nvSpPr>
          <p:cNvPr id="9" name="Shape 7"/>
          <p:cNvSpPr/>
          <p:nvPr/>
        </p:nvSpPr>
        <p:spPr>
          <a:xfrm>
            <a:off x="548640" y="2331720"/>
            <a:ext cx="2606040" cy="1783080"/>
          </a:xfrm>
          <a:prstGeom prst="roundRect">
            <a:avLst>
              <a:gd name="adj" fmla="val 7692"/>
            </a:avLst>
          </a:prstGeom>
          <a:solidFill>
            <a:srgbClr val="FFFFFF"/>
          </a:solidFill>
          <a:ln w="12700">
            <a:solidFill>
              <a:srgbClr val="DCD8C8"/>
            </a:solidFill>
            <a:prstDash val="solid"/>
          </a:ln>
        </p:spPr>
      </p:sp>
      <p:sp>
        <p:nvSpPr>
          <p:cNvPr id="10" name="Shape 8"/>
          <p:cNvSpPr/>
          <p:nvPr/>
        </p:nvSpPr>
        <p:spPr>
          <a:xfrm>
            <a:off x="777240" y="2532888"/>
            <a:ext cx="640080" cy="640080"/>
          </a:xfrm>
          <a:prstGeom prst="ellipse">
            <a:avLst/>
          </a:prstGeom>
          <a:solidFill>
            <a:srgbClr val="B2DCFA"/>
          </a:solidFill>
          <a:ln w="12700">
            <a:solidFill>
              <a:srgbClr val="B2DCFA"/>
            </a:solidFill>
            <a:prstDash val="solid"/>
          </a:ln>
        </p:spPr>
      </p:sp>
      <p:sp>
        <p:nvSpPr>
          <p:cNvPr id="11" name="Text 9"/>
          <p:cNvSpPr/>
          <p:nvPr/>
        </p:nvSpPr>
        <p:spPr>
          <a:xfrm>
            <a:off x="777240" y="2532888"/>
            <a:ext cx="64008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777240" y="3218688"/>
            <a:ext cx="2148840" cy="365760"/>
          </a:xfrm>
          <a:prstGeom prst="rect">
            <a:avLst/>
          </a:prstGeom>
          <a:noFill/>
          <a:ln/>
        </p:spPr>
        <p:txBody>
          <a:bodyPr wrap="square" rtlCol="0" anchor="ctr"/>
          <a:lstStyle/>
          <a:p>
            <a:pPr indent="0" marL="0">
              <a:buNone/>
            </a:pPr>
            <a:r>
              <a:rPr lang="en-US" sz="1400" b="1" dirty="0">
                <a:solidFill>
                  <a:srgbClr val="0E3F3C"/>
                </a:solidFill>
                <a:latin typeface="Helvetica Neue" pitchFamily="34" charset="0"/>
                <a:ea typeface="Helvetica Neue" pitchFamily="34" charset="-122"/>
                <a:cs typeface="Helvetica Neue" pitchFamily="34" charset="-120"/>
              </a:rPr>
              <a:t>Taken</a:t>
            </a:r>
            <a:endParaRPr lang="en-US" sz="1400" dirty="0"/>
          </a:p>
        </p:txBody>
      </p:sp>
      <p:sp>
        <p:nvSpPr>
          <p:cNvPr id="13" name="Text 11"/>
          <p:cNvSpPr/>
          <p:nvPr/>
        </p:nvSpPr>
        <p:spPr>
          <a:xfrm>
            <a:off x="777240" y="3584448"/>
            <a:ext cx="2148840" cy="457200"/>
          </a:xfrm>
          <a:prstGeom prst="rect">
            <a:avLst/>
          </a:prstGeom>
          <a:noFill/>
          <a:ln/>
        </p:spPr>
        <p:txBody>
          <a:bodyPr wrap="square" rtlCol="0" anchor="ctr"/>
          <a:lstStyle/>
          <a:p>
            <a:pPr indent="0" marL="0">
              <a:buNone/>
            </a:pPr>
            <a:r>
              <a:rPr lang="en-US" sz="1100" dirty="0">
                <a:solidFill>
                  <a:srgbClr val="5A6E69"/>
                </a:solidFill>
                <a:latin typeface="Helvetica" pitchFamily="34" charset="0"/>
                <a:ea typeface="Helvetica" pitchFamily="34" charset="-122"/>
                <a:cs typeface="Helvetica" pitchFamily="34" charset="-120"/>
              </a:rPr>
              <a:t>Stappen met visuals &amp; spraak</a:t>
            </a:r>
            <a:endParaRPr lang="en-US" sz="1100" dirty="0"/>
          </a:p>
        </p:txBody>
      </p:sp>
      <p:sp>
        <p:nvSpPr>
          <p:cNvPr id="14" name="Shape 12"/>
          <p:cNvSpPr/>
          <p:nvPr/>
        </p:nvSpPr>
        <p:spPr>
          <a:xfrm>
            <a:off x="3383280" y="2331720"/>
            <a:ext cx="2606040" cy="1783080"/>
          </a:xfrm>
          <a:prstGeom prst="roundRect">
            <a:avLst>
              <a:gd name="adj" fmla="val 7692"/>
            </a:avLst>
          </a:prstGeom>
          <a:solidFill>
            <a:srgbClr val="FFFFFF"/>
          </a:solidFill>
          <a:ln w="12700">
            <a:solidFill>
              <a:srgbClr val="DCD8C8"/>
            </a:solidFill>
            <a:prstDash val="solid"/>
          </a:ln>
        </p:spPr>
      </p:sp>
      <p:sp>
        <p:nvSpPr>
          <p:cNvPr id="15" name="Shape 13"/>
          <p:cNvSpPr/>
          <p:nvPr/>
        </p:nvSpPr>
        <p:spPr>
          <a:xfrm>
            <a:off x="3611880" y="2532888"/>
            <a:ext cx="640080" cy="640080"/>
          </a:xfrm>
          <a:prstGeom prst="ellipse">
            <a:avLst/>
          </a:prstGeom>
          <a:solidFill>
            <a:srgbClr val="E0FE9C"/>
          </a:solidFill>
          <a:ln w="12700">
            <a:solidFill>
              <a:srgbClr val="E0FE9C"/>
            </a:solidFill>
            <a:prstDash val="solid"/>
          </a:ln>
        </p:spPr>
      </p:sp>
      <p:sp>
        <p:nvSpPr>
          <p:cNvPr id="16" name="Text 14"/>
          <p:cNvSpPr/>
          <p:nvPr/>
        </p:nvSpPr>
        <p:spPr>
          <a:xfrm>
            <a:off x="3611880" y="2532888"/>
            <a:ext cx="64008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3611880" y="3218688"/>
            <a:ext cx="2148840" cy="365760"/>
          </a:xfrm>
          <a:prstGeom prst="rect">
            <a:avLst/>
          </a:prstGeom>
          <a:noFill/>
          <a:ln/>
        </p:spPr>
        <p:txBody>
          <a:bodyPr wrap="square" rtlCol="0" anchor="ctr"/>
          <a:lstStyle/>
          <a:p>
            <a:pPr indent="0" marL="0">
              <a:buNone/>
            </a:pPr>
            <a:r>
              <a:rPr lang="en-US" sz="1400" b="1" dirty="0">
                <a:solidFill>
                  <a:srgbClr val="0E3F3C"/>
                </a:solidFill>
                <a:latin typeface="Helvetica Neue" pitchFamily="34" charset="0"/>
                <a:ea typeface="Helvetica Neue" pitchFamily="34" charset="-122"/>
                <a:cs typeface="Helvetica Neue" pitchFamily="34" charset="-120"/>
              </a:rPr>
              <a:t>Agenda</a:t>
            </a:r>
            <a:endParaRPr lang="en-US" sz="1400" dirty="0"/>
          </a:p>
        </p:txBody>
      </p:sp>
      <p:sp>
        <p:nvSpPr>
          <p:cNvPr id="18" name="Text 16"/>
          <p:cNvSpPr/>
          <p:nvPr/>
        </p:nvSpPr>
        <p:spPr>
          <a:xfrm>
            <a:off x="3611880" y="3584448"/>
            <a:ext cx="2148840" cy="457200"/>
          </a:xfrm>
          <a:prstGeom prst="rect">
            <a:avLst/>
          </a:prstGeom>
          <a:noFill/>
          <a:ln/>
        </p:spPr>
        <p:txBody>
          <a:bodyPr wrap="square" rtlCol="0" anchor="ctr"/>
          <a:lstStyle/>
          <a:p>
            <a:pPr indent="0" marL="0">
              <a:buNone/>
            </a:pPr>
            <a:r>
              <a:rPr lang="en-US" sz="1100" dirty="0">
                <a:solidFill>
                  <a:srgbClr val="5A6E69"/>
                </a:solidFill>
                <a:latin typeface="Helvetica" pitchFamily="34" charset="0"/>
                <a:ea typeface="Helvetica" pitchFamily="34" charset="-122"/>
                <a:cs typeface="Helvetica" pitchFamily="34" charset="-120"/>
              </a:rPr>
              <a:t>Wat komt er vandaag?</a:t>
            </a:r>
            <a:endParaRPr lang="en-US" sz="1100" dirty="0"/>
          </a:p>
        </p:txBody>
      </p:sp>
      <p:sp>
        <p:nvSpPr>
          <p:cNvPr id="19" name="Shape 17"/>
          <p:cNvSpPr/>
          <p:nvPr/>
        </p:nvSpPr>
        <p:spPr>
          <a:xfrm>
            <a:off x="6217920" y="2331720"/>
            <a:ext cx="2606040" cy="1783080"/>
          </a:xfrm>
          <a:prstGeom prst="roundRect">
            <a:avLst>
              <a:gd name="adj" fmla="val 7692"/>
            </a:avLst>
          </a:prstGeom>
          <a:solidFill>
            <a:srgbClr val="FFFFFF"/>
          </a:solidFill>
          <a:ln w="12700">
            <a:solidFill>
              <a:srgbClr val="DCD8C8"/>
            </a:solidFill>
            <a:prstDash val="solid"/>
          </a:ln>
        </p:spPr>
      </p:sp>
      <p:sp>
        <p:nvSpPr>
          <p:cNvPr id="20" name="Shape 18"/>
          <p:cNvSpPr/>
          <p:nvPr/>
        </p:nvSpPr>
        <p:spPr>
          <a:xfrm>
            <a:off x="6446520" y="2532888"/>
            <a:ext cx="640080" cy="640080"/>
          </a:xfrm>
          <a:prstGeom prst="ellipse">
            <a:avLst/>
          </a:prstGeom>
          <a:solidFill>
            <a:srgbClr val="F0CDFF"/>
          </a:solidFill>
          <a:ln w="12700">
            <a:solidFill>
              <a:srgbClr val="F0CDFF"/>
            </a:solidFill>
            <a:prstDash val="solid"/>
          </a:ln>
        </p:spPr>
      </p:sp>
      <p:sp>
        <p:nvSpPr>
          <p:cNvPr id="21" name="Text 19"/>
          <p:cNvSpPr/>
          <p:nvPr/>
        </p:nvSpPr>
        <p:spPr>
          <a:xfrm>
            <a:off x="6446520" y="2532888"/>
            <a:ext cx="64008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6446520" y="3218688"/>
            <a:ext cx="2148840" cy="365760"/>
          </a:xfrm>
          <a:prstGeom prst="rect">
            <a:avLst/>
          </a:prstGeom>
          <a:noFill/>
          <a:ln/>
        </p:spPr>
        <p:txBody>
          <a:bodyPr wrap="square" rtlCol="0" anchor="ctr"/>
          <a:lstStyle/>
          <a:p>
            <a:pPr indent="0" marL="0">
              <a:buNone/>
            </a:pPr>
            <a:r>
              <a:rPr lang="en-US" sz="1400" b="1" dirty="0">
                <a:solidFill>
                  <a:srgbClr val="0E3F3C"/>
                </a:solidFill>
                <a:latin typeface="Helvetica Neue" pitchFamily="34" charset="0"/>
                <a:ea typeface="Helvetica Neue" pitchFamily="34" charset="-122"/>
                <a:cs typeface="Helvetica Neue" pitchFamily="34" charset="-120"/>
              </a:rPr>
              <a:t>Doelen</a:t>
            </a:r>
            <a:endParaRPr lang="en-US" sz="1400" dirty="0"/>
          </a:p>
        </p:txBody>
      </p:sp>
      <p:sp>
        <p:nvSpPr>
          <p:cNvPr id="23" name="Text 21"/>
          <p:cNvSpPr/>
          <p:nvPr/>
        </p:nvSpPr>
        <p:spPr>
          <a:xfrm>
            <a:off x="6446520" y="3584448"/>
            <a:ext cx="2148840" cy="457200"/>
          </a:xfrm>
          <a:prstGeom prst="rect">
            <a:avLst/>
          </a:prstGeom>
          <a:noFill/>
          <a:ln/>
        </p:spPr>
        <p:txBody>
          <a:bodyPr wrap="square" rtlCol="0" anchor="ctr"/>
          <a:lstStyle/>
          <a:p>
            <a:pPr indent="0" marL="0">
              <a:buNone/>
            </a:pPr>
            <a:r>
              <a:rPr lang="en-US" sz="1100" dirty="0">
                <a:solidFill>
                  <a:srgbClr val="5A6E69"/>
                </a:solidFill>
                <a:latin typeface="Helvetica" pitchFamily="34" charset="0"/>
                <a:ea typeface="Helvetica" pitchFamily="34" charset="-122"/>
                <a:cs typeface="Helvetica" pitchFamily="34" charset="-120"/>
              </a:rPr>
              <a:t>Kleine stappen naar groot doel</a:t>
            </a:r>
            <a:endParaRPr lang="en-US" sz="1100" dirty="0"/>
          </a:p>
        </p:txBody>
      </p:sp>
      <p:sp>
        <p:nvSpPr>
          <p:cNvPr id="24" name="Shape 22"/>
          <p:cNvSpPr/>
          <p:nvPr/>
        </p:nvSpPr>
        <p:spPr>
          <a:xfrm>
            <a:off x="9052560" y="2331720"/>
            <a:ext cx="2606040" cy="1783080"/>
          </a:xfrm>
          <a:prstGeom prst="roundRect">
            <a:avLst>
              <a:gd name="adj" fmla="val 7692"/>
            </a:avLst>
          </a:prstGeom>
          <a:solidFill>
            <a:srgbClr val="FFFFFF"/>
          </a:solidFill>
          <a:ln w="12700">
            <a:solidFill>
              <a:srgbClr val="DCD8C8"/>
            </a:solidFill>
            <a:prstDash val="solid"/>
          </a:ln>
        </p:spPr>
      </p:sp>
      <p:sp>
        <p:nvSpPr>
          <p:cNvPr id="25" name="Shape 23"/>
          <p:cNvSpPr/>
          <p:nvPr/>
        </p:nvSpPr>
        <p:spPr>
          <a:xfrm>
            <a:off x="9281160" y="2532888"/>
            <a:ext cx="640080" cy="640080"/>
          </a:xfrm>
          <a:prstGeom prst="ellipse">
            <a:avLst/>
          </a:prstGeom>
          <a:solidFill>
            <a:srgbClr val="FFD3C2"/>
          </a:solidFill>
          <a:ln w="12700">
            <a:solidFill>
              <a:srgbClr val="FFD3C2"/>
            </a:solidFill>
            <a:prstDash val="solid"/>
          </a:ln>
        </p:spPr>
      </p:sp>
      <p:sp>
        <p:nvSpPr>
          <p:cNvPr id="26" name="Text 24"/>
          <p:cNvSpPr/>
          <p:nvPr/>
        </p:nvSpPr>
        <p:spPr>
          <a:xfrm>
            <a:off x="9281160" y="2532888"/>
            <a:ext cx="64008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7" name="Text 25"/>
          <p:cNvSpPr/>
          <p:nvPr/>
        </p:nvSpPr>
        <p:spPr>
          <a:xfrm>
            <a:off x="9281160" y="3218688"/>
            <a:ext cx="2148840" cy="365760"/>
          </a:xfrm>
          <a:prstGeom prst="rect">
            <a:avLst/>
          </a:prstGeom>
          <a:noFill/>
          <a:ln/>
        </p:spPr>
        <p:txBody>
          <a:bodyPr wrap="square" rtlCol="0" anchor="ctr"/>
          <a:lstStyle/>
          <a:p>
            <a:pPr indent="0" marL="0">
              <a:buNone/>
            </a:pPr>
            <a:r>
              <a:rPr lang="en-US" sz="1400" b="1" dirty="0">
                <a:solidFill>
                  <a:srgbClr val="0E3F3C"/>
                </a:solidFill>
                <a:latin typeface="Helvetica Neue" pitchFamily="34" charset="0"/>
                <a:ea typeface="Helvetica Neue" pitchFamily="34" charset="-122"/>
                <a:cs typeface="Helvetica Neue" pitchFamily="34" charset="-120"/>
              </a:rPr>
              <a:t>Beloningen</a:t>
            </a:r>
            <a:endParaRPr lang="en-US" sz="1400" dirty="0"/>
          </a:p>
        </p:txBody>
      </p:sp>
      <p:sp>
        <p:nvSpPr>
          <p:cNvPr id="28" name="Text 26"/>
          <p:cNvSpPr/>
          <p:nvPr/>
        </p:nvSpPr>
        <p:spPr>
          <a:xfrm>
            <a:off x="9281160" y="3584448"/>
            <a:ext cx="2148840" cy="457200"/>
          </a:xfrm>
          <a:prstGeom prst="rect">
            <a:avLst/>
          </a:prstGeom>
          <a:noFill/>
          <a:ln/>
        </p:spPr>
        <p:txBody>
          <a:bodyPr wrap="square" rtlCol="0" anchor="ctr"/>
          <a:lstStyle/>
          <a:p>
            <a:pPr indent="0" marL="0">
              <a:buNone/>
            </a:pPr>
            <a:r>
              <a:rPr lang="en-US" sz="1100" dirty="0">
                <a:solidFill>
                  <a:srgbClr val="5A6E69"/>
                </a:solidFill>
                <a:latin typeface="Helvetica" pitchFamily="34" charset="0"/>
                <a:ea typeface="Helvetica" pitchFamily="34" charset="-122"/>
                <a:cs typeface="Helvetica" pitchFamily="34" charset="-120"/>
              </a:rPr>
              <a:t>Verschijnen direct in de boom</a:t>
            </a:r>
            <a:endParaRPr lang="en-US" sz="1100" dirty="0"/>
          </a:p>
        </p:txBody>
      </p:sp>
      <p:sp>
        <p:nvSpPr>
          <p:cNvPr id="29" name="Shape 27"/>
          <p:cNvSpPr/>
          <p:nvPr/>
        </p:nvSpPr>
        <p:spPr>
          <a:xfrm>
            <a:off x="548640" y="4343400"/>
            <a:ext cx="2606040" cy="1783080"/>
          </a:xfrm>
          <a:prstGeom prst="roundRect">
            <a:avLst>
              <a:gd name="adj" fmla="val 7692"/>
            </a:avLst>
          </a:prstGeom>
          <a:solidFill>
            <a:srgbClr val="FFFFFF"/>
          </a:solidFill>
          <a:ln w="12700">
            <a:solidFill>
              <a:srgbClr val="DCD8C8"/>
            </a:solidFill>
            <a:prstDash val="solid"/>
          </a:ln>
        </p:spPr>
      </p:sp>
      <p:sp>
        <p:nvSpPr>
          <p:cNvPr id="30" name="Shape 28"/>
          <p:cNvSpPr/>
          <p:nvPr/>
        </p:nvSpPr>
        <p:spPr>
          <a:xfrm>
            <a:off x="777240" y="4544568"/>
            <a:ext cx="640080" cy="640080"/>
          </a:xfrm>
          <a:prstGeom prst="ellipse">
            <a:avLst/>
          </a:prstGeom>
          <a:solidFill>
            <a:srgbClr val="E0A9C2"/>
          </a:solidFill>
          <a:ln w="12700">
            <a:solidFill>
              <a:srgbClr val="E0A9C2"/>
            </a:solidFill>
            <a:prstDash val="solid"/>
          </a:ln>
        </p:spPr>
      </p:sp>
      <p:sp>
        <p:nvSpPr>
          <p:cNvPr id="31" name="Text 29"/>
          <p:cNvSpPr/>
          <p:nvPr/>
        </p:nvSpPr>
        <p:spPr>
          <a:xfrm>
            <a:off x="777240" y="4544568"/>
            <a:ext cx="64008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2" name="Text 30"/>
          <p:cNvSpPr/>
          <p:nvPr/>
        </p:nvSpPr>
        <p:spPr>
          <a:xfrm>
            <a:off x="777240" y="5230368"/>
            <a:ext cx="2148840" cy="365760"/>
          </a:xfrm>
          <a:prstGeom prst="rect">
            <a:avLst/>
          </a:prstGeom>
          <a:noFill/>
          <a:ln/>
        </p:spPr>
        <p:txBody>
          <a:bodyPr wrap="square" rtlCol="0" anchor="ctr"/>
          <a:lstStyle/>
          <a:p>
            <a:pPr indent="0" marL="0">
              <a:buNone/>
            </a:pPr>
            <a:r>
              <a:rPr lang="en-US" sz="1400" b="1" dirty="0">
                <a:solidFill>
                  <a:srgbClr val="0E3F3C"/>
                </a:solidFill>
                <a:latin typeface="Helvetica Neue" pitchFamily="34" charset="0"/>
                <a:ea typeface="Helvetica Neue" pitchFamily="34" charset="-122"/>
                <a:cs typeface="Helvetica Neue" pitchFamily="34" charset="-120"/>
              </a:rPr>
              <a:t>Medicijnen</a:t>
            </a:r>
            <a:endParaRPr lang="en-US" sz="1400" dirty="0"/>
          </a:p>
        </p:txBody>
      </p:sp>
      <p:sp>
        <p:nvSpPr>
          <p:cNvPr id="33" name="Text 31"/>
          <p:cNvSpPr/>
          <p:nvPr/>
        </p:nvSpPr>
        <p:spPr>
          <a:xfrm>
            <a:off x="777240" y="5596128"/>
            <a:ext cx="2148840" cy="457200"/>
          </a:xfrm>
          <a:prstGeom prst="rect">
            <a:avLst/>
          </a:prstGeom>
          <a:noFill/>
          <a:ln/>
        </p:spPr>
        <p:txBody>
          <a:bodyPr wrap="square" rtlCol="0" anchor="ctr"/>
          <a:lstStyle/>
          <a:p>
            <a:pPr indent="0" marL="0">
              <a:buNone/>
            </a:pPr>
            <a:r>
              <a:rPr lang="en-US" sz="1100" dirty="0">
                <a:solidFill>
                  <a:srgbClr val="5A6E69"/>
                </a:solidFill>
                <a:latin typeface="Helvetica" pitchFamily="34" charset="0"/>
                <a:ea typeface="Helvetica" pitchFamily="34" charset="-122"/>
                <a:cs typeface="Helvetica" pitchFamily="34" charset="-120"/>
              </a:rPr>
              <a:t>Herinnering op vaste tijden</a:t>
            </a:r>
            <a:endParaRPr lang="en-US" sz="1100" dirty="0"/>
          </a:p>
        </p:txBody>
      </p:sp>
      <p:sp>
        <p:nvSpPr>
          <p:cNvPr id="34" name="Shape 32"/>
          <p:cNvSpPr/>
          <p:nvPr/>
        </p:nvSpPr>
        <p:spPr>
          <a:xfrm>
            <a:off x="3383280" y="4343400"/>
            <a:ext cx="2606040" cy="1783080"/>
          </a:xfrm>
          <a:prstGeom prst="roundRect">
            <a:avLst>
              <a:gd name="adj" fmla="val 7692"/>
            </a:avLst>
          </a:prstGeom>
          <a:solidFill>
            <a:srgbClr val="FFFFFF"/>
          </a:solidFill>
          <a:ln w="12700">
            <a:solidFill>
              <a:srgbClr val="DCD8C8"/>
            </a:solidFill>
            <a:prstDash val="solid"/>
          </a:ln>
        </p:spPr>
      </p:sp>
      <p:sp>
        <p:nvSpPr>
          <p:cNvPr id="35" name="Shape 33"/>
          <p:cNvSpPr/>
          <p:nvPr/>
        </p:nvSpPr>
        <p:spPr>
          <a:xfrm>
            <a:off x="3611880" y="4544568"/>
            <a:ext cx="640080" cy="640080"/>
          </a:xfrm>
          <a:prstGeom prst="ellipse">
            <a:avLst/>
          </a:prstGeom>
          <a:solidFill>
            <a:srgbClr val="F0CDFF"/>
          </a:solidFill>
          <a:ln w="12700">
            <a:solidFill>
              <a:srgbClr val="F0CDFF"/>
            </a:solidFill>
            <a:prstDash val="solid"/>
          </a:ln>
        </p:spPr>
      </p:sp>
      <p:sp>
        <p:nvSpPr>
          <p:cNvPr id="36" name="Text 34"/>
          <p:cNvSpPr/>
          <p:nvPr/>
        </p:nvSpPr>
        <p:spPr>
          <a:xfrm>
            <a:off x="3611880" y="4544568"/>
            <a:ext cx="64008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7" name="Text 35"/>
          <p:cNvSpPr/>
          <p:nvPr/>
        </p:nvSpPr>
        <p:spPr>
          <a:xfrm>
            <a:off x="3611880" y="5230368"/>
            <a:ext cx="2148840" cy="365760"/>
          </a:xfrm>
          <a:prstGeom prst="rect">
            <a:avLst/>
          </a:prstGeom>
          <a:noFill/>
          <a:ln/>
        </p:spPr>
        <p:txBody>
          <a:bodyPr wrap="square" rtlCol="0" anchor="ctr"/>
          <a:lstStyle/>
          <a:p>
            <a:pPr indent="0" marL="0">
              <a:buNone/>
            </a:pPr>
            <a:r>
              <a:rPr lang="en-US" sz="1400" b="1" dirty="0">
                <a:solidFill>
                  <a:srgbClr val="0E3F3C"/>
                </a:solidFill>
                <a:latin typeface="Helvetica Neue" pitchFamily="34" charset="0"/>
                <a:ea typeface="Helvetica Neue" pitchFamily="34" charset="-122"/>
                <a:cs typeface="Helvetica Neue" pitchFamily="34" charset="-120"/>
              </a:rPr>
              <a:t>Vol hoofd</a:t>
            </a:r>
            <a:endParaRPr lang="en-US" sz="1400" dirty="0"/>
          </a:p>
        </p:txBody>
      </p:sp>
      <p:sp>
        <p:nvSpPr>
          <p:cNvPr id="38" name="Text 36"/>
          <p:cNvSpPr/>
          <p:nvPr/>
        </p:nvSpPr>
        <p:spPr>
          <a:xfrm>
            <a:off x="3611880" y="5596128"/>
            <a:ext cx="2148840" cy="457200"/>
          </a:xfrm>
          <a:prstGeom prst="rect">
            <a:avLst/>
          </a:prstGeom>
          <a:noFill/>
          <a:ln/>
        </p:spPr>
        <p:txBody>
          <a:bodyPr wrap="square" rtlCol="0" anchor="ctr"/>
          <a:lstStyle/>
          <a:p>
            <a:pPr indent="0" marL="0">
              <a:buNone/>
            </a:pPr>
            <a:r>
              <a:rPr lang="en-US" sz="1100" dirty="0">
                <a:solidFill>
                  <a:srgbClr val="5A6E69"/>
                </a:solidFill>
                <a:latin typeface="Helvetica" pitchFamily="34" charset="0"/>
                <a:ea typeface="Helvetica" pitchFamily="34" charset="-122"/>
                <a:cs typeface="Helvetica" pitchFamily="34" charset="-120"/>
              </a:rPr>
              <a:t>Emotiekaart + rust-activiteit</a:t>
            </a:r>
            <a:endParaRPr lang="en-US" sz="1100" dirty="0"/>
          </a:p>
        </p:txBody>
      </p:sp>
      <p:sp>
        <p:nvSpPr>
          <p:cNvPr id="39" name="Shape 37"/>
          <p:cNvSpPr/>
          <p:nvPr/>
        </p:nvSpPr>
        <p:spPr>
          <a:xfrm>
            <a:off x="6217920" y="4343400"/>
            <a:ext cx="2606040" cy="1783080"/>
          </a:xfrm>
          <a:prstGeom prst="roundRect">
            <a:avLst>
              <a:gd name="adj" fmla="val 7692"/>
            </a:avLst>
          </a:prstGeom>
          <a:solidFill>
            <a:srgbClr val="FFFFFF"/>
          </a:solidFill>
          <a:ln w="12700">
            <a:solidFill>
              <a:srgbClr val="DCD8C8"/>
            </a:solidFill>
            <a:prstDash val="solid"/>
          </a:ln>
        </p:spPr>
      </p:sp>
      <p:sp>
        <p:nvSpPr>
          <p:cNvPr id="40" name="Shape 38"/>
          <p:cNvSpPr/>
          <p:nvPr/>
        </p:nvSpPr>
        <p:spPr>
          <a:xfrm>
            <a:off x="6446520" y="4544568"/>
            <a:ext cx="640080" cy="640080"/>
          </a:xfrm>
          <a:prstGeom prst="ellipse">
            <a:avLst/>
          </a:prstGeom>
          <a:solidFill>
            <a:srgbClr val="B2DCFA"/>
          </a:solidFill>
          <a:ln w="12700">
            <a:solidFill>
              <a:srgbClr val="B2DCFA"/>
            </a:solidFill>
            <a:prstDash val="solid"/>
          </a:ln>
        </p:spPr>
      </p:sp>
      <p:sp>
        <p:nvSpPr>
          <p:cNvPr id="41" name="Text 39"/>
          <p:cNvSpPr/>
          <p:nvPr/>
        </p:nvSpPr>
        <p:spPr>
          <a:xfrm>
            <a:off x="6446520" y="4544568"/>
            <a:ext cx="640080" cy="6400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42" name="Text 40"/>
          <p:cNvSpPr/>
          <p:nvPr/>
        </p:nvSpPr>
        <p:spPr>
          <a:xfrm>
            <a:off x="6446520" y="5230368"/>
            <a:ext cx="2148840" cy="365760"/>
          </a:xfrm>
          <a:prstGeom prst="rect">
            <a:avLst/>
          </a:prstGeom>
          <a:noFill/>
          <a:ln/>
        </p:spPr>
        <p:txBody>
          <a:bodyPr wrap="square" rtlCol="0" anchor="ctr"/>
          <a:lstStyle/>
          <a:p>
            <a:pPr indent="0" marL="0">
              <a:buNone/>
            </a:pPr>
            <a:r>
              <a:rPr lang="en-US" sz="1400" b="1" dirty="0">
                <a:solidFill>
                  <a:srgbClr val="0E3F3C"/>
                </a:solidFill>
                <a:latin typeface="Helvetica Neue" pitchFamily="34" charset="0"/>
                <a:ea typeface="Helvetica Neue" pitchFamily="34" charset="-122"/>
                <a:cs typeface="Helvetica Neue" pitchFamily="34" charset="-120"/>
              </a:rPr>
              <a:t>Chat met spraak</a:t>
            </a:r>
            <a:endParaRPr lang="en-US" sz="1400" dirty="0"/>
          </a:p>
        </p:txBody>
      </p:sp>
      <p:sp>
        <p:nvSpPr>
          <p:cNvPr id="43" name="Text 41"/>
          <p:cNvSpPr/>
          <p:nvPr/>
        </p:nvSpPr>
        <p:spPr>
          <a:xfrm>
            <a:off x="6446520" y="5596128"/>
            <a:ext cx="2148840" cy="457200"/>
          </a:xfrm>
          <a:prstGeom prst="rect">
            <a:avLst/>
          </a:prstGeom>
          <a:noFill/>
          <a:ln/>
        </p:spPr>
        <p:txBody>
          <a:bodyPr wrap="square" rtlCol="0" anchor="ctr"/>
          <a:lstStyle/>
          <a:p>
            <a:pPr indent="0" marL="0">
              <a:buNone/>
            </a:pPr>
            <a:r>
              <a:rPr lang="en-US" sz="1100" dirty="0">
                <a:solidFill>
                  <a:srgbClr val="5A6E69"/>
                </a:solidFill>
                <a:latin typeface="Helvetica" pitchFamily="34" charset="0"/>
                <a:ea typeface="Helvetica" pitchFamily="34" charset="-122"/>
                <a:cs typeface="Helvetica" pitchFamily="34" charset="-120"/>
              </a:rPr>
              <a:t>Inspreken in plaats van typen</a:t>
            </a:r>
            <a:endParaRPr lang="en-US" sz="1100" dirty="0"/>
          </a:p>
        </p:txBody>
      </p:sp>
      <p:sp>
        <p:nvSpPr>
          <p:cNvPr id="44" name="Shape 42"/>
          <p:cNvSpPr/>
          <p:nvPr/>
        </p:nvSpPr>
        <p:spPr>
          <a:xfrm>
            <a:off x="9052560" y="4343400"/>
            <a:ext cx="2606040" cy="1783080"/>
          </a:xfrm>
          <a:prstGeom prst="roundRect">
            <a:avLst>
              <a:gd name="adj" fmla="val 7692"/>
            </a:avLst>
          </a:prstGeom>
          <a:solidFill>
            <a:srgbClr val="16645F"/>
          </a:solidFill>
          <a:ln w="12700">
            <a:solidFill>
              <a:srgbClr val="16645F"/>
            </a:solidFill>
            <a:prstDash val="solid"/>
          </a:ln>
        </p:spPr>
      </p:sp>
      <p:sp>
        <p:nvSpPr>
          <p:cNvPr id="45" name="Text 43"/>
          <p:cNvSpPr/>
          <p:nvPr/>
        </p:nvSpPr>
        <p:spPr>
          <a:xfrm>
            <a:off x="9052560" y="4480560"/>
            <a:ext cx="2606040" cy="960120"/>
          </a:xfrm>
          <a:prstGeom prst="rect">
            <a:avLst/>
          </a:prstGeom>
          <a:noFill/>
          <a:ln/>
        </p:spPr>
        <p:txBody>
          <a:bodyPr wrap="square" rtlCol="0" anchor="ctr"/>
          <a:lstStyle/>
          <a:p>
            <a:pPr algn="ctr" indent="0" marL="0">
              <a:buNone/>
            </a:pPr>
            <a:r>
              <a:rPr lang="en-US" sz="5200" dirty="0">
                <a:solidFill>
                  <a:srgbClr val="000000"/>
                </a:solidFill>
              </a:rPr>
              <a:t>🌳</a:t>
            </a:r>
            <a:endParaRPr lang="en-US" sz="5200" dirty="0"/>
          </a:p>
        </p:txBody>
      </p:sp>
      <p:sp>
        <p:nvSpPr>
          <p:cNvPr id="46" name="Text 44"/>
          <p:cNvSpPr/>
          <p:nvPr/>
        </p:nvSpPr>
        <p:spPr>
          <a:xfrm>
            <a:off x="9235440" y="5440680"/>
            <a:ext cx="2240280" cy="320040"/>
          </a:xfrm>
          <a:prstGeom prst="rect">
            <a:avLst/>
          </a:prstGeom>
          <a:noFill/>
          <a:ln/>
        </p:spPr>
        <p:txBody>
          <a:bodyPr wrap="square" rtlCol="0" anchor="ctr"/>
          <a:lstStyle/>
          <a:p>
            <a:pPr algn="ctr" indent="0" marL="0">
              <a:buNone/>
            </a:pPr>
            <a:r>
              <a:rPr lang="en-US" sz="1250" b="1" dirty="0">
                <a:solidFill>
                  <a:srgbClr val="FFFFFF"/>
                </a:solidFill>
                <a:latin typeface="Helvetica Neue" pitchFamily="34" charset="0"/>
                <a:ea typeface="Helvetica Neue" pitchFamily="34" charset="-122"/>
                <a:cs typeface="Helvetica Neue" pitchFamily="34" charset="-120"/>
              </a:rPr>
              <a:t>Beloningenboom</a:t>
            </a:r>
            <a:endParaRPr lang="en-US" sz="1250" dirty="0"/>
          </a:p>
        </p:txBody>
      </p:sp>
      <p:sp>
        <p:nvSpPr>
          <p:cNvPr id="47" name="Text 45"/>
          <p:cNvSpPr/>
          <p:nvPr/>
        </p:nvSpPr>
        <p:spPr>
          <a:xfrm>
            <a:off x="9235440" y="5760720"/>
            <a:ext cx="2240280" cy="320040"/>
          </a:xfrm>
          <a:prstGeom prst="rect">
            <a:avLst/>
          </a:prstGeom>
          <a:noFill/>
          <a:ln/>
        </p:spPr>
        <p:txBody>
          <a:bodyPr wrap="square" rtlCol="0" anchor="ctr"/>
          <a:lstStyle/>
          <a:p>
            <a:pPr algn="ctr" indent="0" marL="0">
              <a:buNone/>
            </a:pPr>
            <a:r>
              <a:rPr lang="en-US" sz="1000" i="1" dirty="0">
                <a:solidFill>
                  <a:srgbClr val="EEECDE"/>
                </a:solidFill>
                <a:latin typeface="Helvetica" pitchFamily="34" charset="0"/>
                <a:ea typeface="Helvetica" pitchFamily="34" charset="-122"/>
                <a:cs typeface="Helvetica" pitchFamily="34" charset="-120"/>
              </a:rPr>
              <a:t>Groeit met elke voltooide taak</a:t>
            </a:r>
            <a:endParaRPr lang="en-US" sz="1000" dirty="0"/>
          </a:p>
        </p:txBody>
      </p:sp>
      <p:sp>
        <p:nvSpPr>
          <p:cNvPr id="48" name="Shape 46"/>
          <p:cNvSpPr/>
          <p:nvPr/>
        </p:nvSpPr>
        <p:spPr>
          <a:xfrm>
            <a:off x="411480" y="6446520"/>
            <a:ext cx="228600" cy="228600"/>
          </a:xfrm>
          <a:prstGeom prst="ellipse">
            <a:avLst/>
          </a:prstGeom>
          <a:solidFill>
            <a:srgbClr val="16645F"/>
          </a:solidFill>
          <a:ln w="12700">
            <a:solidFill>
              <a:srgbClr val="16645F"/>
            </a:solidFill>
            <a:prstDash val="solid"/>
          </a:ln>
        </p:spPr>
      </p:sp>
      <p:sp>
        <p:nvSpPr>
          <p:cNvPr id="49" name="Text 47"/>
          <p:cNvSpPr/>
          <p:nvPr/>
        </p:nvSpPr>
        <p:spPr>
          <a:xfrm>
            <a:off x="685800" y="6419088"/>
            <a:ext cx="1828800" cy="274320"/>
          </a:xfrm>
          <a:prstGeom prst="rect">
            <a:avLst/>
          </a:prstGeom>
          <a:noFill/>
          <a:ln/>
        </p:spPr>
        <p:txBody>
          <a:bodyPr wrap="square" rtlCol="0" anchor="ctr"/>
          <a:lstStyle/>
          <a:p>
            <a:pPr indent="0" marL="0">
              <a:buNone/>
            </a:pPr>
            <a:r>
              <a:rPr lang="en-US" sz="1000" b="1" dirty="0">
                <a:solidFill>
                  <a:srgbClr val="0E3F3C"/>
                </a:solidFill>
                <a:latin typeface="Helvetica Neue" pitchFamily="34" charset="0"/>
                <a:ea typeface="Helvetica Neue" pitchFamily="34" charset="-122"/>
                <a:cs typeface="Helvetica Neue" pitchFamily="34" charset="-120"/>
              </a:rPr>
              <a:t>TaskBuddy</a:t>
            </a:r>
            <a:endParaRPr lang="en-US" sz="1000" dirty="0"/>
          </a:p>
        </p:txBody>
      </p:sp>
      <p:sp>
        <p:nvSpPr>
          <p:cNvPr id="50" name="Text 48"/>
          <p:cNvSpPr/>
          <p:nvPr/>
        </p:nvSpPr>
        <p:spPr>
          <a:xfrm>
            <a:off x="11338560" y="6446520"/>
            <a:ext cx="640080" cy="320040"/>
          </a:xfrm>
          <a:prstGeom prst="rect">
            <a:avLst/>
          </a:prstGeom>
          <a:noFill/>
          <a:ln/>
        </p:spPr>
        <p:txBody>
          <a:bodyPr wrap="square" rtlCol="0" anchor="ctr"/>
          <a:lstStyle/>
          <a:p>
            <a:pPr algn="r" indent="0" marL="0">
              <a:buNone/>
            </a:pPr>
            <a:r>
              <a:rPr lang="en-US" sz="900" dirty="0">
                <a:solidFill>
                  <a:srgbClr val="94A29D"/>
                </a:solidFill>
                <a:latin typeface="Helvetica" pitchFamily="34" charset="0"/>
                <a:ea typeface="Helvetica" pitchFamily="34" charset="-122"/>
                <a:cs typeface="Helvetica"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365760"/>
          </a:xfrm>
          <a:prstGeom prst="rect">
            <a:avLst/>
          </a:prstGeom>
          <a:noFill/>
          <a:ln/>
        </p:spPr>
        <p:txBody>
          <a:bodyPr wrap="square" rtlCol="0" anchor="ctr"/>
          <a:lstStyle/>
          <a:p>
            <a:pPr indent="0" marL="0">
              <a:buNone/>
            </a:pPr>
            <a:r>
              <a:rPr lang="en-US" sz="1100" b="1" spc="600" kern="0" dirty="0">
                <a:solidFill>
                  <a:srgbClr val="E0805A"/>
                </a:solidFill>
                <a:latin typeface="Helvetica" pitchFamily="34" charset="0"/>
                <a:ea typeface="Helvetica" pitchFamily="34" charset="-122"/>
                <a:cs typeface="Helvetica" pitchFamily="34" charset="-120"/>
              </a:rPr>
              <a:t>04 · BEGELEIDER</a:t>
            </a:r>
            <a:endParaRPr lang="en-US" sz="1100" dirty="0"/>
          </a:p>
        </p:txBody>
      </p:sp>
      <p:sp>
        <p:nvSpPr>
          <p:cNvPr id="3" name="Text 1"/>
          <p:cNvSpPr/>
          <p:nvPr/>
        </p:nvSpPr>
        <p:spPr>
          <a:xfrm>
            <a:off x="548640" y="914400"/>
            <a:ext cx="10972800" cy="914400"/>
          </a:xfrm>
          <a:prstGeom prst="rect">
            <a:avLst/>
          </a:prstGeom>
          <a:noFill/>
          <a:ln/>
        </p:spPr>
        <p:txBody>
          <a:bodyPr wrap="square" rtlCol="0" anchor="ctr"/>
          <a:lstStyle/>
          <a:p>
            <a:pPr indent="0" marL="0">
              <a:buNone/>
            </a:pPr>
            <a:r>
              <a:rPr lang="en-US" sz="3400" b="1" dirty="0">
                <a:solidFill>
                  <a:srgbClr val="0E3F3C"/>
                </a:solidFill>
                <a:latin typeface="Helvetica Neue" pitchFamily="34" charset="0"/>
                <a:ea typeface="Helvetica Neue" pitchFamily="34" charset="-122"/>
                <a:cs typeface="Helvetica Neue" pitchFamily="34" charset="-120"/>
              </a:rPr>
              <a:t>Het portaal — overzicht en regie</a:t>
            </a:r>
            <a:endParaRPr lang="en-US" sz="3400" dirty="0"/>
          </a:p>
        </p:txBody>
      </p:sp>
      <p:sp>
        <p:nvSpPr>
          <p:cNvPr id="4" name="Shape 2"/>
          <p:cNvSpPr/>
          <p:nvPr/>
        </p:nvSpPr>
        <p:spPr>
          <a:xfrm>
            <a:off x="8961120" y="502920"/>
            <a:ext cx="2743200" cy="868680"/>
          </a:xfrm>
          <a:prstGeom prst="roundRect">
            <a:avLst>
              <a:gd name="adj" fmla="val 10526"/>
            </a:avLst>
          </a:prstGeom>
          <a:solidFill>
            <a:srgbClr val="16645F"/>
          </a:solidFill>
          <a:ln w="12700">
            <a:solidFill>
              <a:srgbClr val="16645F"/>
            </a:solidFill>
            <a:prstDash val="solid"/>
          </a:ln>
        </p:spPr>
      </p:sp>
      <p:sp>
        <p:nvSpPr>
          <p:cNvPr id="5" name="Shape 3"/>
          <p:cNvSpPr/>
          <p:nvPr/>
        </p:nvSpPr>
        <p:spPr>
          <a:xfrm>
            <a:off x="8961120" y="502920"/>
            <a:ext cx="109728" cy="868680"/>
          </a:xfrm>
          <a:prstGeom prst="rect">
            <a:avLst/>
          </a:prstGeom>
          <a:solidFill>
            <a:srgbClr val="FFD3C2"/>
          </a:solidFill>
          <a:ln w="12700">
            <a:solidFill>
              <a:srgbClr val="FFD3C2"/>
            </a:solidFill>
            <a:prstDash val="solid"/>
          </a:ln>
        </p:spPr>
      </p:sp>
      <p:sp>
        <p:nvSpPr>
          <p:cNvPr id="6" name="Text 4"/>
          <p:cNvSpPr/>
          <p:nvPr/>
        </p:nvSpPr>
        <p:spPr>
          <a:xfrm>
            <a:off x="9189720" y="576072"/>
            <a:ext cx="2468880" cy="274320"/>
          </a:xfrm>
          <a:prstGeom prst="rect">
            <a:avLst/>
          </a:prstGeom>
          <a:noFill/>
          <a:ln/>
        </p:spPr>
        <p:txBody>
          <a:bodyPr wrap="square" rtlCol="0" anchor="ctr"/>
          <a:lstStyle/>
          <a:p>
            <a:pPr indent="0" marL="0">
              <a:buNone/>
            </a:pPr>
            <a:r>
              <a:rPr lang="en-US" sz="900" b="1" spc="400" kern="0" dirty="0">
                <a:solidFill>
                  <a:srgbClr val="FFD3C2"/>
                </a:solidFill>
                <a:latin typeface="Helvetica" pitchFamily="34" charset="0"/>
                <a:ea typeface="Helvetica" pitchFamily="34" charset="-122"/>
                <a:cs typeface="Helvetica" pitchFamily="34" charset="-120"/>
              </a:rPr>
              <a:t>EVIDENCE</a:t>
            </a:r>
            <a:endParaRPr lang="en-US" sz="900" dirty="0"/>
          </a:p>
        </p:txBody>
      </p:sp>
      <p:sp>
        <p:nvSpPr>
          <p:cNvPr id="7" name="Text 5"/>
          <p:cNvSpPr/>
          <p:nvPr/>
        </p:nvSpPr>
        <p:spPr>
          <a:xfrm>
            <a:off x="9189720" y="795528"/>
            <a:ext cx="2468880" cy="292608"/>
          </a:xfrm>
          <a:prstGeom prst="rect">
            <a:avLst/>
          </a:prstGeom>
          <a:noFill/>
          <a:ln/>
        </p:spPr>
        <p:txBody>
          <a:bodyPr wrap="square" rtlCol="0" anchor="ctr"/>
          <a:lstStyle/>
          <a:p>
            <a:pPr indent="0" marL="0">
              <a:buNone/>
            </a:pPr>
            <a:r>
              <a:rPr lang="en-US" sz="1200" b="1" dirty="0">
                <a:solidFill>
                  <a:srgbClr val="FFFFFF"/>
                </a:solidFill>
                <a:latin typeface="Helvetica Neue" pitchFamily="34" charset="0"/>
                <a:ea typeface="Helvetica Neue" pitchFamily="34" charset="-122"/>
                <a:cs typeface="Helvetica Neue" pitchFamily="34" charset="-120"/>
              </a:rPr>
              <a:t>Innovatie-impuls</a:t>
            </a:r>
            <a:endParaRPr lang="en-US" sz="1200" dirty="0"/>
          </a:p>
        </p:txBody>
      </p:sp>
      <p:sp>
        <p:nvSpPr>
          <p:cNvPr id="8" name="Text 6"/>
          <p:cNvSpPr/>
          <p:nvPr/>
        </p:nvSpPr>
        <p:spPr>
          <a:xfrm>
            <a:off x="9189720" y="1051560"/>
            <a:ext cx="2468880" cy="274320"/>
          </a:xfrm>
          <a:prstGeom prst="rect">
            <a:avLst/>
          </a:prstGeom>
          <a:noFill/>
          <a:ln/>
        </p:spPr>
        <p:txBody>
          <a:bodyPr wrap="square" rtlCol="0" anchor="ctr"/>
          <a:lstStyle/>
          <a:p>
            <a:pPr indent="0" marL="0">
              <a:buNone/>
            </a:pPr>
            <a:r>
              <a:rPr lang="en-US" sz="950" i="1" dirty="0">
                <a:solidFill>
                  <a:srgbClr val="EEECDE"/>
                </a:solidFill>
                <a:latin typeface="Helvetica" pitchFamily="34" charset="0"/>
                <a:ea typeface="Helvetica" pitchFamily="34" charset="-122"/>
                <a:cs typeface="Helvetica" pitchFamily="34" charset="-120"/>
              </a:rPr>
              <a:t>Verlagen begeleidersbelasting, 2021</a:t>
            </a:r>
            <a:endParaRPr lang="en-US" sz="950" dirty="0"/>
          </a:p>
        </p:txBody>
      </p:sp>
      <p:sp>
        <p:nvSpPr>
          <p:cNvPr id="9" name="Shape 7"/>
          <p:cNvSpPr/>
          <p:nvPr/>
        </p:nvSpPr>
        <p:spPr>
          <a:xfrm>
            <a:off x="548640" y="2331720"/>
            <a:ext cx="1554480" cy="1325880"/>
          </a:xfrm>
          <a:prstGeom prst="roundRect">
            <a:avLst>
              <a:gd name="adj" fmla="val 8276"/>
            </a:avLst>
          </a:prstGeom>
          <a:solidFill>
            <a:srgbClr val="B2DCFA"/>
          </a:solidFill>
          <a:ln w="12700">
            <a:solidFill>
              <a:srgbClr val="DCD8C8"/>
            </a:solidFill>
            <a:prstDash val="solid"/>
          </a:ln>
        </p:spPr>
      </p:sp>
      <p:sp>
        <p:nvSpPr>
          <p:cNvPr id="10" name="Text 8"/>
          <p:cNvSpPr/>
          <p:nvPr/>
        </p:nvSpPr>
        <p:spPr>
          <a:xfrm>
            <a:off x="548640" y="2496312"/>
            <a:ext cx="15544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548640" y="3081528"/>
            <a:ext cx="1554480" cy="365760"/>
          </a:xfrm>
          <a:prstGeom prst="rect">
            <a:avLst/>
          </a:prstGeom>
          <a:noFill/>
          <a:ln/>
        </p:spPr>
        <p:txBody>
          <a:bodyPr wrap="square" rtlCol="0" anchor="ctr"/>
          <a:lstStyle/>
          <a:p>
            <a:pPr algn="ctr" indent="0" marL="0">
              <a:buNone/>
            </a:pPr>
            <a:r>
              <a:rPr lang="en-US" sz="1100" b="1" dirty="0">
                <a:solidFill>
                  <a:srgbClr val="0E3F3C"/>
                </a:solidFill>
                <a:latin typeface="Helvetica Neue" pitchFamily="34" charset="0"/>
                <a:ea typeface="Helvetica Neue" pitchFamily="34" charset="-122"/>
                <a:cs typeface="Helvetica Neue" pitchFamily="34" charset="-120"/>
              </a:rPr>
              <a:t>Cliënten</a:t>
            </a:r>
            <a:endParaRPr lang="en-US" sz="1100" dirty="0"/>
          </a:p>
        </p:txBody>
      </p:sp>
      <p:sp>
        <p:nvSpPr>
          <p:cNvPr id="12" name="Shape 10"/>
          <p:cNvSpPr/>
          <p:nvPr/>
        </p:nvSpPr>
        <p:spPr>
          <a:xfrm>
            <a:off x="2240280" y="2331720"/>
            <a:ext cx="1554480" cy="1325880"/>
          </a:xfrm>
          <a:prstGeom prst="roundRect">
            <a:avLst>
              <a:gd name="adj" fmla="val 8276"/>
            </a:avLst>
          </a:prstGeom>
          <a:solidFill>
            <a:srgbClr val="E0FE9C"/>
          </a:solidFill>
          <a:ln w="12700">
            <a:solidFill>
              <a:srgbClr val="DCD8C8"/>
            </a:solidFill>
            <a:prstDash val="solid"/>
          </a:ln>
        </p:spPr>
      </p:sp>
      <p:sp>
        <p:nvSpPr>
          <p:cNvPr id="13" name="Text 11"/>
          <p:cNvSpPr/>
          <p:nvPr/>
        </p:nvSpPr>
        <p:spPr>
          <a:xfrm>
            <a:off x="2240280" y="2496312"/>
            <a:ext cx="15544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2240280" y="3081528"/>
            <a:ext cx="1554480" cy="365760"/>
          </a:xfrm>
          <a:prstGeom prst="rect">
            <a:avLst/>
          </a:prstGeom>
          <a:noFill/>
          <a:ln/>
        </p:spPr>
        <p:txBody>
          <a:bodyPr wrap="square" rtlCol="0" anchor="ctr"/>
          <a:lstStyle/>
          <a:p>
            <a:pPr algn="ctr" indent="0" marL="0">
              <a:buNone/>
            </a:pPr>
            <a:r>
              <a:rPr lang="en-US" sz="1100" b="1" dirty="0">
                <a:solidFill>
                  <a:srgbClr val="0E3F3C"/>
                </a:solidFill>
                <a:latin typeface="Helvetica Neue" pitchFamily="34" charset="0"/>
                <a:ea typeface="Helvetica Neue" pitchFamily="34" charset="-122"/>
                <a:cs typeface="Helvetica Neue" pitchFamily="34" charset="-120"/>
              </a:rPr>
              <a:t>Taken</a:t>
            </a:r>
            <a:endParaRPr lang="en-US" sz="1100" dirty="0"/>
          </a:p>
        </p:txBody>
      </p:sp>
      <p:sp>
        <p:nvSpPr>
          <p:cNvPr id="15" name="Shape 13"/>
          <p:cNvSpPr/>
          <p:nvPr/>
        </p:nvSpPr>
        <p:spPr>
          <a:xfrm>
            <a:off x="3931920" y="2331720"/>
            <a:ext cx="1554480" cy="1325880"/>
          </a:xfrm>
          <a:prstGeom prst="roundRect">
            <a:avLst>
              <a:gd name="adj" fmla="val 8276"/>
            </a:avLst>
          </a:prstGeom>
          <a:solidFill>
            <a:srgbClr val="F0CDFF"/>
          </a:solidFill>
          <a:ln w="12700">
            <a:solidFill>
              <a:srgbClr val="DCD8C8"/>
            </a:solidFill>
            <a:prstDash val="solid"/>
          </a:ln>
        </p:spPr>
      </p:sp>
      <p:sp>
        <p:nvSpPr>
          <p:cNvPr id="16" name="Text 14"/>
          <p:cNvSpPr/>
          <p:nvPr/>
        </p:nvSpPr>
        <p:spPr>
          <a:xfrm>
            <a:off x="3931920" y="2496312"/>
            <a:ext cx="15544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3931920" y="3081528"/>
            <a:ext cx="1554480" cy="365760"/>
          </a:xfrm>
          <a:prstGeom prst="rect">
            <a:avLst/>
          </a:prstGeom>
          <a:noFill/>
          <a:ln/>
        </p:spPr>
        <p:txBody>
          <a:bodyPr wrap="square" rtlCol="0" anchor="ctr"/>
          <a:lstStyle/>
          <a:p>
            <a:pPr algn="ctr" indent="0" marL="0">
              <a:buNone/>
            </a:pPr>
            <a:r>
              <a:rPr lang="en-US" sz="1100" b="1" dirty="0">
                <a:solidFill>
                  <a:srgbClr val="0E3F3C"/>
                </a:solidFill>
                <a:latin typeface="Helvetica Neue" pitchFamily="34" charset="0"/>
                <a:ea typeface="Helvetica Neue" pitchFamily="34" charset="-122"/>
                <a:cs typeface="Helvetica Neue" pitchFamily="34" charset="-120"/>
              </a:rPr>
              <a:t>Doelen</a:t>
            </a:r>
            <a:endParaRPr lang="en-US" sz="1100" dirty="0"/>
          </a:p>
        </p:txBody>
      </p:sp>
      <p:sp>
        <p:nvSpPr>
          <p:cNvPr id="18" name="Shape 16"/>
          <p:cNvSpPr/>
          <p:nvPr/>
        </p:nvSpPr>
        <p:spPr>
          <a:xfrm>
            <a:off x="548640" y="3794760"/>
            <a:ext cx="1554480" cy="1325880"/>
          </a:xfrm>
          <a:prstGeom prst="roundRect">
            <a:avLst>
              <a:gd name="adj" fmla="val 8276"/>
            </a:avLst>
          </a:prstGeom>
          <a:solidFill>
            <a:srgbClr val="FFD3C2"/>
          </a:solidFill>
          <a:ln w="12700">
            <a:solidFill>
              <a:srgbClr val="DCD8C8"/>
            </a:solidFill>
            <a:prstDash val="solid"/>
          </a:ln>
        </p:spPr>
      </p:sp>
      <p:sp>
        <p:nvSpPr>
          <p:cNvPr id="19" name="Text 17"/>
          <p:cNvSpPr/>
          <p:nvPr/>
        </p:nvSpPr>
        <p:spPr>
          <a:xfrm>
            <a:off x="548640" y="3959352"/>
            <a:ext cx="15544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548640" y="4544568"/>
            <a:ext cx="1554480" cy="365760"/>
          </a:xfrm>
          <a:prstGeom prst="rect">
            <a:avLst/>
          </a:prstGeom>
          <a:noFill/>
          <a:ln/>
        </p:spPr>
        <p:txBody>
          <a:bodyPr wrap="square" rtlCol="0" anchor="ctr"/>
          <a:lstStyle/>
          <a:p>
            <a:pPr algn="ctr" indent="0" marL="0">
              <a:buNone/>
            </a:pPr>
            <a:r>
              <a:rPr lang="en-US" sz="1100" b="1" dirty="0">
                <a:solidFill>
                  <a:srgbClr val="0E3F3C"/>
                </a:solidFill>
                <a:latin typeface="Helvetica Neue" pitchFamily="34" charset="0"/>
                <a:ea typeface="Helvetica Neue" pitchFamily="34" charset="-122"/>
                <a:cs typeface="Helvetica Neue" pitchFamily="34" charset="-120"/>
              </a:rPr>
              <a:t>Beloningen</a:t>
            </a:r>
            <a:endParaRPr lang="en-US" sz="1100" dirty="0"/>
          </a:p>
        </p:txBody>
      </p:sp>
      <p:sp>
        <p:nvSpPr>
          <p:cNvPr id="21" name="Shape 19"/>
          <p:cNvSpPr/>
          <p:nvPr/>
        </p:nvSpPr>
        <p:spPr>
          <a:xfrm>
            <a:off x="2240280" y="3794760"/>
            <a:ext cx="1554480" cy="1325880"/>
          </a:xfrm>
          <a:prstGeom prst="roundRect">
            <a:avLst>
              <a:gd name="adj" fmla="val 8276"/>
            </a:avLst>
          </a:prstGeom>
          <a:solidFill>
            <a:srgbClr val="B2DCFA"/>
          </a:solidFill>
          <a:ln w="12700">
            <a:solidFill>
              <a:srgbClr val="DCD8C8"/>
            </a:solidFill>
            <a:prstDash val="solid"/>
          </a:ln>
        </p:spPr>
      </p:sp>
      <p:sp>
        <p:nvSpPr>
          <p:cNvPr id="22" name="Text 20"/>
          <p:cNvSpPr/>
          <p:nvPr/>
        </p:nvSpPr>
        <p:spPr>
          <a:xfrm>
            <a:off x="2240280" y="3959352"/>
            <a:ext cx="15544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3" name="Text 21"/>
          <p:cNvSpPr/>
          <p:nvPr/>
        </p:nvSpPr>
        <p:spPr>
          <a:xfrm>
            <a:off x="2240280" y="4544568"/>
            <a:ext cx="1554480" cy="365760"/>
          </a:xfrm>
          <a:prstGeom prst="rect">
            <a:avLst/>
          </a:prstGeom>
          <a:noFill/>
          <a:ln/>
        </p:spPr>
        <p:txBody>
          <a:bodyPr wrap="square" rtlCol="0" anchor="ctr"/>
          <a:lstStyle/>
          <a:p>
            <a:pPr algn="ctr" indent="0" marL="0">
              <a:buNone/>
            </a:pPr>
            <a:r>
              <a:rPr lang="en-US" sz="1100" b="1" dirty="0">
                <a:solidFill>
                  <a:srgbClr val="0E3F3C"/>
                </a:solidFill>
                <a:latin typeface="Helvetica Neue" pitchFamily="34" charset="0"/>
                <a:ea typeface="Helvetica Neue" pitchFamily="34" charset="-122"/>
                <a:cs typeface="Helvetica Neue" pitchFamily="34" charset="-120"/>
              </a:rPr>
              <a:t>Chat</a:t>
            </a:r>
            <a:endParaRPr lang="en-US" sz="1100" dirty="0"/>
          </a:p>
        </p:txBody>
      </p:sp>
      <p:sp>
        <p:nvSpPr>
          <p:cNvPr id="24" name="Shape 22"/>
          <p:cNvSpPr/>
          <p:nvPr/>
        </p:nvSpPr>
        <p:spPr>
          <a:xfrm>
            <a:off x="3931920" y="3794760"/>
            <a:ext cx="1554480" cy="1325880"/>
          </a:xfrm>
          <a:prstGeom prst="roundRect">
            <a:avLst>
              <a:gd name="adj" fmla="val 8276"/>
            </a:avLst>
          </a:prstGeom>
          <a:solidFill>
            <a:srgbClr val="E0A9C2"/>
          </a:solidFill>
          <a:ln w="12700">
            <a:solidFill>
              <a:srgbClr val="DCD8C8"/>
            </a:solidFill>
            <a:prstDash val="solid"/>
          </a:ln>
        </p:spPr>
      </p:sp>
      <p:sp>
        <p:nvSpPr>
          <p:cNvPr id="25" name="Text 23"/>
          <p:cNvSpPr/>
          <p:nvPr/>
        </p:nvSpPr>
        <p:spPr>
          <a:xfrm>
            <a:off x="3931920" y="3959352"/>
            <a:ext cx="15544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6" name="Text 24"/>
          <p:cNvSpPr/>
          <p:nvPr/>
        </p:nvSpPr>
        <p:spPr>
          <a:xfrm>
            <a:off x="3931920" y="4544568"/>
            <a:ext cx="1554480" cy="365760"/>
          </a:xfrm>
          <a:prstGeom prst="rect">
            <a:avLst/>
          </a:prstGeom>
          <a:noFill/>
          <a:ln/>
        </p:spPr>
        <p:txBody>
          <a:bodyPr wrap="square" rtlCol="0" anchor="ctr"/>
          <a:lstStyle/>
          <a:p>
            <a:pPr algn="ctr" indent="0" marL="0">
              <a:buNone/>
            </a:pPr>
            <a:r>
              <a:rPr lang="en-US" sz="1100" b="1" dirty="0">
                <a:solidFill>
                  <a:srgbClr val="0E3F3C"/>
                </a:solidFill>
                <a:latin typeface="Helvetica Neue" pitchFamily="34" charset="0"/>
                <a:ea typeface="Helvetica Neue" pitchFamily="34" charset="-122"/>
                <a:cs typeface="Helvetica Neue" pitchFamily="34" charset="-120"/>
              </a:rPr>
              <a:t>Medicijnen</a:t>
            </a:r>
            <a:endParaRPr lang="en-US" sz="1100" dirty="0"/>
          </a:p>
        </p:txBody>
      </p:sp>
      <p:sp>
        <p:nvSpPr>
          <p:cNvPr id="27" name="Shape 25"/>
          <p:cNvSpPr/>
          <p:nvPr/>
        </p:nvSpPr>
        <p:spPr>
          <a:xfrm>
            <a:off x="548640" y="5257800"/>
            <a:ext cx="1554480" cy="1325880"/>
          </a:xfrm>
          <a:prstGeom prst="roundRect">
            <a:avLst>
              <a:gd name="adj" fmla="val 8276"/>
            </a:avLst>
          </a:prstGeom>
          <a:solidFill>
            <a:srgbClr val="F0CDFF"/>
          </a:solidFill>
          <a:ln w="12700">
            <a:solidFill>
              <a:srgbClr val="DCD8C8"/>
            </a:solidFill>
            <a:prstDash val="solid"/>
          </a:ln>
        </p:spPr>
      </p:sp>
      <p:sp>
        <p:nvSpPr>
          <p:cNvPr id="28" name="Text 26"/>
          <p:cNvSpPr/>
          <p:nvPr/>
        </p:nvSpPr>
        <p:spPr>
          <a:xfrm>
            <a:off x="548640" y="5422392"/>
            <a:ext cx="15544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9" name="Text 27"/>
          <p:cNvSpPr/>
          <p:nvPr/>
        </p:nvSpPr>
        <p:spPr>
          <a:xfrm>
            <a:off x="548640" y="6007608"/>
            <a:ext cx="1554480" cy="365760"/>
          </a:xfrm>
          <a:prstGeom prst="rect">
            <a:avLst/>
          </a:prstGeom>
          <a:noFill/>
          <a:ln/>
        </p:spPr>
        <p:txBody>
          <a:bodyPr wrap="square" rtlCol="0" anchor="ctr"/>
          <a:lstStyle/>
          <a:p>
            <a:pPr algn="ctr" indent="0" marL="0">
              <a:buNone/>
            </a:pPr>
            <a:r>
              <a:rPr lang="en-US" sz="1100" b="1" dirty="0">
                <a:solidFill>
                  <a:srgbClr val="0E3F3C"/>
                </a:solidFill>
                <a:latin typeface="Helvetica Neue" pitchFamily="34" charset="0"/>
                <a:ea typeface="Helvetica Neue" pitchFamily="34" charset="-122"/>
                <a:cs typeface="Helvetica Neue" pitchFamily="34" charset="-120"/>
              </a:rPr>
              <a:t>Vol hoofd</a:t>
            </a:r>
            <a:endParaRPr lang="en-US" sz="1100" dirty="0"/>
          </a:p>
        </p:txBody>
      </p:sp>
      <p:sp>
        <p:nvSpPr>
          <p:cNvPr id="30" name="Shape 28"/>
          <p:cNvSpPr/>
          <p:nvPr/>
        </p:nvSpPr>
        <p:spPr>
          <a:xfrm>
            <a:off x="2240280" y="5257800"/>
            <a:ext cx="1554480" cy="1325880"/>
          </a:xfrm>
          <a:prstGeom prst="roundRect">
            <a:avLst>
              <a:gd name="adj" fmla="val 8276"/>
            </a:avLst>
          </a:prstGeom>
          <a:solidFill>
            <a:srgbClr val="80A599"/>
          </a:solidFill>
          <a:ln w="12700">
            <a:solidFill>
              <a:srgbClr val="DCD8C8"/>
            </a:solidFill>
            <a:prstDash val="solid"/>
          </a:ln>
        </p:spPr>
      </p:sp>
      <p:sp>
        <p:nvSpPr>
          <p:cNvPr id="31" name="Text 29"/>
          <p:cNvSpPr/>
          <p:nvPr/>
        </p:nvSpPr>
        <p:spPr>
          <a:xfrm>
            <a:off x="2240280" y="5422392"/>
            <a:ext cx="15544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2" name="Text 30"/>
          <p:cNvSpPr/>
          <p:nvPr/>
        </p:nvSpPr>
        <p:spPr>
          <a:xfrm>
            <a:off x="2240280" y="6007608"/>
            <a:ext cx="1554480" cy="365760"/>
          </a:xfrm>
          <a:prstGeom prst="rect">
            <a:avLst/>
          </a:prstGeom>
          <a:noFill/>
          <a:ln/>
        </p:spPr>
        <p:txBody>
          <a:bodyPr wrap="square" rtlCol="0" anchor="ctr"/>
          <a:lstStyle/>
          <a:p>
            <a:pPr algn="ctr" indent="0" marL="0">
              <a:buNone/>
            </a:pPr>
            <a:r>
              <a:rPr lang="en-US" sz="1100" b="1" dirty="0">
                <a:solidFill>
                  <a:srgbClr val="0E3F3C"/>
                </a:solidFill>
                <a:latin typeface="Helvetica Neue" pitchFamily="34" charset="0"/>
                <a:ea typeface="Helvetica Neue" pitchFamily="34" charset="-122"/>
                <a:cs typeface="Helvetica Neue" pitchFamily="34" charset="-120"/>
              </a:rPr>
              <a:t>Op dienst</a:t>
            </a:r>
            <a:endParaRPr lang="en-US" sz="1100" dirty="0"/>
          </a:p>
        </p:txBody>
      </p:sp>
      <p:sp>
        <p:nvSpPr>
          <p:cNvPr id="33" name="Shape 31"/>
          <p:cNvSpPr/>
          <p:nvPr/>
        </p:nvSpPr>
        <p:spPr>
          <a:xfrm>
            <a:off x="3931920" y="5257800"/>
            <a:ext cx="1554480" cy="1325880"/>
          </a:xfrm>
          <a:prstGeom prst="roundRect">
            <a:avLst>
              <a:gd name="adj" fmla="val 8276"/>
            </a:avLst>
          </a:prstGeom>
          <a:solidFill>
            <a:srgbClr val="FFFFFF"/>
          </a:solidFill>
          <a:ln w="12700">
            <a:solidFill>
              <a:srgbClr val="DCD8C8"/>
            </a:solidFill>
            <a:prstDash val="solid"/>
          </a:ln>
        </p:spPr>
      </p:sp>
      <p:sp>
        <p:nvSpPr>
          <p:cNvPr id="34" name="Text 32"/>
          <p:cNvSpPr/>
          <p:nvPr/>
        </p:nvSpPr>
        <p:spPr>
          <a:xfrm>
            <a:off x="3931920" y="5422392"/>
            <a:ext cx="1554480" cy="50292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5" name="Text 33"/>
          <p:cNvSpPr/>
          <p:nvPr/>
        </p:nvSpPr>
        <p:spPr>
          <a:xfrm>
            <a:off x="3931920" y="6007608"/>
            <a:ext cx="1554480" cy="365760"/>
          </a:xfrm>
          <a:prstGeom prst="rect">
            <a:avLst/>
          </a:prstGeom>
          <a:noFill/>
          <a:ln/>
        </p:spPr>
        <p:txBody>
          <a:bodyPr wrap="square" rtlCol="0" anchor="ctr"/>
          <a:lstStyle/>
          <a:p>
            <a:pPr algn="ctr" indent="0" marL="0">
              <a:buNone/>
            </a:pPr>
            <a:r>
              <a:rPr lang="en-US" sz="1100" b="1" dirty="0">
                <a:solidFill>
                  <a:srgbClr val="0E3F3C"/>
                </a:solidFill>
                <a:latin typeface="Helvetica Neue" pitchFamily="34" charset="0"/>
                <a:ea typeface="Helvetica Neue" pitchFamily="34" charset="-122"/>
                <a:cs typeface="Helvetica Neue" pitchFamily="34" charset="-120"/>
              </a:rPr>
              <a:t>Instellingen</a:t>
            </a:r>
            <a:endParaRPr lang="en-US" sz="1100" dirty="0"/>
          </a:p>
        </p:txBody>
      </p:sp>
      <p:sp>
        <p:nvSpPr>
          <p:cNvPr id="36" name="Shape 34"/>
          <p:cNvSpPr/>
          <p:nvPr/>
        </p:nvSpPr>
        <p:spPr>
          <a:xfrm>
            <a:off x="6217920" y="2331720"/>
            <a:ext cx="5486400" cy="4160520"/>
          </a:xfrm>
          <a:prstGeom prst="roundRect">
            <a:avLst>
              <a:gd name="adj" fmla="val 4396"/>
            </a:avLst>
          </a:prstGeom>
          <a:solidFill>
            <a:srgbClr val="16645F"/>
          </a:solidFill>
          <a:ln w="12700">
            <a:solidFill>
              <a:srgbClr val="16645F"/>
            </a:solidFill>
            <a:prstDash val="solid"/>
          </a:ln>
        </p:spPr>
      </p:sp>
      <p:sp>
        <p:nvSpPr>
          <p:cNvPr id="37" name="Shape 35"/>
          <p:cNvSpPr/>
          <p:nvPr/>
        </p:nvSpPr>
        <p:spPr>
          <a:xfrm>
            <a:off x="6583680" y="2697480"/>
            <a:ext cx="1645920" cy="365760"/>
          </a:xfrm>
          <a:prstGeom prst="roundRect">
            <a:avLst>
              <a:gd name="adj" fmla="val 50000"/>
            </a:avLst>
          </a:prstGeom>
          <a:solidFill>
            <a:srgbClr val="E0805A"/>
          </a:solidFill>
          <a:ln w="12700">
            <a:solidFill>
              <a:srgbClr val="E0805A"/>
            </a:solidFill>
            <a:prstDash val="solid"/>
          </a:ln>
        </p:spPr>
      </p:sp>
      <p:sp>
        <p:nvSpPr>
          <p:cNvPr id="38" name="Text 36"/>
          <p:cNvSpPr/>
          <p:nvPr/>
        </p:nvSpPr>
        <p:spPr>
          <a:xfrm>
            <a:off x="6583680" y="2697480"/>
            <a:ext cx="1645920" cy="365760"/>
          </a:xfrm>
          <a:prstGeom prst="rect">
            <a:avLst/>
          </a:prstGeom>
          <a:noFill/>
          <a:ln/>
        </p:spPr>
        <p:txBody>
          <a:bodyPr wrap="square" rtlCol="0" anchor="ctr"/>
          <a:lstStyle/>
          <a:p>
            <a:pPr algn="ctr" indent="0" marL="0">
              <a:buNone/>
            </a:pPr>
            <a:r>
              <a:rPr lang="en-US" sz="1000" b="1" spc="400" kern="0" dirty="0">
                <a:solidFill>
                  <a:srgbClr val="FFFFFF"/>
                </a:solidFill>
                <a:latin typeface="Helvetica" pitchFamily="34" charset="0"/>
                <a:ea typeface="Helvetica" pitchFamily="34" charset="-122"/>
                <a:cs typeface="Helvetica" pitchFamily="34" charset="-120"/>
              </a:rPr>
              <a:t>AI INGEBOUWD</a:t>
            </a:r>
            <a:endParaRPr lang="en-US" sz="1000" dirty="0"/>
          </a:p>
        </p:txBody>
      </p:sp>
      <p:sp>
        <p:nvSpPr>
          <p:cNvPr id="39" name="Text 37"/>
          <p:cNvSpPr/>
          <p:nvPr/>
        </p:nvSpPr>
        <p:spPr>
          <a:xfrm>
            <a:off x="6583680" y="3246120"/>
            <a:ext cx="4754880" cy="502920"/>
          </a:xfrm>
          <a:prstGeom prst="rect">
            <a:avLst/>
          </a:prstGeom>
          <a:noFill/>
          <a:ln/>
        </p:spPr>
        <p:txBody>
          <a:bodyPr wrap="square" rtlCol="0" anchor="ctr"/>
          <a:lstStyle/>
          <a:p>
            <a:pPr indent="0" marL="0">
              <a:buNone/>
            </a:pPr>
            <a:r>
              <a:rPr lang="en-US" sz="2400" b="1" dirty="0">
                <a:solidFill>
                  <a:srgbClr val="FFFFFF"/>
                </a:solidFill>
                <a:latin typeface="Helvetica Neue" pitchFamily="34" charset="0"/>
                <a:ea typeface="Helvetica Neue" pitchFamily="34" charset="-122"/>
                <a:cs typeface="Helvetica Neue" pitchFamily="34" charset="-120"/>
              </a:rPr>
              <a:t>Slim &amp; lichter werk</a:t>
            </a:r>
            <a:endParaRPr lang="en-US" sz="2400" dirty="0"/>
          </a:p>
        </p:txBody>
      </p:sp>
      <p:sp>
        <p:nvSpPr>
          <p:cNvPr id="40" name="Shape 38"/>
          <p:cNvSpPr/>
          <p:nvPr/>
        </p:nvSpPr>
        <p:spPr>
          <a:xfrm>
            <a:off x="6583680" y="4023360"/>
            <a:ext cx="411480" cy="411480"/>
          </a:xfrm>
          <a:prstGeom prst="ellipse">
            <a:avLst/>
          </a:prstGeom>
          <a:solidFill>
            <a:srgbClr val="80A599"/>
          </a:solidFill>
          <a:ln w="12700">
            <a:solidFill>
              <a:srgbClr val="80A599"/>
            </a:solidFill>
            <a:prstDash val="solid"/>
          </a:ln>
        </p:spPr>
      </p:sp>
      <p:sp>
        <p:nvSpPr>
          <p:cNvPr id="41" name="Text 39"/>
          <p:cNvSpPr/>
          <p:nvPr/>
        </p:nvSpPr>
        <p:spPr>
          <a:xfrm>
            <a:off x="6583680" y="4023360"/>
            <a:ext cx="411480" cy="41148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42" name="Text 40"/>
          <p:cNvSpPr/>
          <p:nvPr/>
        </p:nvSpPr>
        <p:spPr>
          <a:xfrm>
            <a:off x="7132320" y="4005072"/>
            <a:ext cx="4389120" cy="457200"/>
          </a:xfrm>
          <a:prstGeom prst="rect">
            <a:avLst/>
          </a:prstGeom>
          <a:noFill/>
          <a:ln/>
        </p:spPr>
        <p:txBody>
          <a:bodyPr wrap="square" rtlCol="0" anchor="ctr"/>
          <a:lstStyle/>
          <a:p>
            <a:pPr indent="0" marL="0">
              <a:buNone/>
            </a:pPr>
            <a:r>
              <a:rPr lang="en-US" sz="1350" dirty="0">
                <a:solidFill>
                  <a:srgbClr val="EEECDE"/>
                </a:solidFill>
                <a:latin typeface="Helvetica" pitchFamily="34" charset="0"/>
                <a:ea typeface="Helvetica" pitchFamily="34" charset="-122"/>
                <a:cs typeface="Helvetica" pitchFamily="34" charset="-120"/>
              </a:rPr>
              <a:t>Taken genereren uit een korte beschrijving</a:t>
            </a:r>
            <a:endParaRPr lang="en-US" sz="1350" dirty="0"/>
          </a:p>
        </p:txBody>
      </p:sp>
      <p:sp>
        <p:nvSpPr>
          <p:cNvPr id="43" name="Shape 41"/>
          <p:cNvSpPr/>
          <p:nvPr/>
        </p:nvSpPr>
        <p:spPr>
          <a:xfrm>
            <a:off x="6583680" y="4590288"/>
            <a:ext cx="411480" cy="411480"/>
          </a:xfrm>
          <a:prstGeom prst="ellipse">
            <a:avLst/>
          </a:prstGeom>
          <a:solidFill>
            <a:srgbClr val="80A599"/>
          </a:solidFill>
          <a:ln w="12700">
            <a:solidFill>
              <a:srgbClr val="80A599"/>
            </a:solidFill>
            <a:prstDash val="solid"/>
          </a:ln>
        </p:spPr>
      </p:sp>
      <p:sp>
        <p:nvSpPr>
          <p:cNvPr id="44" name="Text 42"/>
          <p:cNvSpPr/>
          <p:nvPr/>
        </p:nvSpPr>
        <p:spPr>
          <a:xfrm>
            <a:off x="6583680" y="4590288"/>
            <a:ext cx="411480" cy="41148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45" name="Text 43"/>
          <p:cNvSpPr/>
          <p:nvPr/>
        </p:nvSpPr>
        <p:spPr>
          <a:xfrm>
            <a:off x="7132320" y="4572000"/>
            <a:ext cx="4389120" cy="457200"/>
          </a:xfrm>
          <a:prstGeom prst="rect">
            <a:avLst/>
          </a:prstGeom>
          <a:noFill/>
          <a:ln/>
        </p:spPr>
        <p:txBody>
          <a:bodyPr wrap="square" rtlCol="0" anchor="ctr"/>
          <a:lstStyle/>
          <a:p>
            <a:pPr indent="0" marL="0">
              <a:buNone/>
            </a:pPr>
            <a:r>
              <a:rPr lang="en-US" sz="1350" dirty="0">
                <a:solidFill>
                  <a:srgbClr val="EEECDE"/>
                </a:solidFill>
                <a:latin typeface="Helvetica" pitchFamily="34" charset="0"/>
                <a:ea typeface="Helvetica" pitchFamily="34" charset="-122"/>
                <a:cs typeface="Helvetica" pitchFamily="34" charset="-120"/>
              </a:rPr>
              <a:t>Stappen herschrijven naar B1-taalniveau</a:t>
            </a:r>
            <a:endParaRPr lang="en-US" sz="1350" dirty="0"/>
          </a:p>
        </p:txBody>
      </p:sp>
      <p:sp>
        <p:nvSpPr>
          <p:cNvPr id="46" name="Shape 44"/>
          <p:cNvSpPr/>
          <p:nvPr/>
        </p:nvSpPr>
        <p:spPr>
          <a:xfrm>
            <a:off x="6583680" y="5157216"/>
            <a:ext cx="411480" cy="411480"/>
          </a:xfrm>
          <a:prstGeom prst="ellipse">
            <a:avLst/>
          </a:prstGeom>
          <a:solidFill>
            <a:srgbClr val="80A599"/>
          </a:solidFill>
          <a:ln w="12700">
            <a:solidFill>
              <a:srgbClr val="80A599"/>
            </a:solidFill>
            <a:prstDash val="solid"/>
          </a:ln>
        </p:spPr>
      </p:sp>
      <p:sp>
        <p:nvSpPr>
          <p:cNvPr id="47" name="Text 45"/>
          <p:cNvSpPr/>
          <p:nvPr/>
        </p:nvSpPr>
        <p:spPr>
          <a:xfrm>
            <a:off x="6583680" y="5157216"/>
            <a:ext cx="411480" cy="41148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48" name="Text 46"/>
          <p:cNvSpPr/>
          <p:nvPr/>
        </p:nvSpPr>
        <p:spPr>
          <a:xfrm>
            <a:off x="7132320" y="5138928"/>
            <a:ext cx="4389120" cy="457200"/>
          </a:xfrm>
          <a:prstGeom prst="rect">
            <a:avLst/>
          </a:prstGeom>
          <a:noFill/>
          <a:ln/>
        </p:spPr>
        <p:txBody>
          <a:bodyPr wrap="square" rtlCol="0" anchor="ctr"/>
          <a:lstStyle/>
          <a:p>
            <a:pPr indent="0" marL="0">
              <a:buNone/>
            </a:pPr>
            <a:r>
              <a:rPr lang="en-US" sz="1350" dirty="0">
                <a:solidFill>
                  <a:srgbClr val="EEECDE"/>
                </a:solidFill>
                <a:latin typeface="Helvetica" pitchFamily="34" charset="0"/>
                <a:ea typeface="Helvetica" pitchFamily="34" charset="-122"/>
                <a:cs typeface="Helvetica" pitchFamily="34" charset="-120"/>
              </a:rPr>
              <a:t>Dagrapportages met één klik</a:t>
            </a:r>
            <a:endParaRPr lang="en-US" sz="1350" dirty="0"/>
          </a:p>
        </p:txBody>
      </p:sp>
      <p:sp>
        <p:nvSpPr>
          <p:cNvPr id="49" name="Shape 47"/>
          <p:cNvSpPr/>
          <p:nvPr/>
        </p:nvSpPr>
        <p:spPr>
          <a:xfrm>
            <a:off x="6583680" y="5724144"/>
            <a:ext cx="411480" cy="411480"/>
          </a:xfrm>
          <a:prstGeom prst="ellipse">
            <a:avLst/>
          </a:prstGeom>
          <a:solidFill>
            <a:srgbClr val="80A599"/>
          </a:solidFill>
          <a:ln w="12700">
            <a:solidFill>
              <a:srgbClr val="80A599"/>
            </a:solidFill>
            <a:prstDash val="solid"/>
          </a:ln>
        </p:spPr>
      </p:sp>
      <p:sp>
        <p:nvSpPr>
          <p:cNvPr id="50" name="Text 48"/>
          <p:cNvSpPr/>
          <p:nvPr/>
        </p:nvSpPr>
        <p:spPr>
          <a:xfrm>
            <a:off x="6583680" y="5724144"/>
            <a:ext cx="411480" cy="41148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51" name="Text 49"/>
          <p:cNvSpPr/>
          <p:nvPr/>
        </p:nvSpPr>
        <p:spPr>
          <a:xfrm>
            <a:off x="7132320" y="5705856"/>
            <a:ext cx="4389120" cy="457200"/>
          </a:xfrm>
          <a:prstGeom prst="rect">
            <a:avLst/>
          </a:prstGeom>
          <a:noFill/>
          <a:ln/>
        </p:spPr>
        <p:txBody>
          <a:bodyPr wrap="square" rtlCol="0" anchor="ctr"/>
          <a:lstStyle/>
          <a:p>
            <a:pPr indent="0" marL="0">
              <a:buNone/>
            </a:pPr>
            <a:r>
              <a:rPr lang="en-US" sz="1350" dirty="0">
                <a:solidFill>
                  <a:srgbClr val="EEECDE"/>
                </a:solidFill>
                <a:latin typeface="Helvetica" pitchFamily="34" charset="0"/>
                <a:ea typeface="Helvetica" pitchFamily="34" charset="-122"/>
                <a:cs typeface="Helvetica" pitchFamily="34" charset="-120"/>
              </a:rPr>
              <a:t>Patroonanalyse over 30 dagen</a:t>
            </a:r>
            <a:endParaRPr lang="en-US" sz="1350" dirty="0"/>
          </a:p>
        </p:txBody>
      </p:sp>
      <p:sp>
        <p:nvSpPr>
          <p:cNvPr id="52" name="Shape 50"/>
          <p:cNvSpPr/>
          <p:nvPr/>
        </p:nvSpPr>
        <p:spPr>
          <a:xfrm>
            <a:off x="411480" y="6446520"/>
            <a:ext cx="228600" cy="228600"/>
          </a:xfrm>
          <a:prstGeom prst="ellipse">
            <a:avLst/>
          </a:prstGeom>
          <a:solidFill>
            <a:srgbClr val="16645F"/>
          </a:solidFill>
          <a:ln w="12700">
            <a:solidFill>
              <a:srgbClr val="16645F"/>
            </a:solidFill>
            <a:prstDash val="solid"/>
          </a:ln>
        </p:spPr>
      </p:sp>
      <p:sp>
        <p:nvSpPr>
          <p:cNvPr id="53" name="Text 51"/>
          <p:cNvSpPr/>
          <p:nvPr/>
        </p:nvSpPr>
        <p:spPr>
          <a:xfrm>
            <a:off x="685800" y="6419088"/>
            <a:ext cx="1828800" cy="274320"/>
          </a:xfrm>
          <a:prstGeom prst="rect">
            <a:avLst/>
          </a:prstGeom>
          <a:noFill/>
          <a:ln/>
        </p:spPr>
        <p:txBody>
          <a:bodyPr wrap="square" rtlCol="0" anchor="ctr"/>
          <a:lstStyle/>
          <a:p>
            <a:pPr indent="0" marL="0">
              <a:buNone/>
            </a:pPr>
            <a:r>
              <a:rPr lang="en-US" sz="1000" b="1" dirty="0">
                <a:solidFill>
                  <a:srgbClr val="0E3F3C"/>
                </a:solidFill>
                <a:latin typeface="Helvetica Neue" pitchFamily="34" charset="0"/>
                <a:ea typeface="Helvetica Neue" pitchFamily="34" charset="-122"/>
                <a:cs typeface="Helvetica Neue" pitchFamily="34" charset="-120"/>
              </a:rPr>
              <a:t>TaskBuddy</a:t>
            </a:r>
            <a:endParaRPr lang="en-US" sz="1000" dirty="0"/>
          </a:p>
        </p:txBody>
      </p:sp>
      <p:sp>
        <p:nvSpPr>
          <p:cNvPr id="54" name="Text 52"/>
          <p:cNvSpPr/>
          <p:nvPr/>
        </p:nvSpPr>
        <p:spPr>
          <a:xfrm>
            <a:off x="11338560" y="6446520"/>
            <a:ext cx="640080" cy="320040"/>
          </a:xfrm>
          <a:prstGeom prst="rect">
            <a:avLst/>
          </a:prstGeom>
          <a:noFill/>
          <a:ln/>
        </p:spPr>
        <p:txBody>
          <a:bodyPr wrap="square" rtlCol="0" anchor="ctr"/>
          <a:lstStyle/>
          <a:p>
            <a:pPr algn="r" indent="0" marL="0">
              <a:buNone/>
            </a:pPr>
            <a:r>
              <a:rPr lang="en-US" sz="900" dirty="0">
                <a:solidFill>
                  <a:srgbClr val="94A29D"/>
                </a:solidFill>
                <a:latin typeface="Helvetica" pitchFamily="34" charset="0"/>
                <a:ea typeface="Helvetica" pitchFamily="34" charset="-122"/>
                <a:cs typeface="Helvetica"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CDE"/>
        </a:solidFill>
      </p:bgPr>
    </p:bg>
    <p:spTree>
      <p:nvGrpSpPr>
        <p:cNvPr id="1" name=""/>
        <p:cNvGrpSpPr/>
        <p:nvPr/>
      </p:nvGrpSpPr>
      <p:grpSpPr>
        <a:xfrm>
          <a:off x="0" y="0"/>
          <a:ext cx="0" cy="0"/>
          <a:chOff x="0" y="0"/>
          <a:chExt cx="0" cy="0"/>
        </a:xfrm>
      </p:grpSpPr>
      <p:sp>
        <p:nvSpPr>
          <p:cNvPr id="2" name="Text 0"/>
          <p:cNvSpPr/>
          <p:nvPr/>
        </p:nvSpPr>
        <p:spPr>
          <a:xfrm>
            <a:off x="548640" y="457200"/>
            <a:ext cx="4572000" cy="365760"/>
          </a:xfrm>
          <a:prstGeom prst="rect">
            <a:avLst/>
          </a:prstGeom>
          <a:noFill/>
          <a:ln/>
        </p:spPr>
        <p:txBody>
          <a:bodyPr wrap="square" rtlCol="0" anchor="ctr"/>
          <a:lstStyle/>
          <a:p>
            <a:pPr indent="0" marL="0">
              <a:buNone/>
            </a:pPr>
            <a:r>
              <a:rPr lang="en-US" sz="1100" b="1" spc="600" kern="0" dirty="0">
                <a:solidFill>
                  <a:srgbClr val="E0805A"/>
                </a:solidFill>
                <a:latin typeface="Helvetica" pitchFamily="34" charset="0"/>
                <a:ea typeface="Helvetica" pitchFamily="34" charset="-122"/>
                <a:cs typeface="Helvetica" pitchFamily="34" charset="-120"/>
              </a:rPr>
              <a:t>05 · FEATURE SPOTLIGHT</a:t>
            </a:r>
            <a:endParaRPr lang="en-US" sz="1100" dirty="0"/>
          </a:p>
        </p:txBody>
      </p:sp>
      <p:sp>
        <p:nvSpPr>
          <p:cNvPr id="3" name="Text 1"/>
          <p:cNvSpPr/>
          <p:nvPr/>
        </p:nvSpPr>
        <p:spPr>
          <a:xfrm>
            <a:off x="548640" y="914400"/>
            <a:ext cx="8229600" cy="914400"/>
          </a:xfrm>
          <a:prstGeom prst="rect">
            <a:avLst/>
          </a:prstGeom>
          <a:noFill/>
          <a:ln/>
        </p:spPr>
        <p:txBody>
          <a:bodyPr wrap="square" rtlCol="0" anchor="ctr"/>
          <a:lstStyle/>
          <a:p>
            <a:pPr indent="0" marL="0">
              <a:buNone/>
            </a:pPr>
            <a:r>
              <a:rPr lang="en-US" sz="3400" b="1" dirty="0">
                <a:solidFill>
                  <a:srgbClr val="0E3F3C"/>
                </a:solidFill>
                <a:latin typeface="Helvetica Neue" pitchFamily="34" charset="0"/>
                <a:ea typeface="Helvetica Neue" pitchFamily="34" charset="-122"/>
                <a:cs typeface="Helvetica Neue" pitchFamily="34" charset="-120"/>
              </a:rPr>
              <a:t>Eerst herkennen, dán reguleren</a:t>
            </a:r>
            <a:endParaRPr lang="en-US" sz="3400" dirty="0"/>
          </a:p>
        </p:txBody>
      </p:sp>
      <p:sp>
        <p:nvSpPr>
          <p:cNvPr id="4" name="Text 2"/>
          <p:cNvSpPr/>
          <p:nvPr/>
        </p:nvSpPr>
        <p:spPr>
          <a:xfrm>
            <a:off x="548640" y="1783080"/>
            <a:ext cx="8229600" cy="457200"/>
          </a:xfrm>
          <a:prstGeom prst="rect">
            <a:avLst/>
          </a:prstGeom>
          <a:noFill/>
          <a:ln/>
        </p:spPr>
        <p:txBody>
          <a:bodyPr wrap="square" rtlCol="0" anchor="ctr"/>
          <a:lstStyle/>
          <a:p>
            <a:pPr indent="0" marL="0">
              <a:buNone/>
            </a:pPr>
            <a:r>
              <a:rPr lang="en-US" sz="1500" i="1" dirty="0">
                <a:solidFill>
                  <a:srgbClr val="5A6E69"/>
                </a:solidFill>
                <a:latin typeface="Helvetica" pitchFamily="34" charset="0"/>
                <a:ea typeface="Helvetica" pitchFamily="34" charset="-122"/>
                <a:cs typeface="Helvetica" pitchFamily="34" charset="-120"/>
              </a:rPr>
              <a:t>De nieuwe vol hoofd-flow.</a:t>
            </a:r>
            <a:endParaRPr lang="en-US" sz="1500" dirty="0"/>
          </a:p>
        </p:txBody>
      </p:sp>
      <p:sp>
        <p:nvSpPr>
          <p:cNvPr id="5" name="Shape 3"/>
          <p:cNvSpPr/>
          <p:nvPr/>
        </p:nvSpPr>
        <p:spPr>
          <a:xfrm>
            <a:off x="8961120" y="502920"/>
            <a:ext cx="2743200" cy="868680"/>
          </a:xfrm>
          <a:prstGeom prst="roundRect">
            <a:avLst>
              <a:gd name="adj" fmla="val 10526"/>
            </a:avLst>
          </a:prstGeom>
          <a:solidFill>
            <a:srgbClr val="16645F"/>
          </a:solidFill>
          <a:ln w="12700">
            <a:solidFill>
              <a:srgbClr val="16645F"/>
            </a:solidFill>
            <a:prstDash val="solid"/>
          </a:ln>
        </p:spPr>
      </p:sp>
      <p:sp>
        <p:nvSpPr>
          <p:cNvPr id="6" name="Shape 4"/>
          <p:cNvSpPr/>
          <p:nvPr/>
        </p:nvSpPr>
        <p:spPr>
          <a:xfrm>
            <a:off x="8961120" y="502920"/>
            <a:ext cx="109728" cy="868680"/>
          </a:xfrm>
          <a:prstGeom prst="rect">
            <a:avLst/>
          </a:prstGeom>
          <a:solidFill>
            <a:srgbClr val="FFD3C2"/>
          </a:solidFill>
          <a:ln w="12700">
            <a:solidFill>
              <a:srgbClr val="FFD3C2"/>
            </a:solidFill>
            <a:prstDash val="solid"/>
          </a:ln>
        </p:spPr>
      </p:sp>
      <p:sp>
        <p:nvSpPr>
          <p:cNvPr id="7" name="Text 5"/>
          <p:cNvSpPr/>
          <p:nvPr/>
        </p:nvSpPr>
        <p:spPr>
          <a:xfrm>
            <a:off x="9189720" y="576072"/>
            <a:ext cx="2468880" cy="274320"/>
          </a:xfrm>
          <a:prstGeom prst="rect">
            <a:avLst/>
          </a:prstGeom>
          <a:noFill/>
          <a:ln/>
        </p:spPr>
        <p:txBody>
          <a:bodyPr wrap="square" rtlCol="0" anchor="ctr"/>
          <a:lstStyle/>
          <a:p>
            <a:pPr indent="0" marL="0">
              <a:buNone/>
            </a:pPr>
            <a:r>
              <a:rPr lang="en-US" sz="900" b="1" spc="400" kern="0" dirty="0">
                <a:solidFill>
                  <a:srgbClr val="FFD3C2"/>
                </a:solidFill>
                <a:latin typeface="Helvetica" pitchFamily="34" charset="0"/>
                <a:ea typeface="Helvetica" pitchFamily="34" charset="-122"/>
                <a:cs typeface="Helvetica" pitchFamily="34" charset="-120"/>
              </a:rPr>
              <a:t>EVIDENCE</a:t>
            </a:r>
            <a:endParaRPr lang="en-US" sz="900" dirty="0"/>
          </a:p>
        </p:txBody>
      </p:sp>
      <p:sp>
        <p:nvSpPr>
          <p:cNvPr id="8" name="Text 6"/>
          <p:cNvSpPr/>
          <p:nvPr/>
        </p:nvSpPr>
        <p:spPr>
          <a:xfrm>
            <a:off x="9189720" y="795528"/>
            <a:ext cx="2468880" cy="292608"/>
          </a:xfrm>
          <a:prstGeom prst="rect">
            <a:avLst/>
          </a:prstGeom>
          <a:noFill/>
          <a:ln/>
        </p:spPr>
        <p:txBody>
          <a:bodyPr wrap="square" rtlCol="0" anchor="ctr"/>
          <a:lstStyle/>
          <a:p>
            <a:pPr indent="0" marL="0">
              <a:buNone/>
            </a:pPr>
            <a:r>
              <a:rPr lang="en-US" sz="1200" b="1" dirty="0">
                <a:solidFill>
                  <a:srgbClr val="FFFFFF"/>
                </a:solidFill>
                <a:latin typeface="Helvetica Neue" pitchFamily="34" charset="0"/>
                <a:ea typeface="Helvetica Neue" pitchFamily="34" charset="-122"/>
                <a:cs typeface="Helvetica Neue" pitchFamily="34" charset="-120"/>
              </a:rPr>
              <a:t>Pijler 4</a:t>
            </a:r>
            <a:endParaRPr lang="en-US" sz="1200" dirty="0"/>
          </a:p>
        </p:txBody>
      </p:sp>
      <p:sp>
        <p:nvSpPr>
          <p:cNvPr id="9" name="Text 7"/>
          <p:cNvSpPr/>
          <p:nvPr/>
        </p:nvSpPr>
        <p:spPr>
          <a:xfrm>
            <a:off x="9189720" y="1051560"/>
            <a:ext cx="2468880" cy="274320"/>
          </a:xfrm>
          <a:prstGeom prst="rect">
            <a:avLst/>
          </a:prstGeom>
          <a:noFill/>
          <a:ln/>
        </p:spPr>
        <p:txBody>
          <a:bodyPr wrap="square" rtlCol="0" anchor="ctr"/>
          <a:lstStyle/>
          <a:p>
            <a:pPr indent="0" marL="0">
              <a:buNone/>
            </a:pPr>
            <a:r>
              <a:rPr lang="en-US" sz="950" i="1" dirty="0">
                <a:solidFill>
                  <a:srgbClr val="EEECDE"/>
                </a:solidFill>
                <a:latin typeface="Helvetica" pitchFamily="34" charset="0"/>
                <a:ea typeface="Helvetica" pitchFamily="34" charset="-122"/>
                <a:cs typeface="Helvetica" pitchFamily="34" charset="-120"/>
              </a:rPr>
              <a:t>Emotion regulation in ID — Tandfonline 2024</a:t>
            </a:r>
            <a:endParaRPr lang="en-US" sz="950" dirty="0"/>
          </a:p>
        </p:txBody>
      </p:sp>
      <p:sp>
        <p:nvSpPr>
          <p:cNvPr id="10" name="Shape 8"/>
          <p:cNvSpPr/>
          <p:nvPr/>
        </p:nvSpPr>
        <p:spPr>
          <a:xfrm>
            <a:off x="548640" y="2606040"/>
            <a:ext cx="3657600" cy="2286000"/>
          </a:xfrm>
          <a:prstGeom prst="roundRect">
            <a:avLst>
              <a:gd name="adj" fmla="val 6000"/>
            </a:avLst>
          </a:prstGeom>
          <a:solidFill>
            <a:srgbClr val="FFFFFF"/>
          </a:solidFill>
          <a:ln w="12700">
            <a:solidFill>
              <a:srgbClr val="DCD8C8"/>
            </a:solidFill>
            <a:prstDash val="solid"/>
          </a:ln>
        </p:spPr>
      </p:sp>
      <p:sp>
        <p:nvSpPr>
          <p:cNvPr id="11" name="Shape 9"/>
          <p:cNvSpPr/>
          <p:nvPr/>
        </p:nvSpPr>
        <p:spPr>
          <a:xfrm>
            <a:off x="1828800" y="2880360"/>
            <a:ext cx="1097280" cy="1097280"/>
          </a:xfrm>
          <a:prstGeom prst="ellipse">
            <a:avLst/>
          </a:prstGeom>
          <a:solidFill>
            <a:srgbClr val="F0CDFF"/>
          </a:solidFill>
          <a:ln w="12700">
            <a:solidFill>
              <a:srgbClr val="F0CDFF"/>
            </a:solidFill>
            <a:prstDash val="solid"/>
          </a:ln>
        </p:spPr>
      </p:sp>
      <p:sp>
        <p:nvSpPr>
          <p:cNvPr id="12" name="Text 10"/>
          <p:cNvSpPr/>
          <p:nvPr/>
        </p:nvSpPr>
        <p:spPr>
          <a:xfrm>
            <a:off x="1828800" y="2880360"/>
            <a:ext cx="1097280" cy="109728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13" name="Text 11"/>
          <p:cNvSpPr/>
          <p:nvPr/>
        </p:nvSpPr>
        <p:spPr>
          <a:xfrm>
            <a:off x="731520" y="4114800"/>
            <a:ext cx="3291840" cy="365760"/>
          </a:xfrm>
          <a:prstGeom prst="rect">
            <a:avLst/>
          </a:prstGeom>
          <a:noFill/>
          <a:ln/>
        </p:spPr>
        <p:txBody>
          <a:bodyPr wrap="square" rtlCol="0" anchor="ctr"/>
          <a:lstStyle/>
          <a:p>
            <a:pPr algn="ctr" indent="0" marL="0">
              <a:buNone/>
            </a:pPr>
            <a:r>
              <a:rPr lang="en-US" sz="1600" b="1" dirty="0">
                <a:solidFill>
                  <a:srgbClr val="0E3F3C"/>
                </a:solidFill>
                <a:latin typeface="Helvetica Neue" pitchFamily="34" charset="0"/>
                <a:ea typeface="Helvetica Neue" pitchFamily="34" charset="-122"/>
                <a:cs typeface="Helvetica Neue" pitchFamily="34" charset="-120"/>
              </a:rPr>
              <a:t>1. Hoe voelt het?</a:t>
            </a:r>
            <a:endParaRPr lang="en-US" sz="1600" dirty="0"/>
          </a:p>
        </p:txBody>
      </p:sp>
      <p:sp>
        <p:nvSpPr>
          <p:cNvPr id="14" name="Text 12"/>
          <p:cNvSpPr/>
          <p:nvPr/>
        </p:nvSpPr>
        <p:spPr>
          <a:xfrm>
            <a:off x="731520" y="4480560"/>
            <a:ext cx="3291840" cy="320040"/>
          </a:xfrm>
          <a:prstGeom prst="rect">
            <a:avLst/>
          </a:prstGeom>
          <a:noFill/>
          <a:ln/>
        </p:spPr>
        <p:txBody>
          <a:bodyPr wrap="square" rtlCol="0" anchor="ctr"/>
          <a:lstStyle/>
          <a:p>
            <a:pPr algn="ctr" indent="0" marL="0">
              <a:buNone/>
            </a:pPr>
            <a:r>
              <a:rPr lang="en-US" sz="1150" i="1" dirty="0">
                <a:solidFill>
                  <a:srgbClr val="5A6E69"/>
                </a:solidFill>
                <a:latin typeface="Helvetica" pitchFamily="34" charset="0"/>
                <a:ea typeface="Helvetica" pitchFamily="34" charset="-122"/>
                <a:cs typeface="Helvetica" pitchFamily="34" charset="-120"/>
              </a:rPr>
              <a:t>Druk · Boos · Verdrietig</a:t>
            </a:r>
            <a:endParaRPr lang="en-US" sz="1150" dirty="0"/>
          </a:p>
        </p:txBody>
      </p:sp>
      <p:sp>
        <p:nvSpPr>
          <p:cNvPr id="15" name="Shape 13"/>
          <p:cNvSpPr/>
          <p:nvPr/>
        </p:nvSpPr>
        <p:spPr>
          <a:xfrm>
            <a:off x="4389120" y="2606040"/>
            <a:ext cx="3657600" cy="2286000"/>
          </a:xfrm>
          <a:prstGeom prst="roundRect">
            <a:avLst>
              <a:gd name="adj" fmla="val 6000"/>
            </a:avLst>
          </a:prstGeom>
          <a:solidFill>
            <a:srgbClr val="FFFFFF"/>
          </a:solidFill>
          <a:ln w="12700">
            <a:solidFill>
              <a:srgbClr val="DCD8C8"/>
            </a:solidFill>
            <a:prstDash val="solid"/>
          </a:ln>
        </p:spPr>
      </p:sp>
      <p:sp>
        <p:nvSpPr>
          <p:cNvPr id="16" name="Shape 14"/>
          <p:cNvSpPr/>
          <p:nvPr/>
        </p:nvSpPr>
        <p:spPr>
          <a:xfrm>
            <a:off x="5669280" y="2880360"/>
            <a:ext cx="1097280" cy="1097280"/>
          </a:xfrm>
          <a:prstGeom prst="ellipse">
            <a:avLst/>
          </a:prstGeom>
          <a:solidFill>
            <a:srgbClr val="FFD3C2"/>
          </a:solidFill>
          <a:ln w="12700">
            <a:solidFill>
              <a:srgbClr val="FFD3C2"/>
            </a:solidFill>
            <a:prstDash val="solid"/>
          </a:ln>
        </p:spPr>
      </p:sp>
      <p:sp>
        <p:nvSpPr>
          <p:cNvPr id="17" name="Text 15"/>
          <p:cNvSpPr/>
          <p:nvPr/>
        </p:nvSpPr>
        <p:spPr>
          <a:xfrm>
            <a:off x="5669280" y="2880360"/>
            <a:ext cx="1097280" cy="109728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18" name="Text 16"/>
          <p:cNvSpPr/>
          <p:nvPr/>
        </p:nvSpPr>
        <p:spPr>
          <a:xfrm>
            <a:off x="4572000" y="4114800"/>
            <a:ext cx="3291840" cy="365760"/>
          </a:xfrm>
          <a:prstGeom prst="rect">
            <a:avLst/>
          </a:prstGeom>
          <a:noFill/>
          <a:ln/>
        </p:spPr>
        <p:txBody>
          <a:bodyPr wrap="square" rtlCol="0" anchor="ctr"/>
          <a:lstStyle/>
          <a:p>
            <a:pPr algn="ctr" indent="0" marL="0">
              <a:buNone/>
            </a:pPr>
            <a:r>
              <a:rPr lang="en-US" sz="1600" b="1" dirty="0">
                <a:solidFill>
                  <a:srgbClr val="0E3F3C"/>
                </a:solidFill>
                <a:latin typeface="Helvetica Neue" pitchFamily="34" charset="0"/>
                <a:ea typeface="Helvetica Neue" pitchFamily="34" charset="-122"/>
                <a:cs typeface="Helvetica Neue" pitchFamily="34" charset="-120"/>
              </a:rPr>
              <a:t>2. Wat helpt nu?</a:t>
            </a:r>
            <a:endParaRPr lang="en-US" sz="1600" dirty="0"/>
          </a:p>
        </p:txBody>
      </p:sp>
      <p:sp>
        <p:nvSpPr>
          <p:cNvPr id="19" name="Text 17"/>
          <p:cNvSpPr/>
          <p:nvPr/>
        </p:nvSpPr>
        <p:spPr>
          <a:xfrm>
            <a:off x="4572000" y="4480560"/>
            <a:ext cx="3291840" cy="320040"/>
          </a:xfrm>
          <a:prstGeom prst="rect">
            <a:avLst/>
          </a:prstGeom>
          <a:noFill/>
          <a:ln/>
        </p:spPr>
        <p:txBody>
          <a:bodyPr wrap="square" rtlCol="0" anchor="ctr"/>
          <a:lstStyle/>
          <a:p>
            <a:pPr algn="ctr" indent="0" marL="0">
              <a:buNone/>
            </a:pPr>
            <a:r>
              <a:rPr lang="en-US" sz="1150" i="1" dirty="0">
                <a:solidFill>
                  <a:srgbClr val="5A6E69"/>
                </a:solidFill>
                <a:latin typeface="Helvetica" pitchFamily="34" charset="0"/>
                <a:ea typeface="Helvetica" pitchFamily="34" charset="-122"/>
                <a:cs typeface="Helvetica" pitchFamily="34" charset="-120"/>
              </a:rPr>
              <a:t>Passende activiteit kiezen</a:t>
            </a:r>
            <a:endParaRPr lang="en-US" sz="1150" dirty="0"/>
          </a:p>
        </p:txBody>
      </p:sp>
      <p:sp>
        <p:nvSpPr>
          <p:cNvPr id="20" name="Shape 18"/>
          <p:cNvSpPr/>
          <p:nvPr/>
        </p:nvSpPr>
        <p:spPr>
          <a:xfrm>
            <a:off x="8229600" y="2606040"/>
            <a:ext cx="3657600" cy="2286000"/>
          </a:xfrm>
          <a:prstGeom prst="roundRect">
            <a:avLst>
              <a:gd name="adj" fmla="val 6000"/>
            </a:avLst>
          </a:prstGeom>
          <a:solidFill>
            <a:srgbClr val="FFFFFF"/>
          </a:solidFill>
          <a:ln w="12700">
            <a:solidFill>
              <a:srgbClr val="DCD8C8"/>
            </a:solidFill>
            <a:prstDash val="solid"/>
          </a:ln>
        </p:spPr>
      </p:sp>
      <p:sp>
        <p:nvSpPr>
          <p:cNvPr id="21" name="Shape 19"/>
          <p:cNvSpPr/>
          <p:nvPr/>
        </p:nvSpPr>
        <p:spPr>
          <a:xfrm>
            <a:off x="9509760" y="2880360"/>
            <a:ext cx="1097280" cy="1097280"/>
          </a:xfrm>
          <a:prstGeom prst="ellipse">
            <a:avLst/>
          </a:prstGeom>
          <a:solidFill>
            <a:srgbClr val="E0FE9C"/>
          </a:solidFill>
          <a:ln w="12700">
            <a:solidFill>
              <a:srgbClr val="E0FE9C"/>
            </a:solidFill>
            <a:prstDash val="solid"/>
          </a:ln>
        </p:spPr>
      </p:sp>
      <p:sp>
        <p:nvSpPr>
          <p:cNvPr id="22" name="Text 20"/>
          <p:cNvSpPr/>
          <p:nvPr/>
        </p:nvSpPr>
        <p:spPr>
          <a:xfrm>
            <a:off x="9509760" y="2880360"/>
            <a:ext cx="1097280" cy="109728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23" name="Text 21"/>
          <p:cNvSpPr/>
          <p:nvPr/>
        </p:nvSpPr>
        <p:spPr>
          <a:xfrm>
            <a:off x="8412480" y="4114800"/>
            <a:ext cx="3291840" cy="365760"/>
          </a:xfrm>
          <a:prstGeom prst="rect">
            <a:avLst/>
          </a:prstGeom>
          <a:noFill/>
          <a:ln/>
        </p:spPr>
        <p:txBody>
          <a:bodyPr wrap="square" rtlCol="0" anchor="ctr"/>
          <a:lstStyle/>
          <a:p>
            <a:pPr algn="ctr" indent="0" marL="0">
              <a:buNone/>
            </a:pPr>
            <a:r>
              <a:rPr lang="en-US" sz="1600" b="1" dirty="0">
                <a:solidFill>
                  <a:srgbClr val="0E3F3C"/>
                </a:solidFill>
                <a:latin typeface="Helvetica Neue" pitchFamily="34" charset="0"/>
                <a:ea typeface="Helvetica Neue" pitchFamily="34" charset="-122"/>
                <a:cs typeface="Helvetica Neue" pitchFamily="34" charset="-120"/>
              </a:rPr>
              <a:t>3. Hielp dit?</a:t>
            </a:r>
            <a:endParaRPr lang="en-US" sz="1600" dirty="0"/>
          </a:p>
        </p:txBody>
      </p:sp>
      <p:sp>
        <p:nvSpPr>
          <p:cNvPr id="24" name="Text 22"/>
          <p:cNvSpPr/>
          <p:nvPr/>
        </p:nvSpPr>
        <p:spPr>
          <a:xfrm>
            <a:off x="8412480" y="4480560"/>
            <a:ext cx="3291840" cy="320040"/>
          </a:xfrm>
          <a:prstGeom prst="rect">
            <a:avLst/>
          </a:prstGeom>
          <a:noFill/>
          <a:ln/>
        </p:spPr>
        <p:txBody>
          <a:bodyPr wrap="square" rtlCol="0" anchor="ctr"/>
          <a:lstStyle/>
          <a:p>
            <a:pPr algn="ctr" indent="0" marL="0">
              <a:buNone/>
            </a:pPr>
            <a:r>
              <a:rPr lang="en-US" sz="1150" i="1" dirty="0">
                <a:solidFill>
                  <a:srgbClr val="5A6E69"/>
                </a:solidFill>
                <a:latin typeface="Helvetica" pitchFamily="34" charset="0"/>
                <a:ea typeface="Helvetica" pitchFamily="34" charset="-122"/>
                <a:cs typeface="Helvetica" pitchFamily="34" charset="-120"/>
              </a:rPr>
              <a:t>Feedback van de cliënt zelf</a:t>
            </a:r>
            <a:endParaRPr lang="en-US" sz="1150" dirty="0"/>
          </a:p>
        </p:txBody>
      </p:sp>
      <p:sp>
        <p:nvSpPr>
          <p:cNvPr id="25" name="Text 23"/>
          <p:cNvSpPr/>
          <p:nvPr/>
        </p:nvSpPr>
        <p:spPr>
          <a:xfrm>
            <a:off x="4206240" y="3520440"/>
            <a:ext cx="182880" cy="457200"/>
          </a:xfrm>
          <a:prstGeom prst="rect">
            <a:avLst/>
          </a:prstGeom>
          <a:noFill/>
          <a:ln/>
        </p:spPr>
        <p:txBody>
          <a:bodyPr wrap="square" rtlCol="0" anchor="ctr"/>
          <a:lstStyle/>
          <a:p>
            <a:pPr algn="ctr" indent="0" marL="0">
              <a:buNone/>
            </a:pPr>
            <a:r>
              <a:rPr lang="en-US" sz="2200" b="1" dirty="0">
                <a:solidFill>
                  <a:srgbClr val="E0805A"/>
                </a:solidFill>
              </a:rPr>
              <a:t>→</a:t>
            </a:r>
            <a:endParaRPr lang="en-US" sz="2200" dirty="0"/>
          </a:p>
        </p:txBody>
      </p:sp>
      <p:sp>
        <p:nvSpPr>
          <p:cNvPr id="26" name="Text 24"/>
          <p:cNvSpPr/>
          <p:nvPr/>
        </p:nvSpPr>
        <p:spPr>
          <a:xfrm>
            <a:off x="8046720" y="3520440"/>
            <a:ext cx="182880" cy="457200"/>
          </a:xfrm>
          <a:prstGeom prst="rect">
            <a:avLst/>
          </a:prstGeom>
          <a:noFill/>
          <a:ln/>
        </p:spPr>
        <p:txBody>
          <a:bodyPr wrap="square" rtlCol="0" anchor="ctr"/>
          <a:lstStyle/>
          <a:p>
            <a:pPr algn="ctr" indent="0" marL="0">
              <a:buNone/>
            </a:pPr>
            <a:r>
              <a:rPr lang="en-US" sz="2200" b="1" dirty="0">
                <a:solidFill>
                  <a:srgbClr val="E0805A"/>
                </a:solidFill>
              </a:rPr>
              <a:t>→</a:t>
            </a:r>
            <a:endParaRPr lang="en-US" sz="2200" dirty="0"/>
          </a:p>
        </p:txBody>
      </p:sp>
      <p:sp>
        <p:nvSpPr>
          <p:cNvPr id="27" name="Shape 25"/>
          <p:cNvSpPr/>
          <p:nvPr/>
        </p:nvSpPr>
        <p:spPr>
          <a:xfrm>
            <a:off x="548640" y="5212080"/>
            <a:ext cx="11155680" cy="1097280"/>
          </a:xfrm>
          <a:prstGeom prst="roundRect">
            <a:avLst>
              <a:gd name="adj" fmla="val 12500"/>
            </a:avLst>
          </a:prstGeom>
          <a:solidFill>
            <a:srgbClr val="16645F"/>
          </a:solidFill>
          <a:ln w="12700">
            <a:solidFill>
              <a:srgbClr val="16645F"/>
            </a:solidFill>
            <a:prstDash val="solid"/>
          </a:ln>
        </p:spPr>
      </p:sp>
      <p:sp>
        <p:nvSpPr>
          <p:cNvPr id="28" name="Text 26"/>
          <p:cNvSpPr/>
          <p:nvPr/>
        </p:nvSpPr>
        <p:spPr>
          <a:xfrm>
            <a:off x="777240" y="5303520"/>
            <a:ext cx="3657600" cy="320040"/>
          </a:xfrm>
          <a:prstGeom prst="rect">
            <a:avLst/>
          </a:prstGeom>
          <a:noFill/>
          <a:ln/>
        </p:spPr>
        <p:txBody>
          <a:bodyPr wrap="square" rtlCol="0" anchor="ctr"/>
          <a:lstStyle/>
          <a:p>
            <a:pPr indent="0" marL="0">
              <a:buNone/>
            </a:pPr>
            <a:r>
              <a:rPr lang="en-US" sz="1100" b="1" spc="400" kern="0" dirty="0">
                <a:solidFill>
                  <a:srgbClr val="FFD3C2"/>
                </a:solidFill>
                <a:latin typeface="Helvetica" pitchFamily="34" charset="0"/>
                <a:ea typeface="Helvetica" pitchFamily="34" charset="-122"/>
                <a:cs typeface="Helvetica" pitchFamily="34" charset="-120"/>
              </a:rPr>
              <a:t>Waarom dit werkt</a:t>
            </a:r>
            <a:endParaRPr lang="en-US" sz="1100" dirty="0"/>
          </a:p>
        </p:txBody>
      </p:sp>
      <p:sp>
        <p:nvSpPr>
          <p:cNvPr id="29" name="Text 27"/>
          <p:cNvSpPr/>
          <p:nvPr/>
        </p:nvSpPr>
        <p:spPr>
          <a:xfrm>
            <a:off x="777240" y="5577840"/>
            <a:ext cx="10972800" cy="640080"/>
          </a:xfrm>
          <a:prstGeom prst="rect">
            <a:avLst/>
          </a:prstGeom>
          <a:noFill/>
          <a:ln/>
        </p:spPr>
        <p:txBody>
          <a:bodyPr wrap="square" rtlCol="0" anchor="t"/>
          <a:lstStyle/>
          <a:p>
            <a:pPr indent="0" marL="0">
              <a:buNone/>
            </a:pPr>
            <a:r>
              <a:rPr lang="en-US" sz="1200" dirty="0">
                <a:solidFill>
                  <a:srgbClr val="FFFFFF"/>
                </a:solidFill>
                <a:latin typeface="Helvetica" pitchFamily="34" charset="0"/>
                <a:ea typeface="Helvetica" pitchFamily="34" charset="-122"/>
                <a:cs typeface="Helvetica" pitchFamily="34" charset="-120"/>
              </a:rPr>
              <a:t>Onderzoek bij kinderen en jongeren met een verstandelijke beperking laat zien dat emotieregulatie pas werkt wanneer ze eerst leren herkennen wat ze voelen. Door een feedback-stap erbij leert de app per cliënt welke strategie helpt — over de tijd.</a:t>
            </a:r>
            <a:endParaRPr lang="en-US" sz="1200" dirty="0"/>
          </a:p>
        </p:txBody>
      </p:sp>
      <p:sp>
        <p:nvSpPr>
          <p:cNvPr id="30" name="Shape 28"/>
          <p:cNvSpPr/>
          <p:nvPr/>
        </p:nvSpPr>
        <p:spPr>
          <a:xfrm>
            <a:off x="411480" y="6446520"/>
            <a:ext cx="228600" cy="228600"/>
          </a:xfrm>
          <a:prstGeom prst="ellipse">
            <a:avLst/>
          </a:prstGeom>
          <a:solidFill>
            <a:srgbClr val="16645F"/>
          </a:solidFill>
          <a:ln w="12700">
            <a:solidFill>
              <a:srgbClr val="16645F"/>
            </a:solidFill>
            <a:prstDash val="solid"/>
          </a:ln>
        </p:spPr>
      </p:sp>
      <p:sp>
        <p:nvSpPr>
          <p:cNvPr id="31" name="Text 29"/>
          <p:cNvSpPr/>
          <p:nvPr/>
        </p:nvSpPr>
        <p:spPr>
          <a:xfrm>
            <a:off x="685800" y="6419088"/>
            <a:ext cx="1828800" cy="274320"/>
          </a:xfrm>
          <a:prstGeom prst="rect">
            <a:avLst/>
          </a:prstGeom>
          <a:noFill/>
          <a:ln/>
        </p:spPr>
        <p:txBody>
          <a:bodyPr wrap="square" rtlCol="0" anchor="ctr"/>
          <a:lstStyle/>
          <a:p>
            <a:pPr indent="0" marL="0">
              <a:buNone/>
            </a:pPr>
            <a:r>
              <a:rPr lang="en-US" sz="1000" b="1" dirty="0">
                <a:solidFill>
                  <a:srgbClr val="0E3F3C"/>
                </a:solidFill>
                <a:latin typeface="Helvetica Neue" pitchFamily="34" charset="0"/>
                <a:ea typeface="Helvetica Neue" pitchFamily="34" charset="-122"/>
                <a:cs typeface="Helvetica Neue" pitchFamily="34" charset="-120"/>
              </a:rPr>
              <a:t>TaskBuddy</a:t>
            </a:r>
            <a:endParaRPr lang="en-US" sz="1000" dirty="0"/>
          </a:p>
        </p:txBody>
      </p:sp>
      <p:sp>
        <p:nvSpPr>
          <p:cNvPr id="32" name="Text 30"/>
          <p:cNvSpPr/>
          <p:nvPr/>
        </p:nvSpPr>
        <p:spPr>
          <a:xfrm>
            <a:off x="11338560" y="6446520"/>
            <a:ext cx="640080" cy="320040"/>
          </a:xfrm>
          <a:prstGeom prst="rect">
            <a:avLst/>
          </a:prstGeom>
          <a:noFill/>
          <a:ln/>
        </p:spPr>
        <p:txBody>
          <a:bodyPr wrap="square" rtlCol="0" anchor="ctr"/>
          <a:lstStyle/>
          <a:p>
            <a:pPr algn="r" indent="0" marL="0">
              <a:buNone/>
            </a:pPr>
            <a:r>
              <a:rPr lang="en-US" sz="900" dirty="0">
                <a:solidFill>
                  <a:srgbClr val="94A29D"/>
                </a:solidFill>
                <a:latin typeface="Helvetica" pitchFamily="34" charset="0"/>
                <a:ea typeface="Helvetica" pitchFamily="34" charset="-122"/>
                <a:cs typeface="Helvetica"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365760"/>
          </a:xfrm>
          <a:prstGeom prst="rect">
            <a:avLst/>
          </a:prstGeom>
          <a:noFill/>
          <a:ln/>
        </p:spPr>
        <p:txBody>
          <a:bodyPr wrap="square" rtlCol="0" anchor="ctr"/>
          <a:lstStyle/>
          <a:p>
            <a:pPr indent="0" marL="0">
              <a:buNone/>
            </a:pPr>
            <a:r>
              <a:rPr lang="en-US" sz="1100" b="1" spc="600" kern="0" dirty="0">
                <a:solidFill>
                  <a:srgbClr val="E0805A"/>
                </a:solidFill>
                <a:latin typeface="Helvetica" pitchFamily="34" charset="0"/>
                <a:ea typeface="Helvetica" pitchFamily="34" charset="-122"/>
                <a:cs typeface="Helvetica" pitchFamily="34" charset="-120"/>
              </a:rPr>
              <a:t>06 · FEATURE SPOTLIGHT</a:t>
            </a:r>
            <a:endParaRPr lang="en-US" sz="1100" dirty="0"/>
          </a:p>
        </p:txBody>
      </p:sp>
      <p:sp>
        <p:nvSpPr>
          <p:cNvPr id="3" name="Text 1"/>
          <p:cNvSpPr/>
          <p:nvPr/>
        </p:nvSpPr>
        <p:spPr>
          <a:xfrm>
            <a:off x="548640" y="914400"/>
            <a:ext cx="8229600" cy="914400"/>
          </a:xfrm>
          <a:prstGeom prst="rect">
            <a:avLst/>
          </a:prstGeom>
          <a:noFill/>
          <a:ln/>
        </p:spPr>
        <p:txBody>
          <a:bodyPr wrap="square" rtlCol="0" anchor="ctr"/>
          <a:lstStyle/>
          <a:p>
            <a:pPr indent="0" marL="0">
              <a:buNone/>
            </a:pPr>
            <a:r>
              <a:rPr lang="en-US" sz="3400" b="1" dirty="0">
                <a:solidFill>
                  <a:srgbClr val="0E3F3C"/>
                </a:solidFill>
                <a:latin typeface="Helvetica Neue" pitchFamily="34" charset="0"/>
                <a:ea typeface="Helvetica Neue" pitchFamily="34" charset="-122"/>
                <a:cs typeface="Helvetica Neue" pitchFamily="34" charset="-120"/>
              </a:rPr>
              <a:t>Beloning op het moment zelf</a:t>
            </a:r>
            <a:endParaRPr lang="en-US" sz="3400" dirty="0"/>
          </a:p>
        </p:txBody>
      </p:sp>
      <p:sp>
        <p:nvSpPr>
          <p:cNvPr id="4" name="Text 2"/>
          <p:cNvSpPr/>
          <p:nvPr/>
        </p:nvSpPr>
        <p:spPr>
          <a:xfrm>
            <a:off x="548640" y="1783080"/>
            <a:ext cx="8229600" cy="457200"/>
          </a:xfrm>
          <a:prstGeom prst="rect">
            <a:avLst/>
          </a:prstGeom>
          <a:noFill/>
          <a:ln/>
        </p:spPr>
        <p:txBody>
          <a:bodyPr wrap="square" rtlCol="0" anchor="ctr"/>
          <a:lstStyle/>
          <a:p>
            <a:pPr indent="0" marL="0">
              <a:buNone/>
            </a:pPr>
            <a:r>
              <a:rPr lang="en-US" sz="1500" i="1" dirty="0">
                <a:solidFill>
                  <a:srgbClr val="5A6E69"/>
                </a:solidFill>
                <a:latin typeface="Helvetica" pitchFamily="34" charset="0"/>
                <a:ea typeface="Helvetica" pitchFamily="34" charset="-122"/>
                <a:cs typeface="Helvetica" pitchFamily="34" charset="-120"/>
              </a:rPr>
              <a:t>Micro-celebrations bij elke voltooide stap.</a:t>
            </a:r>
            <a:endParaRPr lang="en-US" sz="1500" dirty="0"/>
          </a:p>
        </p:txBody>
      </p:sp>
      <p:sp>
        <p:nvSpPr>
          <p:cNvPr id="5" name="Shape 3"/>
          <p:cNvSpPr/>
          <p:nvPr/>
        </p:nvSpPr>
        <p:spPr>
          <a:xfrm>
            <a:off x="8961120" y="502920"/>
            <a:ext cx="2743200" cy="868680"/>
          </a:xfrm>
          <a:prstGeom prst="roundRect">
            <a:avLst>
              <a:gd name="adj" fmla="val 10526"/>
            </a:avLst>
          </a:prstGeom>
          <a:solidFill>
            <a:srgbClr val="16645F"/>
          </a:solidFill>
          <a:ln w="12700">
            <a:solidFill>
              <a:srgbClr val="16645F"/>
            </a:solidFill>
            <a:prstDash val="solid"/>
          </a:ln>
        </p:spPr>
      </p:sp>
      <p:sp>
        <p:nvSpPr>
          <p:cNvPr id="6" name="Shape 4"/>
          <p:cNvSpPr/>
          <p:nvPr/>
        </p:nvSpPr>
        <p:spPr>
          <a:xfrm>
            <a:off x="8961120" y="502920"/>
            <a:ext cx="109728" cy="868680"/>
          </a:xfrm>
          <a:prstGeom prst="rect">
            <a:avLst/>
          </a:prstGeom>
          <a:solidFill>
            <a:srgbClr val="FFD3C2"/>
          </a:solidFill>
          <a:ln w="12700">
            <a:solidFill>
              <a:srgbClr val="FFD3C2"/>
            </a:solidFill>
            <a:prstDash val="solid"/>
          </a:ln>
        </p:spPr>
      </p:sp>
      <p:sp>
        <p:nvSpPr>
          <p:cNvPr id="7" name="Text 5"/>
          <p:cNvSpPr/>
          <p:nvPr/>
        </p:nvSpPr>
        <p:spPr>
          <a:xfrm>
            <a:off x="9189720" y="576072"/>
            <a:ext cx="2468880" cy="274320"/>
          </a:xfrm>
          <a:prstGeom prst="rect">
            <a:avLst/>
          </a:prstGeom>
          <a:noFill/>
          <a:ln/>
        </p:spPr>
        <p:txBody>
          <a:bodyPr wrap="square" rtlCol="0" anchor="ctr"/>
          <a:lstStyle/>
          <a:p>
            <a:pPr indent="0" marL="0">
              <a:buNone/>
            </a:pPr>
            <a:r>
              <a:rPr lang="en-US" sz="900" b="1" spc="400" kern="0" dirty="0">
                <a:solidFill>
                  <a:srgbClr val="FFD3C2"/>
                </a:solidFill>
                <a:latin typeface="Helvetica" pitchFamily="34" charset="0"/>
                <a:ea typeface="Helvetica" pitchFamily="34" charset="-122"/>
                <a:cs typeface="Helvetica" pitchFamily="34" charset="-120"/>
              </a:rPr>
              <a:t>EVIDENCE</a:t>
            </a:r>
            <a:endParaRPr lang="en-US" sz="900" dirty="0"/>
          </a:p>
        </p:txBody>
      </p:sp>
      <p:sp>
        <p:nvSpPr>
          <p:cNvPr id="8" name="Text 6"/>
          <p:cNvSpPr/>
          <p:nvPr/>
        </p:nvSpPr>
        <p:spPr>
          <a:xfrm>
            <a:off x="9189720" y="795528"/>
            <a:ext cx="2468880" cy="292608"/>
          </a:xfrm>
          <a:prstGeom prst="rect">
            <a:avLst/>
          </a:prstGeom>
          <a:noFill/>
          <a:ln/>
        </p:spPr>
        <p:txBody>
          <a:bodyPr wrap="square" rtlCol="0" anchor="ctr"/>
          <a:lstStyle/>
          <a:p>
            <a:pPr indent="0" marL="0">
              <a:buNone/>
            </a:pPr>
            <a:r>
              <a:rPr lang="en-US" sz="1200" b="1" dirty="0">
                <a:solidFill>
                  <a:srgbClr val="FFFFFF"/>
                </a:solidFill>
                <a:latin typeface="Helvetica Neue" pitchFamily="34" charset="0"/>
                <a:ea typeface="Helvetica Neue" pitchFamily="34" charset="-122"/>
                <a:cs typeface="Helvetica Neue" pitchFamily="34" charset="-120"/>
              </a:rPr>
              <a:t>Pijler 3</a:t>
            </a:r>
            <a:endParaRPr lang="en-US" sz="1200" dirty="0"/>
          </a:p>
        </p:txBody>
      </p:sp>
      <p:sp>
        <p:nvSpPr>
          <p:cNvPr id="9" name="Text 7"/>
          <p:cNvSpPr/>
          <p:nvPr/>
        </p:nvSpPr>
        <p:spPr>
          <a:xfrm>
            <a:off x="9189720" y="1051560"/>
            <a:ext cx="2468880" cy="274320"/>
          </a:xfrm>
          <a:prstGeom prst="rect">
            <a:avLst/>
          </a:prstGeom>
          <a:noFill/>
          <a:ln/>
        </p:spPr>
        <p:txBody>
          <a:bodyPr wrap="square" rtlCol="0" anchor="ctr"/>
          <a:lstStyle/>
          <a:p>
            <a:pPr indent="0" marL="0">
              <a:buNone/>
            </a:pPr>
            <a:r>
              <a:rPr lang="en-US" sz="950" i="1" dirty="0">
                <a:solidFill>
                  <a:srgbClr val="EEECDE"/>
                </a:solidFill>
                <a:latin typeface="Helvetica" pitchFamily="34" charset="0"/>
                <a:ea typeface="Helvetica" pitchFamily="34" charset="-122"/>
                <a:cs typeface="Helvetica" pitchFamily="34" charset="-120"/>
              </a:rPr>
              <a:t>App-based token economy — Saini et al., 2023</a:t>
            </a:r>
            <a:endParaRPr lang="en-US" sz="950" dirty="0"/>
          </a:p>
        </p:txBody>
      </p:sp>
      <p:sp>
        <p:nvSpPr>
          <p:cNvPr id="10" name="Shape 8"/>
          <p:cNvSpPr/>
          <p:nvPr/>
        </p:nvSpPr>
        <p:spPr>
          <a:xfrm>
            <a:off x="548640" y="2606040"/>
            <a:ext cx="5029200" cy="3749040"/>
          </a:xfrm>
          <a:prstGeom prst="roundRect">
            <a:avLst>
              <a:gd name="adj" fmla="val 4878"/>
            </a:avLst>
          </a:prstGeom>
          <a:solidFill>
            <a:srgbClr val="16645F"/>
          </a:solidFill>
          <a:ln w="12700">
            <a:solidFill>
              <a:srgbClr val="16645F"/>
            </a:solidFill>
            <a:prstDash val="solid"/>
          </a:ln>
        </p:spPr>
      </p:sp>
      <p:sp>
        <p:nvSpPr>
          <p:cNvPr id="11" name="Text 9"/>
          <p:cNvSpPr/>
          <p:nvPr/>
        </p:nvSpPr>
        <p:spPr>
          <a:xfrm>
            <a:off x="548640" y="3108960"/>
            <a:ext cx="5029200" cy="914400"/>
          </a:xfrm>
          <a:prstGeom prst="rect">
            <a:avLst/>
          </a:prstGeom>
          <a:noFill/>
          <a:ln/>
        </p:spPr>
        <p:txBody>
          <a:bodyPr wrap="square" rtlCol="0" anchor="ctr"/>
          <a:lstStyle/>
          <a:p>
            <a:pPr algn="ctr" indent="0" marL="0">
              <a:buNone/>
            </a:pPr>
            <a:r>
              <a:rPr lang="en-US" sz="5000" dirty="0">
                <a:solidFill>
                  <a:srgbClr val="000000"/>
                </a:solidFill>
              </a:rPr>
              <a:t>⭐ ✨ 🎉 ✨ ⭐</a:t>
            </a:r>
            <a:endParaRPr lang="en-US" sz="5000" dirty="0"/>
          </a:p>
        </p:txBody>
      </p:sp>
      <p:sp>
        <p:nvSpPr>
          <p:cNvPr id="12" name="Text 10"/>
          <p:cNvSpPr/>
          <p:nvPr/>
        </p:nvSpPr>
        <p:spPr>
          <a:xfrm>
            <a:off x="548640" y="4114800"/>
            <a:ext cx="5029200" cy="1097280"/>
          </a:xfrm>
          <a:prstGeom prst="rect">
            <a:avLst/>
          </a:prstGeom>
          <a:noFill/>
          <a:ln/>
        </p:spPr>
        <p:txBody>
          <a:bodyPr wrap="square" rtlCol="0" anchor="ctr"/>
          <a:lstStyle/>
          <a:p>
            <a:pPr algn="ctr" indent="0" marL="0">
              <a:buNone/>
            </a:pPr>
            <a:r>
              <a:rPr lang="en-US" sz="9000" b="1" dirty="0">
                <a:solidFill>
                  <a:srgbClr val="FFD3C2"/>
                </a:solidFill>
                <a:latin typeface="Helvetica Neue" pitchFamily="34" charset="0"/>
                <a:ea typeface="Helvetica Neue" pitchFamily="34" charset="-122"/>
                <a:cs typeface="Helvetica Neue" pitchFamily="34" charset="-120"/>
              </a:rPr>
              <a:t>+1</a:t>
            </a:r>
            <a:endParaRPr lang="en-US" sz="9000" dirty="0"/>
          </a:p>
        </p:txBody>
      </p:sp>
      <p:sp>
        <p:nvSpPr>
          <p:cNvPr id="13" name="Text 11"/>
          <p:cNvSpPr/>
          <p:nvPr/>
        </p:nvSpPr>
        <p:spPr>
          <a:xfrm>
            <a:off x="548640" y="5852160"/>
            <a:ext cx="5029200" cy="320040"/>
          </a:xfrm>
          <a:prstGeom prst="rect">
            <a:avLst/>
          </a:prstGeom>
          <a:noFill/>
          <a:ln/>
        </p:spPr>
        <p:txBody>
          <a:bodyPr wrap="square" rtlCol="0" anchor="ctr"/>
          <a:lstStyle/>
          <a:p>
            <a:pPr algn="ctr" indent="0" marL="0">
              <a:buNone/>
            </a:pPr>
            <a:r>
              <a:rPr lang="en-US" sz="1100" i="1" dirty="0">
                <a:solidFill>
                  <a:srgbClr val="EEECDE"/>
                </a:solidFill>
                <a:latin typeface="Helvetica" pitchFamily="34" charset="0"/>
                <a:ea typeface="Helvetica" pitchFamily="34" charset="-122"/>
                <a:cs typeface="Helvetica" pitchFamily="34" charset="-120"/>
              </a:rPr>
              <a:t>0,75 seconde · zacht "chime"-geluid</a:t>
            </a:r>
            <a:endParaRPr lang="en-US" sz="1100" dirty="0"/>
          </a:p>
        </p:txBody>
      </p:sp>
      <p:sp>
        <p:nvSpPr>
          <p:cNvPr id="14" name="Text 12"/>
          <p:cNvSpPr/>
          <p:nvPr/>
        </p:nvSpPr>
        <p:spPr>
          <a:xfrm>
            <a:off x="5852160" y="2606040"/>
            <a:ext cx="5943600" cy="457200"/>
          </a:xfrm>
          <a:prstGeom prst="rect">
            <a:avLst/>
          </a:prstGeom>
          <a:noFill/>
          <a:ln/>
        </p:spPr>
        <p:txBody>
          <a:bodyPr wrap="square" rtlCol="0" anchor="ctr"/>
          <a:lstStyle/>
          <a:p>
            <a:pPr indent="0" marL="0">
              <a:buNone/>
            </a:pPr>
            <a:r>
              <a:rPr lang="en-US" sz="1800" b="1" dirty="0">
                <a:solidFill>
                  <a:srgbClr val="0E3F3C"/>
                </a:solidFill>
                <a:latin typeface="Helvetica Neue" pitchFamily="34" charset="0"/>
                <a:ea typeface="Helvetica Neue" pitchFamily="34" charset="-122"/>
                <a:cs typeface="Helvetica Neue" pitchFamily="34" charset="-120"/>
              </a:rPr>
              <a:t>Wat verandert er?</a:t>
            </a:r>
            <a:endParaRPr lang="en-US" sz="1800" dirty="0"/>
          </a:p>
        </p:txBody>
      </p:sp>
      <p:sp>
        <p:nvSpPr>
          <p:cNvPr id="15" name="Shape 13"/>
          <p:cNvSpPr/>
          <p:nvPr/>
        </p:nvSpPr>
        <p:spPr>
          <a:xfrm>
            <a:off x="5852160" y="3200400"/>
            <a:ext cx="5943600" cy="841248"/>
          </a:xfrm>
          <a:prstGeom prst="roundRect">
            <a:avLst>
              <a:gd name="adj" fmla="val 10870"/>
            </a:avLst>
          </a:prstGeom>
          <a:solidFill>
            <a:srgbClr val="EEECDE"/>
          </a:solidFill>
          <a:ln w="12700">
            <a:solidFill>
              <a:srgbClr val="DCD8C8"/>
            </a:solidFill>
            <a:prstDash val="solid"/>
          </a:ln>
        </p:spPr>
      </p:sp>
      <p:sp>
        <p:nvSpPr>
          <p:cNvPr id="16" name="Text 14"/>
          <p:cNvSpPr/>
          <p:nvPr/>
        </p:nvSpPr>
        <p:spPr>
          <a:xfrm>
            <a:off x="6035040" y="3255264"/>
            <a:ext cx="1280160" cy="274320"/>
          </a:xfrm>
          <a:prstGeom prst="rect">
            <a:avLst/>
          </a:prstGeom>
          <a:noFill/>
          <a:ln/>
        </p:spPr>
        <p:txBody>
          <a:bodyPr wrap="square" rtlCol="0" anchor="ctr"/>
          <a:lstStyle/>
          <a:p>
            <a:pPr indent="0" marL="0">
              <a:buNone/>
            </a:pPr>
            <a:r>
              <a:rPr lang="en-US" sz="900" b="1" spc="400" kern="0" dirty="0">
                <a:solidFill>
                  <a:srgbClr val="94A29D"/>
                </a:solidFill>
                <a:latin typeface="Helvetica" pitchFamily="34" charset="0"/>
                <a:ea typeface="Helvetica" pitchFamily="34" charset="-122"/>
                <a:cs typeface="Helvetica" pitchFamily="34" charset="-120"/>
              </a:rPr>
              <a:t>Voorheen</a:t>
            </a:r>
            <a:endParaRPr lang="en-US" sz="900" dirty="0"/>
          </a:p>
        </p:txBody>
      </p:sp>
      <p:sp>
        <p:nvSpPr>
          <p:cNvPr id="17" name="Text 15"/>
          <p:cNvSpPr/>
          <p:nvPr/>
        </p:nvSpPr>
        <p:spPr>
          <a:xfrm>
            <a:off x="6035040" y="3493008"/>
            <a:ext cx="2834640" cy="548640"/>
          </a:xfrm>
          <a:prstGeom prst="rect">
            <a:avLst/>
          </a:prstGeom>
          <a:noFill/>
          <a:ln/>
        </p:spPr>
        <p:txBody>
          <a:bodyPr wrap="square" rtlCol="0" anchor="ctr"/>
          <a:lstStyle/>
          <a:p>
            <a:pPr indent="0" marL="0">
              <a:buNone/>
            </a:pPr>
            <a:r>
              <a:rPr lang="en-US" sz="1200" dirty="0">
                <a:solidFill>
                  <a:srgbClr val="5A6E69"/>
                </a:solidFill>
                <a:latin typeface="Helvetica" pitchFamily="34" charset="0"/>
                <a:ea typeface="Helvetica" pitchFamily="34" charset="-122"/>
                <a:cs typeface="Helvetica" pitchFamily="34" charset="-120"/>
              </a:rPr>
              <a:t>Beloning pas na hele taak</a:t>
            </a:r>
            <a:endParaRPr lang="en-US" sz="1200" dirty="0"/>
          </a:p>
        </p:txBody>
      </p:sp>
      <p:sp>
        <p:nvSpPr>
          <p:cNvPr id="18" name="Text 16"/>
          <p:cNvSpPr/>
          <p:nvPr/>
        </p:nvSpPr>
        <p:spPr>
          <a:xfrm>
            <a:off x="9052560" y="3255264"/>
            <a:ext cx="1280160" cy="274320"/>
          </a:xfrm>
          <a:prstGeom prst="rect">
            <a:avLst/>
          </a:prstGeom>
          <a:noFill/>
          <a:ln/>
        </p:spPr>
        <p:txBody>
          <a:bodyPr wrap="square" rtlCol="0" anchor="ctr"/>
          <a:lstStyle/>
          <a:p>
            <a:pPr indent="0" marL="0">
              <a:buNone/>
            </a:pPr>
            <a:r>
              <a:rPr lang="en-US" sz="900" b="1" spc="400" kern="0" dirty="0">
                <a:solidFill>
                  <a:srgbClr val="E0805A"/>
                </a:solidFill>
                <a:latin typeface="Helvetica" pitchFamily="34" charset="0"/>
                <a:ea typeface="Helvetica" pitchFamily="34" charset="-122"/>
                <a:cs typeface="Helvetica" pitchFamily="34" charset="-120"/>
              </a:rPr>
              <a:t>Nu</a:t>
            </a:r>
            <a:endParaRPr lang="en-US" sz="900" dirty="0"/>
          </a:p>
        </p:txBody>
      </p:sp>
      <p:sp>
        <p:nvSpPr>
          <p:cNvPr id="19" name="Text 17"/>
          <p:cNvSpPr/>
          <p:nvPr/>
        </p:nvSpPr>
        <p:spPr>
          <a:xfrm>
            <a:off x="9052560" y="3493008"/>
            <a:ext cx="2560320" cy="548640"/>
          </a:xfrm>
          <a:prstGeom prst="rect">
            <a:avLst/>
          </a:prstGeom>
          <a:noFill/>
          <a:ln/>
        </p:spPr>
        <p:txBody>
          <a:bodyPr wrap="square" rtlCol="0" anchor="ctr"/>
          <a:lstStyle/>
          <a:p>
            <a:pPr indent="0" marL="0">
              <a:buNone/>
            </a:pPr>
            <a:r>
              <a:rPr lang="en-US" sz="1200" b="1" dirty="0">
                <a:solidFill>
                  <a:srgbClr val="1F3531"/>
                </a:solidFill>
                <a:latin typeface="Helvetica" pitchFamily="34" charset="0"/>
                <a:ea typeface="Helvetica" pitchFamily="34" charset="-122"/>
                <a:cs typeface="Helvetica" pitchFamily="34" charset="-120"/>
              </a:rPr>
              <a:t>Beloning bij élke stap</a:t>
            </a:r>
            <a:endParaRPr lang="en-US" sz="1200" dirty="0"/>
          </a:p>
        </p:txBody>
      </p:sp>
      <p:sp>
        <p:nvSpPr>
          <p:cNvPr id="20" name="Shape 18"/>
          <p:cNvSpPr/>
          <p:nvPr/>
        </p:nvSpPr>
        <p:spPr>
          <a:xfrm>
            <a:off x="5852160" y="4160520"/>
            <a:ext cx="5943600" cy="841248"/>
          </a:xfrm>
          <a:prstGeom prst="roundRect">
            <a:avLst>
              <a:gd name="adj" fmla="val 10870"/>
            </a:avLst>
          </a:prstGeom>
          <a:solidFill>
            <a:srgbClr val="EEECDE"/>
          </a:solidFill>
          <a:ln w="12700">
            <a:solidFill>
              <a:srgbClr val="DCD8C8"/>
            </a:solidFill>
            <a:prstDash val="solid"/>
          </a:ln>
        </p:spPr>
      </p:sp>
      <p:sp>
        <p:nvSpPr>
          <p:cNvPr id="21" name="Text 19"/>
          <p:cNvSpPr/>
          <p:nvPr/>
        </p:nvSpPr>
        <p:spPr>
          <a:xfrm>
            <a:off x="6035040" y="4215384"/>
            <a:ext cx="1280160" cy="274320"/>
          </a:xfrm>
          <a:prstGeom prst="rect">
            <a:avLst/>
          </a:prstGeom>
          <a:noFill/>
          <a:ln/>
        </p:spPr>
        <p:txBody>
          <a:bodyPr wrap="square" rtlCol="0" anchor="ctr"/>
          <a:lstStyle/>
          <a:p>
            <a:pPr indent="0" marL="0">
              <a:buNone/>
            </a:pPr>
            <a:r>
              <a:rPr lang="en-US" sz="900" b="1" spc="400" kern="0" dirty="0">
                <a:solidFill>
                  <a:srgbClr val="94A29D"/>
                </a:solidFill>
                <a:latin typeface="Helvetica" pitchFamily="34" charset="0"/>
                <a:ea typeface="Helvetica" pitchFamily="34" charset="-122"/>
                <a:cs typeface="Helvetica" pitchFamily="34" charset="-120"/>
              </a:rPr>
              <a:t>Voorheen</a:t>
            </a:r>
            <a:endParaRPr lang="en-US" sz="900" dirty="0"/>
          </a:p>
        </p:txBody>
      </p:sp>
      <p:sp>
        <p:nvSpPr>
          <p:cNvPr id="22" name="Text 20"/>
          <p:cNvSpPr/>
          <p:nvPr/>
        </p:nvSpPr>
        <p:spPr>
          <a:xfrm>
            <a:off x="6035040" y="4453128"/>
            <a:ext cx="2834640" cy="548640"/>
          </a:xfrm>
          <a:prstGeom prst="rect">
            <a:avLst/>
          </a:prstGeom>
          <a:noFill/>
          <a:ln/>
        </p:spPr>
        <p:txBody>
          <a:bodyPr wrap="square" rtlCol="0" anchor="ctr"/>
          <a:lstStyle/>
          <a:p>
            <a:pPr indent="0" marL="0">
              <a:buNone/>
            </a:pPr>
            <a:r>
              <a:rPr lang="en-US" sz="1200" dirty="0">
                <a:solidFill>
                  <a:srgbClr val="5A6E69"/>
                </a:solidFill>
                <a:latin typeface="Helvetica" pitchFamily="34" charset="0"/>
                <a:ea typeface="Helvetica" pitchFamily="34" charset="-122"/>
                <a:cs typeface="Helvetica" pitchFamily="34" charset="-120"/>
              </a:rPr>
              <a:t>Eén punt aan het einde</a:t>
            </a:r>
            <a:endParaRPr lang="en-US" sz="1200" dirty="0"/>
          </a:p>
        </p:txBody>
      </p:sp>
      <p:sp>
        <p:nvSpPr>
          <p:cNvPr id="23" name="Text 21"/>
          <p:cNvSpPr/>
          <p:nvPr/>
        </p:nvSpPr>
        <p:spPr>
          <a:xfrm>
            <a:off x="9052560" y="4215384"/>
            <a:ext cx="1280160" cy="274320"/>
          </a:xfrm>
          <a:prstGeom prst="rect">
            <a:avLst/>
          </a:prstGeom>
          <a:noFill/>
          <a:ln/>
        </p:spPr>
        <p:txBody>
          <a:bodyPr wrap="square" rtlCol="0" anchor="ctr"/>
          <a:lstStyle/>
          <a:p>
            <a:pPr indent="0" marL="0">
              <a:buNone/>
            </a:pPr>
            <a:r>
              <a:rPr lang="en-US" sz="900" b="1" spc="400" kern="0" dirty="0">
                <a:solidFill>
                  <a:srgbClr val="E0805A"/>
                </a:solidFill>
                <a:latin typeface="Helvetica" pitchFamily="34" charset="0"/>
                <a:ea typeface="Helvetica" pitchFamily="34" charset="-122"/>
                <a:cs typeface="Helvetica" pitchFamily="34" charset="-120"/>
              </a:rPr>
              <a:t>Nu</a:t>
            </a:r>
            <a:endParaRPr lang="en-US" sz="900" dirty="0"/>
          </a:p>
        </p:txBody>
      </p:sp>
      <p:sp>
        <p:nvSpPr>
          <p:cNvPr id="24" name="Text 22"/>
          <p:cNvSpPr/>
          <p:nvPr/>
        </p:nvSpPr>
        <p:spPr>
          <a:xfrm>
            <a:off x="9052560" y="4453128"/>
            <a:ext cx="2560320" cy="548640"/>
          </a:xfrm>
          <a:prstGeom prst="rect">
            <a:avLst/>
          </a:prstGeom>
          <a:noFill/>
          <a:ln/>
        </p:spPr>
        <p:txBody>
          <a:bodyPr wrap="square" rtlCol="0" anchor="ctr"/>
          <a:lstStyle/>
          <a:p>
            <a:pPr indent="0" marL="0">
              <a:buNone/>
            </a:pPr>
            <a:r>
              <a:rPr lang="en-US" sz="1200" b="1" dirty="0">
                <a:solidFill>
                  <a:srgbClr val="1F3531"/>
                </a:solidFill>
                <a:latin typeface="Helvetica" pitchFamily="34" charset="0"/>
                <a:ea typeface="Helvetica" pitchFamily="34" charset="-122"/>
                <a:cs typeface="Helvetica" pitchFamily="34" charset="-120"/>
              </a:rPr>
              <a:t>Direct visueel + auditief signaal</a:t>
            </a:r>
            <a:endParaRPr lang="en-US" sz="1200" dirty="0"/>
          </a:p>
        </p:txBody>
      </p:sp>
      <p:sp>
        <p:nvSpPr>
          <p:cNvPr id="25" name="Shape 23"/>
          <p:cNvSpPr/>
          <p:nvPr/>
        </p:nvSpPr>
        <p:spPr>
          <a:xfrm>
            <a:off x="5852160" y="5120640"/>
            <a:ext cx="5943600" cy="841248"/>
          </a:xfrm>
          <a:prstGeom prst="roundRect">
            <a:avLst>
              <a:gd name="adj" fmla="val 10870"/>
            </a:avLst>
          </a:prstGeom>
          <a:solidFill>
            <a:srgbClr val="EEECDE"/>
          </a:solidFill>
          <a:ln w="12700">
            <a:solidFill>
              <a:srgbClr val="DCD8C8"/>
            </a:solidFill>
            <a:prstDash val="solid"/>
          </a:ln>
        </p:spPr>
      </p:sp>
      <p:sp>
        <p:nvSpPr>
          <p:cNvPr id="26" name="Text 24"/>
          <p:cNvSpPr/>
          <p:nvPr/>
        </p:nvSpPr>
        <p:spPr>
          <a:xfrm>
            <a:off x="6035040" y="5175504"/>
            <a:ext cx="1280160" cy="274320"/>
          </a:xfrm>
          <a:prstGeom prst="rect">
            <a:avLst/>
          </a:prstGeom>
          <a:noFill/>
          <a:ln/>
        </p:spPr>
        <p:txBody>
          <a:bodyPr wrap="square" rtlCol="0" anchor="ctr"/>
          <a:lstStyle/>
          <a:p>
            <a:pPr indent="0" marL="0">
              <a:buNone/>
            </a:pPr>
            <a:r>
              <a:rPr lang="en-US" sz="900" b="1" spc="400" kern="0" dirty="0">
                <a:solidFill>
                  <a:srgbClr val="94A29D"/>
                </a:solidFill>
                <a:latin typeface="Helvetica" pitchFamily="34" charset="0"/>
                <a:ea typeface="Helvetica" pitchFamily="34" charset="-122"/>
                <a:cs typeface="Helvetica" pitchFamily="34" charset="-120"/>
              </a:rPr>
              <a:t>Voorheen</a:t>
            </a:r>
            <a:endParaRPr lang="en-US" sz="900" dirty="0"/>
          </a:p>
        </p:txBody>
      </p:sp>
      <p:sp>
        <p:nvSpPr>
          <p:cNvPr id="27" name="Text 25"/>
          <p:cNvSpPr/>
          <p:nvPr/>
        </p:nvSpPr>
        <p:spPr>
          <a:xfrm>
            <a:off x="6035040" y="5413248"/>
            <a:ext cx="2834640" cy="548640"/>
          </a:xfrm>
          <a:prstGeom prst="rect">
            <a:avLst/>
          </a:prstGeom>
          <a:noFill/>
          <a:ln/>
        </p:spPr>
        <p:txBody>
          <a:bodyPr wrap="square" rtlCol="0" anchor="ctr"/>
          <a:lstStyle/>
          <a:p>
            <a:pPr indent="0" marL="0">
              <a:buNone/>
            </a:pPr>
            <a:r>
              <a:rPr lang="en-US" sz="1200" dirty="0">
                <a:solidFill>
                  <a:srgbClr val="5A6E69"/>
                </a:solidFill>
                <a:latin typeface="Helvetica" pitchFamily="34" charset="0"/>
                <a:ea typeface="Helvetica" pitchFamily="34" charset="-122"/>
                <a:cs typeface="Helvetica" pitchFamily="34" charset="-120"/>
              </a:rPr>
              <a:t>Voortgang abstract</a:t>
            </a:r>
            <a:endParaRPr lang="en-US" sz="1200" dirty="0"/>
          </a:p>
        </p:txBody>
      </p:sp>
      <p:sp>
        <p:nvSpPr>
          <p:cNvPr id="28" name="Text 26"/>
          <p:cNvSpPr/>
          <p:nvPr/>
        </p:nvSpPr>
        <p:spPr>
          <a:xfrm>
            <a:off x="9052560" y="5175504"/>
            <a:ext cx="1280160" cy="274320"/>
          </a:xfrm>
          <a:prstGeom prst="rect">
            <a:avLst/>
          </a:prstGeom>
          <a:noFill/>
          <a:ln/>
        </p:spPr>
        <p:txBody>
          <a:bodyPr wrap="square" rtlCol="0" anchor="ctr"/>
          <a:lstStyle/>
          <a:p>
            <a:pPr indent="0" marL="0">
              <a:buNone/>
            </a:pPr>
            <a:r>
              <a:rPr lang="en-US" sz="900" b="1" spc="400" kern="0" dirty="0">
                <a:solidFill>
                  <a:srgbClr val="E0805A"/>
                </a:solidFill>
                <a:latin typeface="Helvetica" pitchFamily="34" charset="0"/>
                <a:ea typeface="Helvetica" pitchFamily="34" charset="-122"/>
                <a:cs typeface="Helvetica" pitchFamily="34" charset="-120"/>
              </a:rPr>
              <a:t>Nu</a:t>
            </a:r>
            <a:endParaRPr lang="en-US" sz="900" dirty="0"/>
          </a:p>
        </p:txBody>
      </p:sp>
      <p:sp>
        <p:nvSpPr>
          <p:cNvPr id="29" name="Text 27"/>
          <p:cNvSpPr/>
          <p:nvPr/>
        </p:nvSpPr>
        <p:spPr>
          <a:xfrm>
            <a:off x="9052560" y="5413248"/>
            <a:ext cx="2560320" cy="548640"/>
          </a:xfrm>
          <a:prstGeom prst="rect">
            <a:avLst/>
          </a:prstGeom>
          <a:noFill/>
          <a:ln/>
        </p:spPr>
        <p:txBody>
          <a:bodyPr wrap="square" rtlCol="0" anchor="ctr"/>
          <a:lstStyle/>
          <a:p>
            <a:pPr indent="0" marL="0">
              <a:buNone/>
            </a:pPr>
            <a:r>
              <a:rPr lang="en-US" sz="1200" b="1" dirty="0">
                <a:solidFill>
                  <a:srgbClr val="1F3531"/>
                </a:solidFill>
                <a:latin typeface="Helvetica" pitchFamily="34" charset="0"/>
                <a:ea typeface="Helvetica" pitchFamily="34" charset="-122"/>
                <a:cs typeface="Helvetica" pitchFamily="34" charset="-120"/>
              </a:rPr>
              <a:t>Voortgang zichtbaar én voelbaar</a:t>
            </a:r>
            <a:endParaRPr lang="en-US" sz="1200" dirty="0"/>
          </a:p>
        </p:txBody>
      </p:sp>
      <p:sp>
        <p:nvSpPr>
          <p:cNvPr id="30" name="Text 28"/>
          <p:cNvSpPr/>
          <p:nvPr/>
        </p:nvSpPr>
        <p:spPr>
          <a:xfrm>
            <a:off x="5852160" y="6172200"/>
            <a:ext cx="1645920" cy="274320"/>
          </a:xfrm>
          <a:prstGeom prst="rect">
            <a:avLst/>
          </a:prstGeom>
          <a:noFill/>
          <a:ln/>
        </p:spPr>
        <p:txBody>
          <a:bodyPr wrap="square" rtlCol="0" anchor="ctr"/>
          <a:lstStyle/>
          <a:p>
            <a:pPr indent="0" marL="0">
              <a:buNone/>
            </a:pPr>
            <a:r>
              <a:rPr lang="en-US" sz="1000" b="1" dirty="0">
                <a:solidFill>
                  <a:srgbClr val="0E3F3C"/>
                </a:solidFill>
                <a:latin typeface="Helvetica" pitchFamily="34" charset="0"/>
                <a:ea typeface="Helvetica" pitchFamily="34" charset="-122"/>
                <a:cs typeface="Helvetica" pitchFamily="34" charset="-120"/>
              </a:rPr>
              <a:t>Waarom dit werkt: </a:t>
            </a:r>
            <a:endParaRPr lang="en-US" sz="1000" dirty="0"/>
          </a:p>
        </p:txBody>
      </p:sp>
      <p:sp>
        <p:nvSpPr>
          <p:cNvPr id="31" name="Text 29"/>
          <p:cNvSpPr/>
          <p:nvPr/>
        </p:nvSpPr>
        <p:spPr>
          <a:xfrm>
            <a:off x="7132320" y="6172200"/>
            <a:ext cx="5029200" cy="274320"/>
          </a:xfrm>
          <a:prstGeom prst="rect">
            <a:avLst/>
          </a:prstGeom>
          <a:noFill/>
          <a:ln/>
        </p:spPr>
        <p:txBody>
          <a:bodyPr wrap="square" rtlCol="0" anchor="ctr"/>
          <a:lstStyle/>
          <a:p>
            <a:pPr indent="0" marL="0">
              <a:buNone/>
            </a:pPr>
            <a:r>
              <a:rPr lang="en-US" sz="1000" i="1" dirty="0">
                <a:solidFill>
                  <a:srgbClr val="5A6E69"/>
                </a:solidFill>
                <a:latin typeface="Helvetica" pitchFamily="34" charset="0"/>
                <a:ea typeface="Helvetica" pitchFamily="34" charset="-122"/>
                <a:cs typeface="Helvetica" pitchFamily="34" charset="-120"/>
              </a:rPr>
              <a:t>Saini et al. (2023) — app-based token economy verhoogt taakbetrokkenheid, effect houdt 6+ weken aan.</a:t>
            </a:r>
            <a:endParaRPr lang="en-US" sz="1000" dirty="0"/>
          </a:p>
        </p:txBody>
      </p:sp>
      <p:sp>
        <p:nvSpPr>
          <p:cNvPr id="32" name="Shape 30"/>
          <p:cNvSpPr/>
          <p:nvPr/>
        </p:nvSpPr>
        <p:spPr>
          <a:xfrm>
            <a:off x="411480" y="6446520"/>
            <a:ext cx="228600" cy="228600"/>
          </a:xfrm>
          <a:prstGeom prst="ellipse">
            <a:avLst/>
          </a:prstGeom>
          <a:solidFill>
            <a:srgbClr val="16645F"/>
          </a:solidFill>
          <a:ln w="12700">
            <a:solidFill>
              <a:srgbClr val="16645F"/>
            </a:solidFill>
            <a:prstDash val="solid"/>
          </a:ln>
        </p:spPr>
      </p:sp>
      <p:sp>
        <p:nvSpPr>
          <p:cNvPr id="33" name="Text 31"/>
          <p:cNvSpPr/>
          <p:nvPr/>
        </p:nvSpPr>
        <p:spPr>
          <a:xfrm>
            <a:off x="685800" y="6419088"/>
            <a:ext cx="1828800" cy="274320"/>
          </a:xfrm>
          <a:prstGeom prst="rect">
            <a:avLst/>
          </a:prstGeom>
          <a:noFill/>
          <a:ln/>
        </p:spPr>
        <p:txBody>
          <a:bodyPr wrap="square" rtlCol="0" anchor="ctr"/>
          <a:lstStyle/>
          <a:p>
            <a:pPr indent="0" marL="0">
              <a:buNone/>
            </a:pPr>
            <a:r>
              <a:rPr lang="en-US" sz="1000" b="1" dirty="0">
                <a:solidFill>
                  <a:srgbClr val="0E3F3C"/>
                </a:solidFill>
                <a:latin typeface="Helvetica Neue" pitchFamily="34" charset="0"/>
                <a:ea typeface="Helvetica Neue" pitchFamily="34" charset="-122"/>
                <a:cs typeface="Helvetica Neue" pitchFamily="34" charset="-120"/>
              </a:rPr>
              <a:t>TaskBuddy</a:t>
            </a:r>
            <a:endParaRPr lang="en-US" sz="1000" dirty="0"/>
          </a:p>
        </p:txBody>
      </p:sp>
      <p:sp>
        <p:nvSpPr>
          <p:cNvPr id="34" name="Text 32"/>
          <p:cNvSpPr/>
          <p:nvPr/>
        </p:nvSpPr>
        <p:spPr>
          <a:xfrm>
            <a:off x="11338560" y="6446520"/>
            <a:ext cx="640080" cy="320040"/>
          </a:xfrm>
          <a:prstGeom prst="rect">
            <a:avLst/>
          </a:prstGeom>
          <a:noFill/>
          <a:ln/>
        </p:spPr>
        <p:txBody>
          <a:bodyPr wrap="square" rtlCol="0" anchor="ctr"/>
          <a:lstStyle/>
          <a:p>
            <a:pPr algn="r" indent="0" marL="0">
              <a:buNone/>
            </a:pPr>
            <a:r>
              <a:rPr lang="en-US" sz="900" dirty="0">
                <a:solidFill>
                  <a:srgbClr val="94A29D"/>
                </a:solidFill>
                <a:latin typeface="Helvetica" pitchFamily="34" charset="0"/>
                <a:ea typeface="Helvetica" pitchFamily="34" charset="-122"/>
                <a:cs typeface="Helvetica"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CDE"/>
        </a:solidFill>
      </p:bgPr>
    </p:bg>
    <p:spTree>
      <p:nvGrpSpPr>
        <p:cNvPr id="1" name=""/>
        <p:cNvGrpSpPr/>
        <p:nvPr/>
      </p:nvGrpSpPr>
      <p:grpSpPr>
        <a:xfrm>
          <a:off x="0" y="0"/>
          <a:ext cx="0" cy="0"/>
          <a:chOff x="0" y="0"/>
          <a:chExt cx="0" cy="0"/>
        </a:xfrm>
      </p:grpSpPr>
      <p:sp>
        <p:nvSpPr>
          <p:cNvPr id="2" name="Text 0"/>
          <p:cNvSpPr/>
          <p:nvPr/>
        </p:nvSpPr>
        <p:spPr>
          <a:xfrm>
            <a:off x="548640" y="457200"/>
            <a:ext cx="4572000" cy="365760"/>
          </a:xfrm>
          <a:prstGeom prst="rect">
            <a:avLst/>
          </a:prstGeom>
          <a:noFill/>
          <a:ln/>
        </p:spPr>
        <p:txBody>
          <a:bodyPr wrap="square" rtlCol="0" anchor="ctr"/>
          <a:lstStyle/>
          <a:p>
            <a:pPr indent="0" marL="0">
              <a:buNone/>
            </a:pPr>
            <a:r>
              <a:rPr lang="en-US" sz="1100" b="1" spc="600" kern="0" dirty="0">
                <a:solidFill>
                  <a:srgbClr val="E0805A"/>
                </a:solidFill>
                <a:latin typeface="Helvetica" pitchFamily="34" charset="0"/>
                <a:ea typeface="Helvetica" pitchFamily="34" charset="-122"/>
                <a:cs typeface="Helvetica" pitchFamily="34" charset="-120"/>
              </a:rPr>
              <a:t>07 · ONDERBOUWING IN ÉÉN OOGOPSLAG</a:t>
            </a:r>
            <a:endParaRPr lang="en-US" sz="1100" dirty="0"/>
          </a:p>
        </p:txBody>
      </p:sp>
      <p:sp>
        <p:nvSpPr>
          <p:cNvPr id="3" name="Text 1"/>
          <p:cNvSpPr/>
          <p:nvPr/>
        </p:nvSpPr>
        <p:spPr>
          <a:xfrm>
            <a:off x="548640" y="914400"/>
            <a:ext cx="10972800" cy="914400"/>
          </a:xfrm>
          <a:prstGeom prst="rect">
            <a:avLst/>
          </a:prstGeom>
          <a:noFill/>
          <a:ln/>
        </p:spPr>
        <p:txBody>
          <a:bodyPr wrap="square" rtlCol="0" anchor="ctr"/>
          <a:lstStyle/>
          <a:p>
            <a:pPr indent="0" marL="0">
              <a:buNone/>
            </a:pPr>
            <a:r>
              <a:rPr lang="en-US" sz="3400" b="1" dirty="0">
                <a:solidFill>
                  <a:srgbClr val="0E3F3C"/>
                </a:solidFill>
                <a:latin typeface="Helvetica Neue" pitchFamily="34" charset="0"/>
                <a:ea typeface="Helvetica Neue" pitchFamily="34" charset="-122"/>
                <a:cs typeface="Helvetica Neue" pitchFamily="34" charset="-120"/>
              </a:rPr>
              <a:t>Elke functie ↔ bron</a:t>
            </a:r>
            <a:endParaRPr lang="en-US" sz="3400" dirty="0"/>
          </a:p>
        </p:txBody>
      </p:sp>
      <p:sp>
        <p:nvSpPr>
          <p:cNvPr id="4" name="Shape 2"/>
          <p:cNvSpPr/>
          <p:nvPr/>
        </p:nvSpPr>
        <p:spPr>
          <a:xfrm>
            <a:off x="548640" y="2194560"/>
            <a:ext cx="10972800" cy="502920"/>
          </a:xfrm>
          <a:prstGeom prst="roundRect">
            <a:avLst>
              <a:gd name="adj" fmla="val 14545"/>
            </a:avLst>
          </a:prstGeom>
          <a:solidFill>
            <a:srgbClr val="16645F"/>
          </a:solidFill>
          <a:ln w="12700">
            <a:solidFill>
              <a:srgbClr val="16645F"/>
            </a:solidFill>
            <a:prstDash val="solid"/>
          </a:ln>
        </p:spPr>
      </p:sp>
      <p:sp>
        <p:nvSpPr>
          <p:cNvPr id="5" name="Text 3"/>
          <p:cNvSpPr/>
          <p:nvPr/>
        </p:nvSpPr>
        <p:spPr>
          <a:xfrm>
            <a:off x="731520" y="2267712"/>
            <a:ext cx="3657600" cy="365760"/>
          </a:xfrm>
          <a:prstGeom prst="rect">
            <a:avLst/>
          </a:prstGeom>
          <a:noFill/>
          <a:ln/>
        </p:spPr>
        <p:txBody>
          <a:bodyPr wrap="square" rtlCol="0" anchor="ctr"/>
          <a:lstStyle/>
          <a:p>
            <a:pPr indent="0" marL="0">
              <a:buNone/>
            </a:pPr>
            <a:r>
              <a:rPr lang="en-US" sz="1100" b="1" spc="400" kern="0" dirty="0">
                <a:solidFill>
                  <a:srgbClr val="FFD3C2"/>
                </a:solidFill>
                <a:latin typeface="Helvetica" pitchFamily="34" charset="0"/>
                <a:ea typeface="Helvetica" pitchFamily="34" charset="-122"/>
                <a:cs typeface="Helvetica" pitchFamily="34" charset="-120"/>
              </a:rPr>
              <a:t>TaskBuddy-functie</a:t>
            </a:r>
            <a:endParaRPr lang="en-US" sz="1100" dirty="0"/>
          </a:p>
        </p:txBody>
      </p:sp>
      <p:sp>
        <p:nvSpPr>
          <p:cNvPr id="6" name="Text 4"/>
          <p:cNvSpPr/>
          <p:nvPr/>
        </p:nvSpPr>
        <p:spPr>
          <a:xfrm>
            <a:off x="4572000" y="2267712"/>
            <a:ext cx="4389120" cy="365760"/>
          </a:xfrm>
          <a:prstGeom prst="rect">
            <a:avLst/>
          </a:prstGeom>
          <a:noFill/>
          <a:ln/>
        </p:spPr>
        <p:txBody>
          <a:bodyPr wrap="square" rtlCol="0" anchor="ctr"/>
          <a:lstStyle/>
          <a:p>
            <a:pPr indent="0" marL="0">
              <a:buNone/>
            </a:pPr>
            <a:r>
              <a:rPr lang="en-US" sz="1100" b="1" spc="400" kern="0" dirty="0">
                <a:solidFill>
                  <a:srgbClr val="FFD3C2"/>
                </a:solidFill>
                <a:latin typeface="Helvetica" pitchFamily="34" charset="0"/>
                <a:ea typeface="Helvetica" pitchFamily="34" charset="-122"/>
                <a:cs typeface="Helvetica" pitchFamily="34" charset="-120"/>
              </a:rPr>
              <a:t>Onderbouwd door</a:t>
            </a:r>
            <a:endParaRPr lang="en-US" sz="1100" dirty="0"/>
          </a:p>
        </p:txBody>
      </p:sp>
      <p:sp>
        <p:nvSpPr>
          <p:cNvPr id="7" name="Text 5"/>
          <p:cNvSpPr/>
          <p:nvPr/>
        </p:nvSpPr>
        <p:spPr>
          <a:xfrm>
            <a:off x="9144000" y="2267712"/>
            <a:ext cx="2377440" cy="365760"/>
          </a:xfrm>
          <a:prstGeom prst="rect">
            <a:avLst/>
          </a:prstGeom>
          <a:noFill/>
          <a:ln/>
        </p:spPr>
        <p:txBody>
          <a:bodyPr wrap="square" rtlCol="0" anchor="ctr"/>
          <a:lstStyle/>
          <a:p>
            <a:pPr indent="0" marL="0">
              <a:buNone/>
            </a:pPr>
            <a:r>
              <a:rPr lang="en-US" sz="1100" b="1" spc="400" kern="0" dirty="0">
                <a:solidFill>
                  <a:srgbClr val="FFD3C2"/>
                </a:solidFill>
                <a:latin typeface="Helvetica" pitchFamily="34" charset="0"/>
                <a:ea typeface="Helvetica" pitchFamily="34" charset="-122"/>
                <a:cs typeface="Helvetica" pitchFamily="34" charset="-120"/>
              </a:rPr>
              <a:t>Bron</a:t>
            </a:r>
            <a:endParaRPr lang="en-US" sz="1100" dirty="0"/>
          </a:p>
        </p:txBody>
      </p:sp>
      <p:sp>
        <p:nvSpPr>
          <p:cNvPr id="8" name="Text 6"/>
          <p:cNvSpPr/>
          <p:nvPr/>
        </p:nvSpPr>
        <p:spPr>
          <a:xfrm>
            <a:off x="731520" y="2743200"/>
            <a:ext cx="3657600" cy="365760"/>
          </a:xfrm>
          <a:prstGeom prst="rect">
            <a:avLst/>
          </a:prstGeom>
          <a:noFill/>
          <a:ln/>
        </p:spPr>
        <p:txBody>
          <a:bodyPr wrap="square" rtlCol="0" anchor="ctr"/>
          <a:lstStyle/>
          <a:p>
            <a:pPr indent="0" marL="0">
              <a:buNone/>
            </a:pPr>
            <a:r>
              <a:rPr lang="en-US" sz="1100" b="1" dirty="0">
                <a:solidFill>
                  <a:srgbClr val="0E3F3C"/>
                </a:solidFill>
                <a:latin typeface="Helvetica Neue" pitchFamily="34" charset="0"/>
                <a:ea typeface="Helvetica Neue" pitchFamily="34" charset="-122"/>
                <a:cs typeface="Helvetica Neue" pitchFamily="34" charset="-120"/>
              </a:rPr>
              <a:t>Taken met visuele stappen</a:t>
            </a:r>
            <a:endParaRPr lang="en-US" sz="1100" dirty="0"/>
          </a:p>
        </p:txBody>
      </p:sp>
      <p:sp>
        <p:nvSpPr>
          <p:cNvPr id="9" name="Text 7"/>
          <p:cNvSpPr/>
          <p:nvPr/>
        </p:nvSpPr>
        <p:spPr>
          <a:xfrm>
            <a:off x="4572000" y="2743200"/>
            <a:ext cx="4389120" cy="365760"/>
          </a:xfrm>
          <a:prstGeom prst="rect">
            <a:avLst/>
          </a:prstGeom>
          <a:noFill/>
          <a:ln/>
        </p:spPr>
        <p:txBody>
          <a:bodyPr wrap="square" rtlCol="0" anchor="ctr"/>
          <a:lstStyle/>
          <a:p>
            <a:pPr indent="0" marL="0">
              <a:buNone/>
            </a:pPr>
            <a:r>
              <a:rPr lang="en-US" sz="1050" dirty="0">
                <a:solidFill>
                  <a:srgbClr val="5A6E69"/>
                </a:solidFill>
                <a:latin typeface="Helvetica" pitchFamily="34" charset="0"/>
                <a:ea typeface="Helvetica" pitchFamily="34" charset="-122"/>
                <a:cs typeface="Helvetica" pitchFamily="34" charset="-120"/>
              </a:rPr>
              <a:t>Visual Activity Schedules — evidence-based practice</a:t>
            </a:r>
            <a:endParaRPr lang="en-US" sz="1050" dirty="0"/>
          </a:p>
        </p:txBody>
      </p:sp>
      <p:sp>
        <p:nvSpPr>
          <p:cNvPr id="10" name="Text 8"/>
          <p:cNvSpPr/>
          <p:nvPr/>
        </p:nvSpPr>
        <p:spPr>
          <a:xfrm>
            <a:off x="9144000" y="2743200"/>
            <a:ext cx="2377440" cy="365760"/>
          </a:xfrm>
          <a:prstGeom prst="rect">
            <a:avLst/>
          </a:prstGeom>
          <a:noFill/>
          <a:ln/>
        </p:spPr>
        <p:txBody>
          <a:bodyPr wrap="square" rtlCol="0" anchor="ctr"/>
          <a:lstStyle/>
          <a:p>
            <a:pPr indent="0" marL="0">
              <a:buNone/>
            </a:pPr>
            <a:r>
              <a:rPr lang="en-US" sz="1000" b="1" i="1" dirty="0">
                <a:solidFill>
                  <a:srgbClr val="E0805A"/>
                </a:solidFill>
                <a:latin typeface="Helvetica" pitchFamily="34" charset="0"/>
                <a:ea typeface="Helvetica" pitchFamily="34" charset="-122"/>
                <a:cs typeface="Helvetica" pitchFamily="34" charset="-120"/>
              </a:rPr>
              <a:t>Knight et al., 2017</a:t>
            </a:r>
            <a:endParaRPr lang="en-US" sz="1000" dirty="0"/>
          </a:p>
        </p:txBody>
      </p:sp>
      <p:sp>
        <p:nvSpPr>
          <p:cNvPr id="11" name="Shape 9"/>
          <p:cNvSpPr/>
          <p:nvPr/>
        </p:nvSpPr>
        <p:spPr>
          <a:xfrm>
            <a:off x="548640" y="3108960"/>
            <a:ext cx="10972800" cy="411480"/>
          </a:xfrm>
          <a:prstGeom prst="rect">
            <a:avLst/>
          </a:prstGeom>
          <a:solidFill>
            <a:srgbClr val="FFFFFF"/>
          </a:solidFill>
          <a:ln w="12700">
            <a:solidFill>
              <a:srgbClr val="FFFFFF"/>
            </a:solidFill>
            <a:prstDash val="solid"/>
          </a:ln>
        </p:spPr>
      </p:sp>
      <p:sp>
        <p:nvSpPr>
          <p:cNvPr id="12" name="Text 10"/>
          <p:cNvSpPr/>
          <p:nvPr/>
        </p:nvSpPr>
        <p:spPr>
          <a:xfrm>
            <a:off x="731520" y="3154680"/>
            <a:ext cx="3657600" cy="365760"/>
          </a:xfrm>
          <a:prstGeom prst="rect">
            <a:avLst/>
          </a:prstGeom>
          <a:noFill/>
          <a:ln/>
        </p:spPr>
        <p:txBody>
          <a:bodyPr wrap="square" rtlCol="0" anchor="ctr"/>
          <a:lstStyle/>
          <a:p>
            <a:pPr indent="0" marL="0">
              <a:buNone/>
            </a:pPr>
            <a:r>
              <a:rPr lang="en-US" sz="1100" b="1" dirty="0">
                <a:solidFill>
                  <a:srgbClr val="0E3F3C"/>
                </a:solidFill>
                <a:latin typeface="Helvetica Neue" pitchFamily="34" charset="0"/>
                <a:ea typeface="Helvetica Neue" pitchFamily="34" charset="-122"/>
                <a:cs typeface="Helvetica Neue" pitchFamily="34" charset="-120"/>
              </a:rPr>
              <a:t>B1-taalcheck door AI</a:t>
            </a:r>
            <a:endParaRPr lang="en-US" sz="1100" dirty="0"/>
          </a:p>
        </p:txBody>
      </p:sp>
      <p:sp>
        <p:nvSpPr>
          <p:cNvPr id="13" name="Text 11"/>
          <p:cNvSpPr/>
          <p:nvPr/>
        </p:nvSpPr>
        <p:spPr>
          <a:xfrm>
            <a:off x="4572000" y="3154680"/>
            <a:ext cx="4389120" cy="365760"/>
          </a:xfrm>
          <a:prstGeom prst="rect">
            <a:avLst/>
          </a:prstGeom>
          <a:noFill/>
          <a:ln/>
        </p:spPr>
        <p:txBody>
          <a:bodyPr wrap="square" rtlCol="0" anchor="ctr"/>
          <a:lstStyle/>
          <a:p>
            <a:pPr indent="0" marL="0">
              <a:buNone/>
            </a:pPr>
            <a:r>
              <a:rPr lang="en-US" sz="1050" dirty="0">
                <a:solidFill>
                  <a:srgbClr val="5A6E69"/>
                </a:solidFill>
                <a:latin typeface="Helvetica" pitchFamily="34" charset="0"/>
                <a:ea typeface="Helvetica" pitchFamily="34" charset="-122"/>
                <a:cs typeface="Helvetica" pitchFamily="34" charset="-120"/>
              </a:rPr>
              <a:t>WCAG 3.1.5: lower secondary reading level</a:t>
            </a:r>
            <a:endParaRPr lang="en-US" sz="1050" dirty="0"/>
          </a:p>
        </p:txBody>
      </p:sp>
      <p:sp>
        <p:nvSpPr>
          <p:cNvPr id="14" name="Text 12"/>
          <p:cNvSpPr/>
          <p:nvPr/>
        </p:nvSpPr>
        <p:spPr>
          <a:xfrm>
            <a:off x="9144000" y="3154680"/>
            <a:ext cx="2377440" cy="365760"/>
          </a:xfrm>
          <a:prstGeom prst="rect">
            <a:avLst/>
          </a:prstGeom>
          <a:noFill/>
          <a:ln/>
        </p:spPr>
        <p:txBody>
          <a:bodyPr wrap="square" rtlCol="0" anchor="ctr"/>
          <a:lstStyle/>
          <a:p>
            <a:pPr indent="0" marL="0">
              <a:buNone/>
            </a:pPr>
            <a:r>
              <a:rPr lang="en-US" sz="1000" b="1" i="1" dirty="0">
                <a:solidFill>
                  <a:srgbClr val="E0805A"/>
                </a:solidFill>
                <a:latin typeface="Helvetica" pitchFamily="34" charset="0"/>
                <a:ea typeface="Helvetica" pitchFamily="34" charset="-122"/>
                <a:cs typeface="Helvetica" pitchFamily="34" charset="-120"/>
              </a:rPr>
              <a:t>W3C COGA, 2024</a:t>
            </a:r>
            <a:endParaRPr lang="en-US" sz="1000" dirty="0"/>
          </a:p>
        </p:txBody>
      </p:sp>
      <p:sp>
        <p:nvSpPr>
          <p:cNvPr id="15" name="Text 13"/>
          <p:cNvSpPr/>
          <p:nvPr/>
        </p:nvSpPr>
        <p:spPr>
          <a:xfrm>
            <a:off x="731520" y="3566160"/>
            <a:ext cx="3657600" cy="365760"/>
          </a:xfrm>
          <a:prstGeom prst="rect">
            <a:avLst/>
          </a:prstGeom>
          <a:noFill/>
          <a:ln/>
        </p:spPr>
        <p:txBody>
          <a:bodyPr wrap="square" rtlCol="0" anchor="ctr"/>
          <a:lstStyle/>
          <a:p>
            <a:pPr indent="0" marL="0">
              <a:buNone/>
            </a:pPr>
            <a:r>
              <a:rPr lang="en-US" sz="1100" b="1" dirty="0">
                <a:solidFill>
                  <a:srgbClr val="0E3F3C"/>
                </a:solidFill>
                <a:latin typeface="Helvetica Neue" pitchFamily="34" charset="0"/>
                <a:ea typeface="Helvetica Neue" pitchFamily="34" charset="-122"/>
                <a:cs typeface="Helvetica Neue" pitchFamily="34" charset="-120"/>
              </a:rPr>
              <a:t>Beloningenboom + micro-celebr.</a:t>
            </a:r>
            <a:endParaRPr lang="en-US" sz="1100" dirty="0"/>
          </a:p>
        </p:txBody>
      </p:sp>
      <p:sp>
        <p:nvSpPr>
          <p:cNvPr id="16" name="Text 14"/>
          <p:cNvSpPr/>
          <p:nvPr/>
        </p:nvSpPr>
        <p:spPr>
          <a:xfrm>
            <a:off x="4572000" y="3566160"/>
            <a:ext cx="4389120" cy="365760"/>
          </a:xfrm>
          <a:prstGeom prst="rect">
            <a:avLst/>
          </a:prstGeom>
          <a:noFill/>
          <a:ln/>
        </p:spPr>
        <p:txBody>
          <a:bodyPr wrap="square" rtlCol="0" anchor="ctr"/>
          <a:lstStyle/>
          <a:p>
            <a:pPr indent="0" marL="0">
              <a:buNone/>
            </a:pPr>
            <a:r>
              <a:rPr lang="en-US" sz="1050" dirty="0">
                <a:solidFill>
                  <a:srgbClr val="5A6E69"/>
                </a:solidFill>
                <a:latin typeface="Helvetica" pitchFamily="34" charset="0"/>
                <a:ea typeface="Helvetica" pitchFamily="34" charset="-122"/>
                <a:cs typeface="Helvetica" pitchFamily="34" charset="-120"/>
              </a:rPr>
              <a:t>App-based token economy → 6 wk effect</a:t>
            </a:r>
            <a:endParaRPr lang="en-US" sz="1050" dirty="0"/>
          </a:p>
        </p:txBody>
      </p:sp>
      <p:sp>
        <p:nvSpPr>
          <p:cNvPr id="17" name="Text 15"/>
          <p:cNvSpPr/>
          <p:nvPr/>
        </p:nvSpPr>
        <p:spPr>
          <a:xfrm>
            <a:off x="9144000" y="3566160"/>
            <a:ext cx="2377440" cy="365760"/>
          </a:xfrm>
          <a:prstGeom prst="rect">
            <a:avLst/>
          </a:prstGeom>
          <a:noFill/>
          <a:ln/>
        </p:spPr>
        <p:txBody>
          <a:bodyPr wrap="square" rtlCol="0" anchor="ctr"/>
          <a:lstStyle/>
          <a:p>
            <a:pPr indent="0" marL="0">
              <a:buNone/>
            </a:pPr>
            <a:r>
              <a:rPr lang="en-US" sz="1000" b="1" i="1" dirty="0">
                <a:solidFill>
                  <a:srgbClr val="E0805A"/>
                </a:solidFill>
                <a:latin typeface="Helvetica" pitchFamily="34" charset="0"/>
                <a:ea typeface="Helvetica" pitchFamily="34" charset="-122"/>
                <a:cs typeface="Helvetica" pitchFamily="34" charset="-120"/>
              </a:rPr>
              <a:t>Saini et al., 2023</a:t>
            </a:r>
            <a:endParaRPr lang="en-US" sz="1000" dirty="0"/>
          </a:p>
        </p:txBody>
      </p:sp>
      <p:sp>
        <p:nvSpPr>
          <p:cNvPr id="18" name="Shape 16"/>
          <p:cNvSpPr/>
          <p:nvPr/>
        </p:nvSpPr>
        <p:spPr>
          <a:xfrm>
            <a:off x="548640" y="3931920"/>
            <a:ext cx="10972800" cy="411480"/>
          </a:xfrm>
          <a:prstGeom prst="rect">
            <a:avLst/>
          </a:prstGeom>
          <a:solidFill>
            <a:srgbClr val="FFFFFF"/>
          </a:solidFill>
          <a:ln w="12700">
            <a:solidFill>
              <a:srgbClr val="FFFFFF"/>
            </a:solidFill>
            <a:prstDash val="solid"/>
          </a:ln>
        </p:spPr>
      </p:sp>
      <p:sp>
        <p:nvSpPr>
          <p:cNvPr id="19" name="Text 17"/>
          <p:cNvSpPr/>
          <p:nvPr/>
        </p:nvSpPr>
        <p:spPr>
          <a:xfrm>
            <a:off x="731520" y="3977640"/>
            <a:ext cx="3657600" cy="365760"/>
          </a:xfrm>
          <a:prstGeom prst="rect">
            <a:avLst/>
          </a:prstGeom>
          <a:noFill/>
          <a:ln/>
        </p:spPr>
        <p:txBody>
          <a:bodyPr wrap="square" rtlCol="0" anchor="ctr"/>
          <a:lstStyle/>
          <a:p>
            <a:pPr indent="0" marL="0">
              <a:buNone/>
            </a:pPr>
            <a:r>
              <a:rPr lang="en-US" sz="1100" b="1" dirty="0">
                <a:solidFill>
                  <a:srgbClr val="0E3F3C"/>
                </a:solidFill>
                <a:latin typeface="Helvetica Neue" pitchFamily="34" charset="0"/>
                <a:ea typeface="Helvetica Neue" pitchFamily="34" charset="-122"/>
                <a:cs typeface="Helvetica Neue" pitchFamily="34" charset="-120"/>
              </a:rPr>
              <a:t>Vol hoofd: emotie vóór actie</a:t>
            </a:r>
            <a:endParaRPr lang="en-US" sz="1100" dirty="0"/>
          </a:p>
        </p:txBody>
      </p:sp>
      <p:sp>
        <p:nvSpPr>
          <p:cNvPr id="20" name="Text 18"/>
          <p:cNvSpPr/>
          <p:nvPr/>
        </p:nvSpPr>
        <p:spPr>
          <a:xfrm>
            <a:off x="4572000" y="3977640"/>
            <a:ext cx="4389120" cy="365760"/>
          </a:xfrm>
          <a:prstGeom prst="rect">
            <a:avLst/>
          </a:prstGeom>
          <a:noFill/>
          <a:ln/>
        </p:spPr>
        <p:txBody>
          <a:bodyPr wrap="square" rtlCol="0" anchor="ctr"/>
          <a:lstStyle/>
          <a:p>
            <a:pPr indent="0" marL="0">
              <a:buNone/>
            </a:pPr>
            <a:r>
              <a:rPr lang="en-US" sz="1050" dirty="0">
                <a:solidFill>
                  <a:srgbClr val="5A6E69"/>
                </a:solidFill>
                <a:latin typeface="Helvetica" pitchFamily="34" charset="0"/>
                <a:ea typeface="Helvetica" pitchFamily="34" charset="-122"/>
                <a:cs typeface="Helvetica" pitchFamily="34" charset="-120"/>
              </a:rPr>
              <a:t>Herkennen vóór reguleren bij LVB</a:t>
            </a:r>
            <a:endParaRPr lang="en-US" sz="1050" dirty="0"/>
          </a:p>
        </p:txBody>
      </p:sp>
      <p:sp>
        <p:nvSpPr>
          <p:cNvPr id="21" name="Text 19"/>
          <p:cNvSpPr/>
          <p:nvPr/>
        </p:nvSpPr>
        <p:spPr>
          <a:xfrm>
            <a:off x="9144000" y="3977640"/>
            <a:ext cx="2377440" cy="365760"/>
          </a:xfrm>
          <a:prstGeom prst="rect">
            <a:avLst/>
          </a:prstGeom>
          <a:noFill/>
          <a:ln/>
        </p:spPr>
        <p:txBody>
          <a:bodyPr wrap="square" rtlCol="0" anchor="ctr"/>
          <a:lstStyle/>
          <a:p>
            <a:pPr indent="0" marL="0">
              <a:buNone/>
            </a:pPr>
            <a:r>
              <a:rPr lang="en-US" sz="1000" b="1" i="1" dirty="0">
                <a:solidFill>
                  <a:srgbClr val="E0805A"/>
                </a:solidFill>
                <a:latin typeface="Helvetica" pitchFamily="34" charset="0"/>
                <a:ea typeface="Helvetica" pitchFamily="34" charset="-122"/>
                <a:cs typeface="Helvetica" pitchFamily="34" charset="-120"/>
              </a:rPr>
              <a:t>Tandfonline, 2024-25</a:t>
            </a:r>
            <a:endParaRPr lang="en-US" sz="1000" dirty="0"/>
          </a:p>
        </p:txBody>
      </p:sp>
      <p:sp>
        <p:nvSpPr>
          <p:cNvPr id="22" name="Text 20"/>
          <p:cNvSpPr/>
          <p:nvPr/>
        </p:nvSpPr>
        <p:spPr>
          <a:xfrm>
            <a:off x="731520" y="4389120"/>
            <a:ext cx="3657600" cy="365760"/>
          </a:xfrm>
          <a:prstGeom prst="rect">
            <a:avLst/>
          </a:prstGeom>
          <a:noFill/>
          <a:ln/>
        </p:spPr>
        <p:txBody>
          <a:bodyPr wrap="square" rtlCol="0" anchor="ctr"/>
          <a:lstStyle/>
          <a:p>
            <a:pPr indent="0" marL="0">
              <a:buNone/>
            </a:pPr>
            <a:r>
              <a:rPr lang="en-US" sz="1100" b="1" dirty="0">
                <a:solidFill>
                  <a:srgbClr val="0E3F3C"/>
                </a:solidFill>
                <a:latin typeface="Helvetica Neue" pitchFamily="34" charset="0"/>
                <a:ea typeface="Helvetica Neue" pitchFamily="34" charset="-122"/>
                <a:cs typeface="Helvetica Neue" pitchFamily="34" charset="-120"/>
              </a:rPr>
              <a:t>Spraakinvoer (chat, taken)</a:t>
            </a:r>
            <a:endParaRPr lang="en-US" sz="1100" dirty="0"/>
          </a:p>
        </p:txBody>
      </p:sp>
      <p:sp>
        <p:nvSpPr>
          <p:cNvPr id="23" name="Text 21"/>
          <p:cNvSpPr/>
          <p:nvPr/>
        </p:nvSpPr>
        <p:spPr>
          <a:xfrm>
            <a:off x="4572000" y="4389120"/>
            <a:ext cx="4389120" cy="365760"/>
          </a:xfrm>
          <a:prstGeom prst="rect">
            <a:avLst/>
          </a:prstGeom>
          <a:noFill/>
          <a:ln/>
        </p:spPr>
        <p:txBody>
          <a:bodyPr wrap="square" rtlCol="0" anchor="ctr"/>
          <a:lstStyle/>
          <a:p>
            <a:pPr indent="0" marL="0">
              <a:buNone/>
            </a:pPr>
            <a:r>
              <a:rPr lang="en-US" sz="1050" dirty="0">
                <a:solidFill>
                  <a:srgbClr val="5A6E69"/>
                </a:solidFill>
                <a:latin typeface="Helvetica" pitchFamily="34" charset="0"/>
                <a:ea typeface="Helvetica" pitchFamily="34" charset="-122"/>
                <a:cs typeface="Helvetica" pitchFamily="34" charset="-120"/>
              </a:rPr>
              <a:t>Cognitieve toegankelijkheid — verlaagt drempel</a:t>
            </a:r>
            <a:endParaRPr lang="en-US" sz="1050" dirty="0"/>
          </a:p>
        </p:txBody>
      </p:sp>
      <p:sp>
        <p:nvSpPr>
          <p:cNvPr id="24" name="Text 22"/>
          <p:cNvSpPr/>
          <p:nvPr/>
        </p:nvSpPr>
        <p:spPr>
          <a:xfrm>
            <a:off x="9144000" y="4389120"/>
            <a:ext cx="2377440" cy="365760"/>
          </a:xfrm>
          <a:prstGeom prst="rect">
            <a:avLst/>
          </a:prstGeom>
          <a:noFill/>
          <a:ln/>
        </p:spPr>
        <p:txBody>
          <a:bodyPr wrap="square" rtlCol="0" anchor="ctr"/>
          <a:lstStyle/>
          <a:p>
            <a:pPr indent="0" marL="0">
              <a:buNone/>
            </a:pPr>
            <a:r>
              <a:rPr lang="en-US" sz="1000" b="1" i="1" dirty="0">
                <a:solidFill>
                  <a:srgbClr val="E0805A"/>
                </a:solidFill>
                <a:latin typeface="Helvetica" pitchFamily="34" charset="0"/>
                <a:ea typeface="Helvetica" pitchFamily="34" charset="-122"/>
                <a:cs typeface="Helvetica" pitchFamily="34" charset="-120"/>
              </a:rPr>
              <a:t>W3C COGA, 2024</a:t>
            </a:r>
            <a:endParaRPr lang="en-US" sz="1000" dirty="0"/>
          </a:p>
        </p:txBody>
      </p:sp>
      <p:sp>
        <p:nvSpPr>
          <p:cNvPr id="25" name="Shape 23"/>
          <p:cNvSpPr/>
          <p:nvPr/>
        </p:nvSpPr>
        <p:spPr>
          <a:xfrm>
            <a:off x="548640" y="4754880"/>
            <a:ext cx="10972800" cy="411480"/>
          </a:xfrm>
          <a:prstGeom prst="rect">
            <a:avLst/>
          </a:prstGeom>
          <a:solidFill>
            <a:srgbClr val="FFFFFF"/>
          </a:solidFill>
          <a:ln w="12700">
            <a:solidFill>
              <a:srgbClr val="FFFFFF"/>
            </a:solidFill>
            <a:prstDash val="solid"/>
          </a:ln>
        </p:spPr>
      </p:sp>
      <p:sp>
        <p:nvSpPr>
          <p:cNvPr id="26" name="Text 24"/>
          <p:cNvSpPr/>
          <p:nvPr/>
        </p:nvSpPr>
        <p:spPr>
          <a:xfrm>
            <a:off x="731520" y="4800600"/>
            <a:ext cx="3657600" cy="365760"/>
          </a:xfrm>
          <a:prstGeom prst="rect">
            <a:avLst/>
          </a:prstGeom>
          <a:noFill/>
          <a:ln/>
        </p:spPr>
        <p:txBody>
          <a:bodyPr wrap="square" rtlCol="0" anchor="ctr"/>
          <a:lstStyle/>
          <a:p>
            <a:pPr indent="0" marL="0">
              <a:buNone/>
            </a:pPr>
            <a:r>
              <a:rPr lang="en-US" sz="1100" b="1" dirty="0">
                <a:solidFill>
                  <a:srgbClr val="0E3F3C"/>
                </a:solidFill>
                <a:latin typeface="Helvetica Neue" pitchFamily="34" charset="0"/>
                <a:ea typeface="Helvetica Neue" pitchFamily="34" charset="-122"/>
                <a:cs typeface="Helvetica Neue" pitchFamily="34" charset="-120"/>
              </a:rPr>
              <a:t>AI-dagrapportage</a:t>
            </a:r>
            <a:endParaRPr lang="en-US" sz="1100" dirty="0"/>
          </a:p>
        </p:txBody>
      </p:sp>
      <p:sp>
        <p:nvSpPr>
          <p:cNvPr id="27" name="Text 25"/>
          <p:cNvSpPr/>
          <p:nvPr/>
        </p:nvSpPr>
        <p:spPr>
          <a:xfrm>
            <a:off x="4572000" y="4800600"/>
            <a:ext cx="4389120" cy="365760"/>
          </a:xfrm>
          <a:prstGeom prst="rect">
            <a:avLst/>
          </a:prstGeom>
          <a:noFill/>
          <a:ln/>
        </p:spPr>
        <p:txBody>
          <a:bodyPr wrap="square" rtlCol="0" anchor="ctr"/>
          <a:lstStyle/>
          <a:p>
            <a:pPr indent="0" marL="0">
              <a:buNone/>
            </a:pPr>
            <a:r>
              <a:rPr lang="en-US" sz="1050" dirty="0">
                <a:solidFill>
                  <a:srgbClr val="5A6E69"/>
                </a:solidFill>
                <a:latin typeface="Helvetica" pitchFamily="34" charset="0"/>
                <a:ea typeface="Helvetica" pitchFamily="34" charset="-122"/>
                <a:cs typeface="Helvetica" pitchFamily="34" charset="-120"/>
              </a:rPr>
              <a:t>Verlagen begeleiderslast bij tech-adoptie</a:t>
            </a:r>
            <a:endParaRPr lang="en-US" sz="1050" dirty="0"/>
          </a:p>
        </p:txBody>
      </p:sp>
      <p:sp>
        <p:nvSpPr>
          <p:cNvPr id="28" name="Text 26"/>
          <p:cNvSpPr/>
          <p:nvPr/>
        </p:nvSpPr>
        <p:spPr>
          <a:xfrm>
            <a:off x="9144000" y="4800600"/>
            <a:ext cx="2377440" cy="365760"/>
          </a:xfrm>
          <a:prstGeom prst="rect">
            <a:avLst/>
          </a:prstGeom>
          <a:noFill/>
          <a:ln/>
        </p:spPr>
        <p:txBody>
          <a:bodyPr wrap="square" rtlCol="0" anchor="ctr"/>
          <a:lstStyle/>
          <a:p>
            <a:pPr indent="0" marL="0">
              <a:buNone/>
            </a:pPr>
            <a:r>
              <a:rPr lang="en-US" sz="1000" b="1" i="1" dirty="0">
                <a:solidFill>
                  <a:srgbClr val="E0805A"/>
                </a:solidFill>
                <a:latin typeface="Helvetica" pitchFamily="34" charset="0"/>
                <a:ea typeface="Helvetica" pitchFamily="34" charset="-122"/>
                <a:cs typeface="Helvetica" pitchFamily="34" charset="-120"/>
              </a:rPr>
              <a:t>Innovatie-impuls, 2021</a:t>
            </a:r>
            <a:endParaRPr lang="en-US" sz="1000" dirty="0"/>
          </a:p>
        </p:txBody>
      </p:sp>
      <p:sp>
        <p:nvSpPr>
          <p:cNvPr id="29" name="Text 27"/>
          <p:cNvSpPr/>
          <p:nvPr/>
        </p:nvSpPr>
        <p:spPr>
          <a:xfrm>
            <a:off x="731520" y="5212080"/>
            <a:ext cx="3657600" cy="365760"/>
          </a:xfrm>
          <a:prstGeom prst="rect">
            <a:avLst/>
          </a:prstGeom>
          <a:noFill/>
          <a:ln/>
        </p:spPr>
        <p:txBody>
          <a:bodyPr wrap="square" rtlCol="0" anchor="ctr"/>
          <a:lstStyle/>
          <a:p>
            <a:pPr indent="0" marL="0">
              <a:buNone/>
            </a:pPr>
            <a:r>
              <a:rPr lang="en-US" sz="1100" b="1" dirty="0">
                <a:solidFill>
                  <a:srgbClr val="0E3F3C"/>
                </a:solidFill>
                <a:latin typeface="Helvetica Neue" pitchFamily="34" charset="0"/>
                <a:ea typeface="Helvetica Neue" pitchFamily="34" charset="-122"/>
                <a:cs typeface="Helvetica Neue" pitchFamily="34" charset="-120"/>
              </a:rPr>
              <a:t>Op-dienst tegel</a:t>
            </a:r>
            <a:endParaRPr lang="en-US" sz="1100" dirty="0"/>
          </a:p>
        </p:txBody>
      </p:sp>
      <p:sp>
        <p:nvSpPr>
          <p:cNvPr id="30" name="Text 28"/>
          <p:cNvSpPr/>
          <p:nvPr/>
        </p:nvSpPr>
        <p:spPr>
          <a:xfrm>
            <a:off x="4572000" y="5212080"/>
            <a:ext cx="4389120" cy="365760"/>
          </a:xfrm>
          <a:prstGeom prst="rect">
            <a:avLst/>
          </a:prstGeom>
          <a:noFill/>
          <a:ln/>
        </p:spPr>
        <p:txBody>
          <a:bodyPr wrap="square" rtlCol="0" anchor="ctr"/>
          <a:lstStyle/>
          <a:p>
            <a:pPr indent="0" marL="0">
              <a:buNone/>
            </a:pPr>
            <a:r>
              <a:rPr lang="en-US" sz="1050" dirty="0">
                <a:solidFill>
                  <a:srgbClr val="5A6E69"/>
                </a:solidFill>
                <a:latin typeface="Helvetica" pitchFamily="34" charset="0"/>
                <a:ea typeface="Helvetica" pitchFamily="34" charset="-122"/>
                <a:cs typeface="Helvetica" pitchFamily="34" charset="-120"/>
              </a:rPr>
              <a:t>Continuïteit van zorg in 24-uurs settings</a:t>
            </a:r>
            <a:endParaRPr lang="en-US" sz="1050" dirty="0"/>
          </a:p>
        </p:txBody>
      </p:sp>
      <p:sp>
        <p:nvSpPr>
          <p:cNvPr id="31" name="Text 29"/>
          <p:cNvSpPr/>
          <p:nvPr/>
        </p:nvSpPr>
        <p:spPr>
          <a:xfrm>
            <a:off x="9144000" y="5212080"/>
            <a:ext cx="2377440" cy="365760"/>
          </a:xfrm>
          <a:prstGeom prst="rect">
            <a:avLst/>
          </a:prstGeom>
          <a:noFill/>
          <a:ln/>
        </p:spPr>
        <p:txBody>
          <a:bodyPr wrap="square" rtlCol="0" anchor="ctr"/>
          <a:lstStyle/>
          <a:p>
            <a:pPr indent="0" marL="0">
              <a:buNone/>
            </a:pPr>
            <a:r>
              <a:rPr lang="en-US" sz="1000" b="1" i="1" dirty="0">
                <a:solidFill>
                  <a:srgbClr val="E0805A"/>
                </a:solidFill>
                <a:latin typeface="Helvetica" pitchFamily="34" charset="0"/>
                <a:ea typeface="Helvetica" pitchFamily="34" charset="-122"/>
                <a:cs typeface="Helvetica" pitchFamily="34" charset="-120"/>
              </a:rPr>
              <a:t>Zelfredzaamheid (Acad. Het Dorp)</a:t>
            </a:r>
            <a:endParaRPr lang="en-US" sz="1000" dirty="0"/>
          </a:p>
        </p:txBody>
      </p:sp>
      <p:sp>
        <p:nvSpPr>
          <p:cNvPr id="32" name="Shape 30"/>
          <p:cNvSpPr/>
          <p:nvPr/>
        </p:nvSpPr>
        <p:spPr>
          <a:xfrm>
            <a:off x="548640" y="5577840"/>
            <a:ext cx="10972800" cy="411480"/>
          </a:xfrm>
          <a:prstGeom prst="rect">
            <a:avLst/>
          </a:prstGeom>
          <a:solidFill>
            <a:srgbClr val="FFFFFF"/>
          </a:solidFill>
          <a:ln w="12700">
            <a:solidFill>
              <a:srgbClr val="FFFFFF"/>
            </a:solidFill>
            <a:prstDash val="solid"/>
          </a:ln>
        </p:spPr>
      </p:sp>
      <p:sp>
        <p:nvSpPr>
          <p:cNvPr id="33" name="Text 31"/>
          <p:cNvSpPr/>
          <p:nvPr/>
        </p:nvSpPr>
        <p:spPr>
          <a:xfrm>
            <a:off x="731520" y="5623560"/>
            <a:ext cx="3657600" cy="365760"/>
          </a:xfrm>
          <a:prstGeom prst="rect">
            <a:avLst/>
          </a:prstGeom>
          <a:noFill/>
          <a:ln/>
        </p:spPr>
        <p:txBody>
          <a:bodyPr wrap="square" rtlCol="0" anchor="ctr"/>
          <a:lstStyle/>
          <a:p>
            <a:pPr indent="0" marL="0">
              <a:buNone/>
            </a:pPr>
            <a:r>
              <a:rPr lang="en-US" sz="1100" b="1" dirty="0">
                <a:solidFill>
                  <a:srgbClr val="0E3F3C"/>
                </a:solidFill>
                <a:latin typeface="Helvetica Neue" pitchFamily="34" charset="0"/>
                <a:ea typeface="Helvetica Neue" pitchFamily="34" charset="-122"/>
                <a:cs typeface="Helvetica Neue" pitchFamily="34" charset="-120"/>
              </a:rPr>
              <a:t>3 keuzes max in stappen</a:t>
            </a:r>
            <a:endParaRPr lang="en-US" sz="1100" dirty="0"/>
          </a:p>
        </p:txBody>
      </p:sp>
      <p:sp>
        <p:nvSpPr>
          <p:cNvPr id="34" name="Text 32"/>
          <p:cNvSpPr/>
          <p:nvPr/>
        </p:nvSpPr>
        <p:spPr>
          <a:xfrm>
            <a:off x="4572000" y="5623560"/>
            <a:ext cx="4389120" cy="365760"/>
          </a:xfrm>
          <a:prstGeom prst="rect">
            <a:avLst/>
          </a:prstGeom>
          <a:noFill/>
          <a:ln/>
        </p:spPr>
        <p:txBody>
          <a:bodyPr wrap="square" rtlCol="0" anchor="ctr"/>
          <a:lstStyle/>
          <a:p>
            <a:pPr indent="0" marL="0">
              <a:buNone/>
            </a:pPr>
            <a:r>
              <a:rPr lang="en-US" sz="1050" dirty="0">
                <a:solidFill>
                  <a:srgbClr val="5A6E69"/>
                </a:solidFill>
                <a:latin typeface="Helvetica" pitchFamily="34" charset="0"/>
                <a:ea typeface="Helvetica" pitchFamily="34" charset="-122"/>
                <a:cs typeface="Helvetica" pitchFamily="34" charset="-120"/>
              </a:rPr>
              <a:t>Choice architecture bij cognitieve overload</a:t>
            </a:r>
            <a:endParaRPr lang="en-US" sz="1050" dirty="0"/>
          </a:p>
        </p:txBody>
      </p:sp>
      <p:sp>
        <p:nvSpPr>
          <p:cNvPr id="35" name="Text 33"/>
          <p:cNvSpPr/>
          <p:nvPr/>
        </p:nvSpPr>
        <p:spPr>
          <a:xfrm>
            <a:off x="9144000" y="5623560"/>
            <a:ext cx="2377440" cy="365760"/>
          </a:xfrm>
          <a:prstGeom prst="rect">
            <a:avLst/>
          </a:prstGeom>
          <a:noFill/>
          <a:ln/>
        </p:spPr>
        <p:txBody>
          <a:bodyPr wrap="square" rtlCol="0" anchor="ctr"/>
          <a:lstStyle/>
          <a:p>
            <a:pPr indent="0" marL="0">
              <a:buNone/>
            </a:pPr>
            <a:r>
              <a:rPr lang="en-US" sz="1000" b="1" i="1" dirty="0">
                <a:solidFill>
                  <a:srgbClr val="E0805A"/>
                </a:solidFill>
                <a:latin typeface="Helvetica" pitchFamily="34" charset="0"/>
                <a:ea typeface="Helvetica" pitchFamily="34" charset="-122"/>
                <a:cs typeface="Helvetica" pitchFamily="34" charset="-120"/>
              </a:rPr>
              <a:t>W3C COGA, 2024</a:t>
            </a:r>
            <a:endParaRPr lang="en-US" sz="1000" dirty="0"/>
          </a:p>
        </p:txBody>
      </p:sp>
      <p:sp>
        <p:nvSpPr>
          <p:cNvPr id="36" name="Shape 34"/>
          <p:cNvSpPr/>
          <p:nvPr/>
        </p:nvSpPr>
        <p:spPr>
          <a:xfrm>
            <a:off x="411480" y="6446520"/>
            <a:ext cx="228600" cy="228600"/>
          </a:xfrm>
          <a:prstGeom prst="ellipse">
            <a:avLst/>
          </a:prstGeom>
          <a:solidFill>
            <a:srgbClr val="16645F"/>
          </a:solidFill>
          <a:ln w="12700">
            <a:solidFill>
              <a:srgbClr val="16645F"/>
            </a:solidFill>
            <a:prstDash val="solid"/>
          </a:ln>
        </p:spPr>
      </p:sp>
      <p:sp>
        <p:nvSpPr>
          <p:cNvPr id="37" name="Text 35"/>
          <p:cNvSpPr/>
          <p:nvPr/>
        </p:nvSpPr>
        <p:spPr>
          <a:xfrm>
            <a:off x="685800" y="6419088"/>
            <a:ext cx="1828800" cy="274320"/>
          </a:xfrm>
          <a:prstGeom prst="rect">
            <a:avLst/>
          </a:prstGeom>
          <a:noFill/>
          <a:ln/>
        </p:spPr>
        <p:txBody>
          <a:bodyPr wrap="square" rtlCol="0" anchor="ctr"/>
          <a:lstStyle/>
          <a:p>
            <a:pPr indent="0" marL="0">
              <a:buNone/>
            </a:pPr>
            <a:r>
              <a:rPr lang="en-US" sz="1000" b="1" dirty="0">
                <a:solidFill>
                  <a:srgbClr val="0E3F3C"/>
                </a:solidFill>
                <a:latin typeface="Helvetica Neue" pitchFamily="34" charset="0"/>
                <a:ea typeface="Helvetica Neue" pitchFamily="34" charset="-122"/>
                <a:cs typeface="Helvetica Neue" pitchFamily="34" charset="-120"/>
              </a:rPr>
              <a:t>TaskBuddy</a:t>
            </a:r>
            <a:endParaRPr lang="en-US" sz="1000" dirty="0"/>
          </a:p>
        </p:txBody>
      </p:sp>
      <p:sp>
        <p:nvSpPr>
          <p:cNvPr id="38" name="Text 36"/>
          <p:cNvSpPr/>
          <p:nvPr/>
        </p:nvSpPr>
        <p:spPr>
          <a:xfrm>
            <a:off x="11338560" y="6446520"/>
            <a:ext cx="640080" cy="320040"/>
          </a:xfrm>
          <a:prstGeom prst="rect">
            <a:avLst/>
          </a:prstGeom>
          <a:noFill/>
          <a:ln/>
        </p:spPr>
        <p:txBody>
          <a:bodyPr wrap="square" rtlCol="0" anchor="ctr"/>
          <a:lstStyle/>
          <a:p>
            <a:pPr algn="r" indent="0" marL="0">
              <a:buNone/>
            </a:pPr>
            <a:r>
              <a:rPr lang="en-US" sz="900" dirty="0">
                <a:solidFill>
                  <a:srgbClr val="94A29D"/>
                </a:solidFill>
                <a:latin typeface="Helvetica" pitchFamily="34" charset="0"/>
                <a:ea typeface="Helvetica" pitchFamily="34" charset="-122"/>
                <a:cs typeface="Helvetica"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4572000" cy="365760"/>
          </a:xfrm>
          <a:prstGeom prst="rect">
            <a:avLst/>
          </a:prstGeom>
          <a:noFill/>
          <a:ln/>
        </p:spPr>
        <p:txBody>
          <a:bodyPr wrap="square" rtlCol="0" anchor="ctr"/>
          <a:lstStyle/>
          <a:p>
            <a:pPr indent="0" marL="0">
              <a:buNone/>
            </a:pPr>
            <a:r>
              <a:rPr lang="en-US" sz="1100" b="1" spc="600" kern="0" dirty="0">
                <a:solidFill>
                  <a:srgbClr val="E0805A"/>
                </a:solidFill>
                <a:latin typeface="Helvetica" pitchFamily="34" charset="0"/>
                <a:ea typeface="Helvetica" pitchFamily="34" charset="-122"/>
                <a:cs typeface="Helvetica" pitchFamily="34" charset="-120"/>
              </a:rPr>
              <a:t>08 · WAARDE</a:t>
            </a:r>
            <a:endParaRPr lang="en-US" sz="1100" dirty="0"/>
          </a:p>
        </p:txBody>
      </p:sp>
      <p:sp>
        <p:nvSpPr>
          <p:cNvPr id="3" name="Text 1"/>
          <p:cNvSpPr/>
          <p:nvPr/>
        </p:nvSpPr>
        <p:spPr>
          <a:xfrm>
            <a:off x="548640" y="914400"/>
            <a:ext cx="10972800" cy="914400"/>
          </a:xfrm>
          <a:prstGeom prst="rect">
            <a:avLst/>
          </a:prstGeom>
          <a:noFill/>
          <a:ln/>
        </p:spPr>
        <p:txBody>
          <a:bodyPr wrap="square" rtlCol="0" anchor="ctr"/>
          <a:lstStyle/>
          <a:p>
            <a:pPr indent="0" marL="0">
              <a:buNone/>
            </a:pPr>
            <a:r>
              <a:rPr lang="en-US" sz="3400" b="1" dirty="0">
                <a:solidFill>
                  <a:srgbClr val="0E3F3C"/>
                </a:solidFill>
                <a:latin typeface="Helvetica Neue" pitchFamily="34" charset="0"/>
                <a:ea typeface="Helvetica Neue" pitchFamily="34" charset="-122"/>
                <a:cs typeface="Helvetica Neue" pitchFamily="34" charset="-120"/>
              </a:rPr>
              <a:t>Wat het de organisatie oplevert</a:t>
            </a:r>
            <a:endParaRPr lang="en-US" sz="3400" dirty="0"/>
          </a:p>
        </p:txBody>
      </p:sp>
      <p:sp>
        <p:nvSpPr>
          <p:cNvPr id="4" name="Shape 2"/>
          <p:cNvSpPr/>
          <p:nvPr/>
        </p:nvSpPr>
        <p:spPr>
          <a:xfrm>
            <a:off x="548640" y="2331720"/>
            <a:ext cx="685800" cy="685800"/>
          </a:xfrm>
          <a:prstGeom prst="ellipse">
            <a:avLst/>
          </a:prstGeom>
          <a:solidFill>
            <a:srgbClr val="80A599"/>
          </a:solidFill>
          <a:ln w="12700">
            <a:solidFill>
              <a:srgbClr val="80A599"/>
            </a:solidFill>
            <a:prstDash val="solid"/>
          </a:ln>
        </p:spPr>
      </p:sp>
      <p:sp>
        <p:nvSpPr>
          <p:cNvPr id="5" name="Text 3"/>
          <p:cNvSpPr/>
          <p:nvPr/>
        </p:nvSpPr>
        <p:spPr>
          <a:xfrm>
            <a:off x="548640" y="2331720"/>
            <a:ext cx="685800" cy="6858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1417320" y="2286000"/>
            <a:ext cx="5029200" cy="411480"/>
          </a:xfrm>
          <a:prstGeom prst="rect">
            <a:avLst/>
          </a:prstGeom>
          <a:noFill/>
          <a:ln/>
        </p:spPr>
        <p:txBody>
          <a:bodyPr wrap="square" rtlCol="0" anchor="ctr"/>
          <a:lstStyle/>
          <a:p>
            <a:pPr indent="0" marL="0">
              <a:buNone/>
            </a:pPr>
            <a:r>
              <a:rPr lang="en-US" sz="1700" b="1" dirty="0">
                <a:solidFill>
                  <a:srgbClr val="0E3F3C"/>
                </a:solidFill>
                <a:latin typeface="Helvetica Neue" pitchFamily="34" charset="0"/>
                <a:ea typeface="Helvetica Neue" pitchFamily="34" charset="-122"/>
                <a:cs typeface="Helvetica Neue" pitchFamily="34" charset="-120"/>
              </a:rPr>
              <a:t>Minder crisismomenten</a:t>
            </a:r>
            <a:endParaRPr lang="en-US" sz="1700" dirty="0"/>
          </a:p>
        </p:txBody>
      </p:sp>
      <p:sp>
        <p:nvSpPr>
          <p:cNvPr id="7" name="Text 5"/>
          <p:cNvSpPr/>
          <p:nvPr/>
        </p:nvSpPr>
        <p:spPr>
          <a:xfrm>
            <a:off x="1417320" y="2679192"/>
            <a:ext cx="5029200" cy="502920"/>
          </a:xfrm>
          <a:prstGeom prst="rect">
            <a:avLst/>
          </a:prstGeom>
          <a:noFill/>
          <a:ln/>
        </p:spPr>
        <p:txBody>
          <a:bodyPr wrap="square" rtlCol="0" anchor="ctr"/>
          <a:lstStyle/>
          <a:p>
            <a:pPr indent="0" marL="0">
              <a:buNone/>
            </a:pPr>
            <a:r>
              <a:rPr lang="en-US" sz="1250" dirty="0">
                <a:solidFill>
                  <a:srgbClr val="5A6E69"/>
                </a:solidFill>
                <a:latin typeface="Helvetica" pitchFamily="34" charset="0"/>
                <a:ea typeface="Helvetica" pitchFamily="34" charset="-122"/>
                <a:cs typeface="Helvetica" pitchFamily="34" charset="-120"/>
              </a:rPr>
              <a:t>Emotiekaart + activiteiten vangen overprikkeling vroeg op.</a:t>
            </a:r>
            <a:endParaRPr lang="en-US" sz="1250" dirty="0"/>
          </a:p>
        </p:txBody>
      </p:sp>
      <p:sp>
        <p:nvSpPr>
          <p:cNvPr id="8" name="Shape 6"/>
          <p:cNvSpPr/>
          <p:nvPr/>
        </p:nvSpPr>
        <p:spPr>
          <a:xfrm>
            <a:off x="548640" y="3291840"/>
            <a:ext cx="685800" cy="685800"/>
          </a:xfrm>
          <a:prstGeom prst="ellipse">
            <a:avLst/>
          </a:prstGeom>
          <a:solidFill>
            <a:srgbClr val="80A599"/>
          </a:solidFill>
          <a:ln w="12700">
            <a:solidFill>
              <a:srgbClr val="80A599"/>
            </a:solidFill>
            <a:prstDash val="solid"/>
          </a:ln>
        </p:spPr>
      </p:sp>
      <p:sp>
        <p:nvSpPr>
          <p:cNvPr id="9" name="Text 7"/>
          <p:cNvSpPr/>
          <p:nvPr/>
        </p:nvSpPr>
        <p:spPr>
          <a:xfrm>
            <a:off x="548640" y="3291840"/>
            <a:ext cx="685800" cy="6858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0" name="Text 8"/>
          <p:cNvSpPr/>
          <p:nvPr/>
        </p:nvSpPr>
        <p:spPr>
          <a:xfrm>
            <a:off x="1417320" y="3246120"/>
            <a:ext cx="5029200" cy="411480"/>
          </a:xfrm>
          <a:prstGeom prst="rect">
            <a:avLst/>
          </a:prstGeom>
          <a:noFill/>
          <a:ln/>
        </p:spPr>
        <p:txBody>
          <a:bodyPr wrap="square" rtlCol="0" anchor="ctr"/>
          <a:lstStyle/>
          <a:p>
            <a:pPr indent="0" marL="0">
              <a:buNone/>
            </a:pPr>
            <a:r>
              <a:rPr lang="en-US" sz="1700" b="1" dirty="0">
                <a:solidFill>
                  <a:srgbClr val="0E3F3C"/>
                </a:solidFill>
                <a:latin typeface="Helvetica Neue" pitchFamily="34" charset="0"/>
                <a:ea typeface="Helvetica Neue" pitchFamily="34" charset="-122"/>
                <a:cs typeface="Helvetica Neue" pitchFamily="34" charset="-120"/>
              </a:rPr>
              <a:t>Snellere rapportage</a:t>
            </a:r>
            <a:endParaRPr lang="en-US" sz="1700" dirty="0"/>
          </a:p>
        </p:txBody>
      </p:sp>
      <p:sp>
        <p:nvSpPr>
          <p:cNvPr id="11" name="Text 9"/>
          <p:cNvSpPr/>
          <p:nvPr/>
        </p:nvSpPr>
        <p:spPr>
          <a:xfrm>
            <a:off x="1417320" y="3639312"/>
            <a:ext cx="5029200" cy="502920"/>
          </a:xfrm>
          <a:prstGeom prst="rect">
            <a:avLst/>
          </a:prstGeom>
          <a:noFill/>
          <a:ln/>
        </p:spPr>
        <p:txBody>
          <a:bodyPr wrap="square" rtlCol="0" anchor="ctr"/>
          <a:lstStyle/>
          <a:p>
            <a:pPr indent="0" marL="0">
              <a:buNone/>
            </a:pPr>
            <a:r>
              <a:rPr lang="en-US" sz="1250" dirty="0">
                <a:solidFill>
                  <a:srgbClr val="5A6E69"/>
                </a:solidFill>
                <a:latin typeface="Helvetica" pitchFamily="34" charset="0"/>
                <a:ea typeface="Helvetica" pitchFamily="34" charset="-122"/>
                <a:cs typeface="Helvetica" pitchFamily="34" charset="-120"/>
              </a:rPr>
              <a:t>AI levert dagrapportage klaar voor dossier — minuten in plaats van uren.</a:t>
            </a:r>
            <a:endParaRPr lang="en-US" sz="1250" dirty="0"/>
          </a:p>
        </p:txBody>
      </p:sp>
      <p:sp>
        <p:nvSpPr>
          <p:cNvPr id="12" name="Shape 10"/>
          <p:cNvSpPr/>
          <p:nvPr/>
        </p:nvSpPr>
        <p:spPr>
          <a:xfrm>
            <a:off x="548640" y="4251960"/>
            <a:ext cx="685800" cy="685800"/>
          </a:xfrm>
          <a:prstGeom prst="ellipse">
            <a:avLst/>
          </a:prstGeom>
          <a:solidFill>
            <a:srgbClr val="80A599"/>
          </a:solidFill>
          <a:ln w="12700">
            <a:solidFill>
              <a:srgbClr val="80A599"/>
            </a:solidFill>
            <a:prstDash val="solid"/>
          </a:ln>
        </p:spPr>
      </p:sp>
      <p:sp>
        <p:nvSpPr>
          <p:cNvPr id="13" name="Text 11"/>
          <p:cNvSpPr/>
          <p:nvPr/>
        </p:nvSpPr>
        <p:spPr>
          <a:xfrm>
            <a:off x="548640" y="4251960"/>
            <a:ext cx="685800" cy="6858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1417320" y="4206240"/>
            <a:ext cx="5029200" cy="411480"/>
          </a:xfrm>
          <a:prstGeom prst="rect">
            <a:avLst/>
          </a:prstGeom>
          <a:noFill/>
          <a:ln/>
        </p:spPr>
        <p:txBody>
          <a:bodyPr wrap="square" rtlCol="0" anchor="ctr"/>
          <a:lstStyle/>
          <a:p>
            <a:pPr indent="0" marL="0">
              <a:buNone/>
            </a:pPr>
            <a:r>
              <a:rPr lang="en-US" sz="1700" b="1" dirty="0">
                <a:solidFill>
                  <a:srgbClr val="0E3F3C"/>
                </a:solidFill>
                <a:latin typeface="Helvetica Neue" pitchFamily="34" charset="0"/>
                <a:ea typeface="Helvetica Neue" pitchFamily="34" charset="-122"/>
                <a:cs typeface="Helvetica Neue" pitchFamily="34" charset="-120"/>
              </a:rPr>
              <a:t>Soepele overdracht</a:t>
            </a:r>
            <a:endParaRPr lang="en-US" sz="1700" dirty="0"/>
          </a:p>
        </p:txBody>
      </p:sp>
      <p:sp>
        <p:nvSpPr>
          <p:cNvPr id="15" name="Text 13"/>
          <p:cNvSpPr/>
          <p:nvPr/>
        </p:nvSpPr>
        <p:spPr>
          <a:xfrm>
            <a:off x="1417320" y="4599432"/>
            <a:ext cx="5029200" cy="502920"/>
          </a:xfrm>
          <a:prstGeom prst="rect">
            <a:avLst/>
          </a:prstGeom>
          <a:noFill/>
          <a:ln/>
        </p:spPr>
        <p:txBody>
          <a:bodyPr wrap="square" rtlCol="0" anchor="ctr"/>
          <a:lstStyle/>
          <a:p>
            <a:pPr indent="0" marL="0">
              <a:buNone/>
            </a:pPr>
            <a:r>
              <a:rPr lang="en-US" sz="1250" dirty="0">
                <a:solidFill>
                  <a:srgbClr val="5A6E69"/>
                </a:solidFill>
                <a:latin typeface="Helvetica" pitchFamily="34" charset="0"/>
                <a:ea typeface="Helvetica" pitchFamily="34" charset="-122"/>
                <a:cs typeface="Helvetica" pitchFamily="34" charset="-120"/>
              </a:rPr>
              <a:t>"Op dienst" maakt verantwoordelijkheid expliciet zichtbaar.</a:t>
            </a:r>
            <a:endParaRPr lang="en-US" sz="1250" dirty="0"/>
          </a:p>
        </p:txBody>
      </p:sp>
      <p:sp>
        <p:nvSpPr>
          <p:cNvPr id="16" name="Shape 14"/>
          <p:cNvSpPr/>
          <p:nvPr/>
        </p:nvSpPr>
        <p:spPr>
          <a:xfrm>
            <a:off x="548640" y="5212080"/>
            <a:ext cx="685800" cy="685800"/>
          </a:xfrm>
          <a:prstGeom prst="ellipse">
            <a:avLst/>
          </a:prstGeom>
          <a:solidFill>
            <a:srgbClr val="80A599"/>
          </a:solidFill>
          <a:ln w="12700">
            <a:solidFill>
              <a:srgbClr val="80A599"/>
            </a:solidFill>
            <a:prstDash val="solid"/>
          </a:ln>
        </p:spPr>
      </p:sp>
      <p:sp>
        <p:nvSpPr>
          <p:cNvPr id="17" name="Text 15"/>
          <p:cNvSpPr/>
          <p:nvPr/>
        </p:nvSpPr>
        <p:spPr>
          <a:xfrm>
            <a:off x="548640" y="5212080"/>
            <a:ext cx="685800" cy="6858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1417320" y="5166360"/>
            <a:ext cx="5029200" cy="411480"/>
          </a:xfrm>
          <a:prstGeom prst="rect">
            <a:avLst/>
          </a:prstGeom>
          <a:noFill/>
          <a:ln/>
        </p:spPr>
        <p:txBody>
          <a:bodyPr wrap="square" rtlCol="0" anchor="ctr"/>
          <a:lstStyle/>
          <a:p>
            <a:pPr indent="0" marL="0">
              <a:buNone/>
            </a:pPr>
            <a:r>
              <a:rPr lang="en-US" sz="1700" b="1" dirty="0">
                <a:solidFill>
                  <a:srgbClr val="0E3F3C"/>
                </a:solidFill>
                <a:latin typeface="Helvetica Neue" pitchFamily="34" charset="0"/>
                <a:ea typeface="Helvetica Neue" pitchFamily="34" charset="-122"/>
                <a:cs typeface="Helvetica Neue" pitchFamily="34" charset="-120"/>
              </a:rPr>
              <a:t>Datagedreven beslissingen</a:t>
            </a:r>
            <a:endParaRPr lang="en-US" sz="1700" dirty="0"/>
          </a:p>
        </p:txBody>
      </p:sp>
      <p:sp>
        <p:nvSpPr>
          <p:cNvPr id="19" name="Text 17"/>
          <p:cNvSpPr/>
          <p:nvPr/>
        </p:nvSpPr>
        <p:spPr>
          <a:xfrm>
            <a:off x="1417320" y="5559552"/>
            <a:ext cx="5029200" cy="502920"/>
          </a:xfrm>
          <a:prstGeom prst="rect">
            <a:avLst/>
          </a:prstGeom>
          <a:noFill/>
          <a:ln/>
        </p:spPr>
        <p:txBody>
          <a:bodyPr wrap="square" rtlCol="0" anchor="ctr"/>
          <a:lstStyle/>
          <a:p>
            <a:pPr indent="0" marL="0">
              <a:buNone/>
            </a:pPr>
            <a:r>
              <a:rPr lang="en-US" sz="1250" dirty="0">
                <a:solidFill>
                  <a:srgbClr val="5A6E69"/>
                </a:solidFill>
                <a:latin typeface="Helvetica" pitchFamily="34" charset="0"/>
                <a:ea typeface="Helvetica" pitchFamily="34" charset="-122"/>
                <a:cs typeface="Helvetica" pitchFamily="34" charset="-120"/>
              </a:rPr>
              <a:t>Patroonanalyse en feedback per cliënt — wat werkt voor wie?</a:t>
            </a:r>
            <a:endParaRPr lang="en-US" sz="1250" dirty="0"/>
          </a:p>
        </p:txBody>
      </p:sp>
      <p:sp>
        <p:nvSpPr>
          <p:cNvPr id="20" name="Shape 18"/>
          <p:cNvSpPr/>
          <p:nvPr/>
        </p:nvSpPr>
        <p:spPr>
          <a:xfrm>
            <a:off x="6858000" y="2331720"/>
            <a:ext cx="4846320" cy="4023360"/>
          </a:xfrm>
          <a:prstGeom prst="roundRect">
            <a:avLst>
              <a:gd name="adj" fmla="val 4545"/>
            </a:avLst>
          </a:prstGeom>
          <a:solidFill>
            <a:srgbClr val="16645F"/>
          </a:solidFill>
          <a:ln w="12700">
            <a:solidFill>
              <a:srgbClr val="16645F"/>
            </a:solidFill>
            <a:prstDash val="solid"/>
          </a:ln>
        </p:spPr>
      </p:sp>
      <p:sp>
        <p:nvSpPr>
          <p:cNvPr id="21" name="Text 19"/>
          <p:cNvSpPr/>
          <p:nvPr/>
        </p:nvSpPr>
        <p:spPr>
          <a:xfrm>
            <a:off x="7040880" y="2331720"/>
            <a:ext cx="914400" cy="1280160"/>
          </a:xfrm>
          <a:prstGeom prst="rect">
            <a:avLst/>
          </a:prstGeom>
          <a:noFill/>
          <a:ln/>
        </p:spPr>
        <p:txBody>
          <a:bodyPr wrap="square" rtlCol="0" anchor="ctr"/>
          <a:lstStyle/>
          <a:p>
            <a:pPr indent="0" marL="0">
              <a:buNone/>
            </a:pPr>
            <a:r>
              <a:rPr lang="en-US" sz="11000" b="1" dirty="0">
                <a:solidFill>
                  <a:srgbClr val="FFD3C2"/>
                </a:solidFill>
                <a:latin typeface="Helvetica Neue" pitchFamily="34" charset="0"/>
                <a:ea typeface="Helvetica Neue" pitchFamily="34" charset="-122"/>
                <a:cs typeface="Helvetica Neue" pitchFamily="34" charset="-120"/>
              </a:rPr>
              <a:t>"</a:t>
            </a:r>
            <a:endParaRPr lang="en-US" sz="11000" dirty="0"/>
          </a:p>
        </p:txBody>
      </p:sp>
      <p:sp>
        <p:nvSpPr>
          <p:cNvPr id="22" name="Text 20"/>
          <p:cNvSpPr/>
          <p:nvPr/>
        </p:nvSpPr>
        <p:spPr>
          <a:xfrm>
            <a:off x="7132320" y="3520440"/>
            <a:ext cx="4389120" cy="1645920"/>
          </a:xfrm>
          <a:prstGeom prst="rect">
            <a:avLst/>
          </a:prstGeom>
          <a:noFill/>
          <a:ln/>
        </p:spPr>
        <p:txBody>
          <a:bodyPr wrap="square" rtlCol="0" anchor="ctr"/>
          <a:lstStyle/>
          <a:p>
            <a:pPr indent="0" marL="0">
              <a:buNone/>
            </a:pPr>
            <a:r>
              <a:rPr lang="en-US" sz="2200" b="1" i="1" dirty="0">
                <a:solidFill>
                  <a:srgbClr val="FFFFFF"/>
                </a:solidFill>
                <a:latin typeface="Helvetica Neue" pitchFamily="34" charset="0"/>
                <a:ea typeface="Helvetica Neue" pitchFamily="34" charset="-122"/>
                <a:cs typeface="Helvetica Neue" pitchFamily="34" charset="-120"/>
              </a:rPr>
              <a:t>Een rustig hoofd voor de cliënt,</a:t>
            </a:r>
            <a:endParaRPr lang="en-US" sz="2200" dirty="0"/>
          </a:p>
          <a:p>
            <a:pPr indent="0" marL="0">
              <a:buNone/>
            </a:pPr>
            <a:r>
              <a:rPr lang="en-US" sz="2200" b="1" i="1" dirty="0">
                <a:solidFill>
                  <a:srgbClr val="FFFFFF"/>
                </a:solidFill>
                <a:latin typeface="Helvetica Neue" pitchFamily="34" charset="0"/>
                <a:ea typeface="Helvetica Neue" pitchFamily="34" charset="-122"/>
                <a:cs typeface="Helvetica Neue" pitchFamily="34" charset="-120"/>
              </a:rPr>
              <a:t>overzicht voor het team.</a:t>
            </a:r>
            <a:endParaRPr lang="en-US" sz="2200" dirty="0"/>
          </a:p>
        </p:txBody>
      </p:sp>
      <p:sp>
        <p:nvSpPr>
          <p:cNvPr id="23" name="Text 21"/>
          <p:cNvSpPr/>
          <p:nvPr/>
        </p:nvSpPr>
        <p:spPr>
          <a:xfrm>
            <a:off x="7132320" y="5760720"/>
            <a:ext cx="4389120" cy="365760"/>
          </a:xfrm>
          <a:prstGeom prst="rect">
            <a:avLst/>
          </a:prstGeom>
          <a:noFill/>
          <a:ln/>
        </p:spPr>
        <p:txBody>
          <a:bodyPr wrap="square" rtlCol="0" anchor="ctr"/>
          <a:lstStyle/>
          <a:p>
            <a:pPr indent="0" marL="0">
              <a:buNone/>
            </a:pPr>
            <a:r>
              <a:rPr lang="en-US" sz="1200" spc="300" kern="0" dirty="0">
                <a:solidFill>
                  <a:srgbClr val="EEECDE"/>
                </a:solidFill>
                <a:latin typeface="Helvetica" pitchFamily="34" charset="0"/>
                <a:ea typeface="Helvetica" pitchFamily="34" charset="-122"/>
                <a:cs typeface="Helvetica" pitchFamily="34" charset="-120"/>
              </a:rPr>
              <a:t>— Doel van TaskBuddy</a:t>
            </a:r>
            <a:endParaRPr lang="en-US" sz="1200" dirty="0"/>
          </a:p>
        </p:txBody>
      </p:sp>
      <p:sp>
        <p:nvSpPr>
          <p:cNvPr id="24" name="Shape 22"/>
          <p:cNvSpPr/>
          <p:nvPr/>
        </p:nvSpPr>
        <p:spPr>
          <a:xfrm>
            <a:off x="411480" y="6446520"/>
            <a:ext cx="228600" cy="228600"/>
          </a:xfrm>
          <a:prstGeom prst="ellipse">
            <a:avLst/>
          </a:prstGeom>
          <a:solidFill>
            <a:srgbClr val="16645F"/>
          </a:solidFill>
          <a:ln w="12700">
            <a:solidFill>
              <a:srgbClr val="16645F"/>
            </a:solidFill>
            <a:prstDash val="solid"/>
          </a:ln>
        </p:spPr>
      </p:sp>
      <p:sp>
        <p:nvSpPr>
          <p:cNvPr id="25" name="Text 23"/>
          <p:cNvSpPr/>
          <p:nvPr/>
        </p:nvSpPr>
        <p:spPr>
          <a:xfrm>
            <a:off x="685800" y="6419088"/>
            <a:ext cx="1828800" cy="274320"/>
          </a:xfrm>
          <a:prstGeom prst="rect">
            <a:avLst/>
          </a:prstGeom>
          <a:noFill/>
          <a:ln/>
        </p:spPr>
        <p:txBody>
          <a:bodyPr wrap="square" rtlCol="0" anchor="ctr"/>
          <a:lstStyle/>
          <a:p>
            <a:pPr indent="0" marL="0">
              <a:buNone/>
            </a:pPr>
            <a:r>
              <a:rPr lang="en-US" sz="1000" b="1" dirty="0">
                <a:solidFill>
                  <a:srgbClr val="0E3F3C"/>
                </a:solidFill>
                <a:latin typeface="Helvetica Neue" pitchFamily="34" charset="0"/>
                <a:ea typeface="Helvetica Neue" pitchFamily="34" charset="-122"/>
                <a:cs typeface="Helvetica Neue" pitchFamily="34" charset="-120"/>
              </a:rPr>
              <a:t>TaskBuddy</a:t>
            </a:r>
            <a:endParaRPr lang="en-US" sz="1000" dirty="0"/>
          </a:p>
        </p:txBody>
      </p:sp>
      <p:sp>
        <p:nvSpPr>
          <p:cNvPr id="26" name="Text 24"/>
          <p:cNvSpPr/>
          <p:nvPr/>
        </p:nvSpPr>
        <p:spPr>
          <a:xfrm>
            <a:off x="11338560" y="6446520"/>
            <a:ext cx="640080" cy="320040"/>
          </a:xfrm>
          <a:prstGeom prst="rect">
            <a:avLst/>
          </a:prstGeom>
          <a:noFill/>
          <a:ln/>
        </p:spPr>
        <p:txBody>
          <a:bodyPr wrap="square" rtlCol="0" anchor="ctr"/>
          <a:lstStyle/>
          <a:p>
            <a:pPr algn="r" indent="0" marL="0">
              <a:buNone/>
            </a:pPr>
            <a:r>
              <a:rPr lang="en-US" sz="900" dirty="0">
                <a:solidFill>
                  <a:srgbClr val="94A29D"/>
                </a:solidFill>
                <a:latin typeface="Helvetica" pitchFamily="34" charset="0"/>
                <a:ea typeface="Helvetica" pitchFamily="34" charset="-122"/>
                <a:cs typeface="Helvetica"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645F"/>
        </a:solidFill>
      </p:bgPr>
    </p:bg>
    <p:spTree>
      <p:nvGrpSpPr>
        <p:cNvPr id="1" name=""/>
        <p:cNvGrpSpPr/>
        <p:nvPr/>
      </p:nvGrpSpPr>
      <p:grpSpPr>
        <a:xfrm>
          <a:off x="0" y="0"/>
          <a:ext cx="0" cy="0"/>
          <a:chOff x="0" y="0"/>
          <a:chExt cx="0" cy="0"/>
        </a:xfrm>
      </p:grpSpPr>
      <p:sp>
        <p:nvSpPr>
          <p:cNvPr id="2" name="Shape 0"/>
          <p:cNvSpPr/>
          <p:nvPr/>
        </p:nvSpPr>
        <p:spPr>
          <a:xfrm>
            <a:off x="-2286000" y="4114800"/>
            <a:ext cx="7315200" cy="7315200"/>
          </a:xfrm>
          <a:prstGeom prst="ellipse">
            <a:avLst/>
          </a:prstGeom>
          <a:solidFill>
            <a:srgbClr val="0E3F3C"/>
          </a:solidFill>
          <a:ln w="12700">
            <a:solidFill>
              <a:srgbClr val="0E3F3C"/>
            </a:solidFill>
            <a:prstDash val="solid"/>
          </a:ln>
        </p:spPr>
      </p:sp>
      <p:sp>
        <p:nvSpPr>
          <p:cNvPr id="3" name="Shape 1"/>
          <p:cNvSpPr/>
          <p:nvPr/>
        </p:nvSpPr>
        <p:spPr>
          <a:xfrm>
            <a:off x="-914400" y="5029200"/>
            <a:ext cx="4114800" cy="4114800"/>
          </a:xfrm>
          <a:prstGeom prst="ellipse">
            <a:avLst/>
          </a:prstGeom>
          <a:solidFill>
            <a:srgbClr val="80A599"/>
          </a:solidFill>
          <a:ln w="12700">
            <a:solidFill>
              <a:srgbClr val="80A599"/>
            </a:solidFill>
            <a:prstDash val="solid"/>
          </a:ln>
        </p:spPr>
      </p:sp>
      <p:sp>
        <p:nvSpPr>
          <p:cNvPr id="4" name="Text 2"/>
          <p:cNvSpPr/>
          <p:nvPr/>
        </p:nvSpPr>
        <p:spPr>
          <a:xfrm>
            <a:off x="3657600" y="640080"/>
            <a:ext cx="8229600" cy="914400"/>
          </a:xfrm>
          <a:prstGeom prst="rect">
            <a:avLst/>
          </a:prstGeom>
          <a:noFill/>
          <a:ln/>
        </p:spPr>
        <p:txBody>
          <a:bodyPr wrap="square" rtlCol="0" anchor="ctr"/>
          <a:lstStyle/>
          <a:p>
            <a:pPr indent="0" marL="0">
              <a:buNone/>
            </a:pPr>
            <a:r>
              <a:rPr lang="en-US" sz="5000" b="1" dirty="0">
                <a:solidFill>
                  <a:srgbClr val="FFFFFF"/>
                </a:solidFill>
                <a:latin typeface="Helvetica Neue" pitchFamily="34" charset="0"/>
                <a:ea typeface="Helvetica Neue" pitchFamily="34" charset="-122"/>
                <a:cs typeface="Helvetica Neue" pitchFamily="34" charset="-120"/>
              </a:rPr>
              <a:t>Klein in handen,</a:t>
            </a:r>
            <a:endParaRPr lang="en-US" sz="5000" dirty="0"/>
          </a:p>
        </p:txBody>
      </p:sp>
      <p:sp>
        <p:nvSpPr>
          <p:cNvPr id="5" name="Text 3"/>
          <p:cNvSpPr/>
          <p:nvPr/>
        </p:nvSpPr>
        <p:spPr>
          <a:xfrm>
            <a:off x="3657600" y="1371600"/>
            <a:ext cx="8229600" cy="914400"/>
          </a:xfrm>
          <a:prstGeom prst="rect">
            <a:avLst/>
          </a:prstGeom>
          <a:noFill/>
          <a:ln/>
        </p:spPr>
        <p:txBody>
          <a:bodyPr wrap="square" rtlCol="0" anchor="ctr"/>
          <a:lstStyle/>
          <a:p>
            <a:pPr indent="0" marL="0">
              <a:buNone/>
            </a:pPr>
            <a:r>
              <a:rPr lang="en-US" sz="5000" b="1" i="1" dirty="0">
                <a:solidFill>
                  <a:srgbClr val="FFD3C2"/>
                </a:solidFill>
                <a:latin typeface="Helvetica Neue" pitchFamily="34" charset="0"/>
                <a:ea typeface="Helvetica Neue" pitchFamily="34" charset="-122"/>
                <a:cs typeface="Helvetica Neue" pitchFamily="34" charset="-120"/>
              </a:rPr>
              <a:t>groot in impact.</a:t>
            </a:r>
            <a:endParaRPr lang="en-US" sz="5000" dirty="0"/>
          </a:p>
        </p:txBody>
      </p:sp>
      <p:sp>
        <p:nvSpPr>
          <p:cNvPr id="6" name="Shape 4"/>
          <p:cNvSpPr/>
          <p:nvPr/>
        </p:nvSpPr>
        <p:spPr>
          <a:xfrm>
            <a:off x="3657600" y="2651760"/>
            <a:ext cx="8046720" cy="3657600"/>
          </a:xfrm>
          <a:prstGeom prst="roundRect">
            <a:avLst>
              <a:gd name="adj" fmla="val 3750"/>
            </a:avLst>
          </a:prstGeom>
          <a:solidFill>
            <a:srgbClr val="0E3F3C"/>
          </a:solidFill>
          <a:ln w="12700">
            <a:solidFill>
              <a:srgbClr val="FFD3C2"/>
            </a:solidFill>
            <a:prstDash val="solid"/>
          </a:ln>
        </p:spPr>
      </p:sp>
      <p:sp>
        <p:nvSpPr>
          <p:cNvPr id="7" name="Text 5"/>
          <p:cNvSpPr/>
          <p:nvPr/>
        </p:nvSpPr>
        <p:spPr>
          <a:xfrm>
            <a:off x="3886200" y="2743200"/>
            <a:ext cx="7772400" cy="365760"/>
          </a:xfrm>
          <a:prstGeom prst="rect">
            <a:avLst/>
          </a:prstGeom>
          <a:noFill/>
          <a:ln/>
        </p:spPr>
        <p:txBody>
          <a:bodyPr wrap="square" rtlCol="0" anchor="ctr"/>
          <a:lstStyle/>
          <a:p>
            <a:pPr indent="0" marL="0">
              <a:buNone/>
            </a:pPr>
            <a:r>
              <a:rPr lang="en-US" sz="1100" b="1" spc="500" kern="0" dirty="0">
                <a:solidFill>
                  <a:srgbClr val="FFD3C2"/>
                </a:solidFill>
                <a:latin typeface="Helvetica" pitchFamily="34" charset="0"/>
                <a:ea typeface="Helvetica" pitchFamily="34" charset="-122"/>
                <a:cs typeface="Helvetica" pitchFamily="34" charset="-120"/>
              </a:rPr>
              <a:t>GEBRUIKTE BRONNEN</a:t>
            </a:r>
            <a:endParaRPr lang="en-US" sz="1100" dirty="0"/>
          </a:p>
        </p:txBody>
      </p:sp>
      <p:sp>
        <p:nvSpPr>
          <p:cNvPr id="8" name="Text 6"/>
          <p:cNvSpPr/>
          <p:nvPr/>
        </p:nvSpPr>
        <p:spPr>
          <a:xfrm>
            <a:off x="3886200" y="3154680"/>
            <a:ext cx="7680960" cy="365760"/>
          </a:xfrm>
          <a:prstGeom prst="rect">
            <a:avLst/>
          </a:prstGeom>
          <a:noFill/>
          <a:ln/>
        </p:spPr>
        <p:txBody>
          <a:bodyPr wrap="square" rtlCol="0" anchor="ctr"/>
          <a:lstStyle/>
          <a:p>
            <a:pPr indent="0" marL="0">
              <a:buNone/>
            </a:pPr>
            <a:r>
              <a:rPr lang="en-US" sz="1050" dirty="0">
                <a:solidFill>
                  <a:srgbClr val="EEECDE"/>
                </a:solidFill>
                <a:latin typeface="Helvetica" pitchFamily="34" charset="0"/>
                <a:ea typeface="Helvetica" pitchFamily="34" charset="-122"/>
                <a:cs typeface="Helvetica" pitchFamily="34" charset="-120"/>
              </a:rPr>
              <a:t>•  Knight, V. F. et al. (2017). Examination of the Evidence Base for Using Visual Activity Schedules. J. of Special Education.</a:t>
            </a:r>
            <a:endParaRPr lang="en-US" sz="1050" dirty="0"/>
          </a:p>
        </p:txBody>
      </p:sp>
      <p:sp>
        <p:nvSpPr>
          <p:cNvPr id="9" name="Text 7"/>
          <p:cNvSpPr/>
          <p:nvPr/>
        </p:nvSpPr>
        <p:spPr>
          <a:xfrm>
            <a:off x="3886200" y="3520440"/>
            <a:ext cx="7680960" cy="365760"/>
          </a:xfrm>
          <a:prstGeom prst="rect">
            <a:avLst/>
          </a:prstGeom>
          <a:noFill/>
          <a:ln/>
        </p:spPr>
        <p:txBody>
          <a:bodyPr wrap="square" rtlCol="0" anchor="ctr"/>
          <a:lstStyle/>
          <a:p>
            <a:pPr indent="0" marL="0">
              <a:buNone/>
            </a:pPr>
            <a:r>
              <a:rPr lang="en-US" sz="1050" dirty="0">
                <a:solidFill>
                  <a:srgbClr val="EEECDE"/>
                </a:solidFill>
                <a:latin typeface="Helvetica" pitchFamily="34" charset="0"/>
                <a:ea typeface="Helvetica" pitchFamily="34" charset="-122"/>
                <a:cs typeface="Helvetica" pitchFamily="34" charset="-120"/>
              </a:rPr>
              <a:t>•  W3C (2024). Making Content Usable for People with Cognitive and Learning Disabilities (COGA).</a:t>
            </a:r>
            <a:endParaRPr lang="en-US" sz="1050" dirty="0"/>
          </a:p>
        </p:txBody>
      </p:sp>
      <p:sp>
        <p:nvSpPr>
          <p:cNvPr id="10" name="Text 8"/>
          <p:cNvSpPr/>
          <p:nvPr/>
        </p:nvSpPr>
        <p:spPr>
          <a:xfrm>
            <a:off x="3886200" y="3886200"/>
            <a:ext cx="7680960" cy="365760"/>
          </a:xfrm>
          <a:prstGeom prst="rect">
            <a:avLst/>
          </a:prstGeom>
          <a:noFill/>
          <a:ln/>
        </p:spPr>
        <p:txBody>
          <a:bodyPr wrap="square" rtlCol="0" anchor="ctr"/>
          <a:lstStyle/>
          <a:p>
            <a:pPr indent="0" marL="0">
              <a:buNone/>
            </a:pPr>
            <a:r>
              <a:rPr lang="en-US" sz="1050" dirty="0">
                <a:solidFill>
                  <a:srgbClr val="EEECDE"/>
                </a:solidFill>
                <a:latin typeface="Helvetica" pitchFamily="34" charset="0"/>
                <a:ea typeface="Helvetica" pitchFamily="34" charset="-122"/>
                <a:cs typeface="Helvetica" pitchFamily="34" charset="-120"/>
              </a:rPr>
              <a:t>•  Saini, V. et al. (2023). App-Based Token Economy for Adults with Developmental Disabilities. Behavior Analysis in Practice.</a:t>
            </a:r>
            <a:endParaRPr lang="en-US" sz="1050" dirty="0"/>
          </a:p>
        </p:txBody>
      </p:sp>
      <p:sp>
        <p:nvSpPr>
          <p:cNvPr id="11" name="Text 9"/>
          <p:cNvSpPr/>
          <p:nvPr/>
        </p:nvSpPr>
        <p:spPr>
          <a:xfrm>
            <a:off x="3886200" y="4251960"/>
            <a:ext cx="7680960" cy="365760"/>
          </a:xfrm>
          <a:prstGeom prst="rect">
            <a:avLst/>
          </a:prstGeom>
          <a:noFill/>
          <a:ln/>
        </p:spPr>
        <p:txBody>
          <a:bodyPr wrap="square" rtlCol="0" anchor="ctr"/>
          <a:lstStyle/>
          <a:p>
            <a:pPr indent="0" marL="0">
              <a:buNone/>
            </a:pPr>
            <a:r>
              <a:rPr lang="en-US" sz="1050" dirty="0">
                <a:solidFill>
                  <a:srgbClr val="EEECDE"/>
                </a:solidFill>
                <a:latin typeface="Helvetica" pitchFamily="34" charset="0"/>
                <a:ea typeface="Helvetica" pitchFamily="34" charset="-122"/>
                <a:cs typeface="Helvetica" pitchFamily="34" charset="-120"/>
              </a:rPr>
              <a:t>•  Emotion Regulation in Children with Intellectual Disabilities (2024-25). Taylor &amp; Francis.</a:t>
            </a:r>
            <a:endParaRPr lang="en-US" sz="1050" dirty="0"/>
          </a:p>
        </p:txBody>
      </p:sp>
      <p:sp>
        <p:nvSpPr>
          <p:cNvPr id="12" name="Text 10"/>
          <p:cNvSpPr/>
          <p:nvPr/>
        </p:nvSpPr>
        <p:spPr>
          <a:xfrm>
            <a:off x="3886200" y="4617720"/>
            <a:ext cx="7680960" cy="365760"/>
          </a:xfrm>
          <a:prstGeom prst="rect">
            <a:avLst/>
          </a:prstGeom>
          <a:noFill/>
          <a:ln/>
        </p:spPr>
        <p:txBody>
          <a:bodyPr wrap="square" rtlCol="0" anchor="ctr"/>
          <a:lstStyle/>
          <a:p>
            <a:pPr indent="0" marL="0">
              <a:buNone/>
            </a:pPr>
            <a:r>
              <a:rPr lang="en-US" sz="1050" dirty="0">
                <a:solidFill>
                  <a:srgbClr val="EEECDE"/>
                </a:solidFill>
                <a:latin typeface="Helvetica" pitchFamily="34" charset="0"/>
                <a:ea typeface="Helvetica" pitchFamily="34" charset="-122"/>
                <a:cs typeface="Helvetica" pitchFamily="34" charset="-120"/>
              </a:rPr>
              <a:t>•  Klavina, A. et al. (2024). Assistive technology to promote practical skills in persons with ASD/ID. SAGE.</a:t>
            </a:r>
            <a:endParaRPr lang="en-US" sz="1050" dirty="0"/>
          </a:p>
        </p:txBody>
      </p:sp>
      <p:sp>
        <p:nvSpPr>
          <p:cNvPr id="13" name="Text 11"/>
          <p:cNvSpPr/>
          <p:nvPr/>
        </p:nvSpPr>
        <p:spPr>
          <a:xfrm>
            <a:off x="3886200" y="4983480"/>
            <a:ext cx="7680960" cy="365760"/>
          </a:xfrm>
          <a:prstGeom prst="rect">
            <a:avLst/>
          </a:prstGeom>
          <a:noFill/>
          <a:ln/>
        </p:spPr>
        <p:txBody>
          <a:bodyPr wrap="square" rtlCol="0" anchor="ctr"/>
          <a:lstStyle/>
          <a:p>
            <a:pPr indent="0" marL="0">
              <a:buNone/>
            </a:pPr>
            <a:r>
              <a:rPr lang="en-US" sz="1050" dirty="0">
                <a:solidFill>
                  <a:srgbClr val="EEECDE"/>
                </a:solidFill>
                <a:latin typeface="Helvetica" pitchFamily="34" charset="0"/>
                <a:ea typeface="Helvetica" pitchFamily="34" charset="-122"/>
                <a:cs typeface="Helvetica" pitchFamily="34" charset="-120"/>
              </a:rPr>
              <a:t>•  Academy Het Dorp (2021). Innovatie-impuls: zelfredzaamheid en sociaal contact via technologie.</a:t>
            </a:r>
            <a:endParaRPr lang="en-US" sz="1050" dirty="0"/>
          </a:p>
        </p:txBody>
      </p:sp>
      <p:sp>
        <p:nvSpPr>
          <p:cNvPr id="14" name="Text 12"/>
          <p:cNvSpPr/>
          <p:nvPr/>
        </p:nvSpPr>
        <p:spPr>
          <a:xfrm>
            <a:off x="3886200" y="5349240"/>
            <a:ext cx="7680960" cy="365760"/>
          </a:xfrm>
          <a:prstGeom prst="rect">
            <a:avLst/>
          </a:prstGeom>
          <a:noFill/>
          <a:ln/>
        </p:spPr>
        <p:txBody>
          <a:bodyPr wrap="square" rtlCol="0" anchor="ctr"/>
          <a:lstStyle/>
          <a:p>
            <a:pPr indent="0" marL="0">
              <a:buNone/>
            </a:pPr>
            <a:r>
              <a:rPr lang="en-US" sz="1050" dirty="0">
                <a:solidFill>
                  <a:srgbClr val="EEECDE"/>
                </a:solidFill>
                <a:latin typeface="Helvetica" pitchFamily="34" charset="0"/>
                <a:ea typeface="Helvetica" pitchFamily="34" charset="-122"/>
                <a:cs typeface="Helvetica" pitchFamily="34" charset="-120"/>
              </a:rPr>
              <a:t>•  Steffie.nl — B1-niveau communicatie voor mensen met een LVB.</a:t>
            </a:r>
            <a:endParaRPr lang="en-US" sz="1050" dirty="0"/>
          </a:p>
        </p:txBody>
      </p:sp>
      <p:sp>
        <p:nvSpPr>
          <p:cNvPr id="15" name="Text 13"/>
          <p:cNvSpPr/>
          <p:nvPr/>
        </p:nvSpPr>
        <p:spPr>
          <a:xfrm>
            <a:off x="3657600" y="6446520"/>
            <a:ext cx="8229600" cy="320040"/>
          </a:xfrm>
          <a:prstGeom prst="rect">
            <a:avLst/>
          </a:prstGeom>
          <a:noFill/>
          <a:ln/>
        </p:spPr>
        <p:txBody>
          <a:bodyPr wrap="square" rtlCol="0" anchor="ctr"/>
          <a:lstStyle/>
          <a:p>
            <a:pPr indent="0" marL="0">
              <a:buNone/>
            </a:pPr>
            <a:r>
              <a:rPr lang="en-US" sz="1100" dirty="0">
                <a:solidFill>
                  <a:srgbClr val="FFD3C2"/>
                </a:solidFill>
                <a:latin typeface="Helvetica" pitchFamily="34" charset="0"/>
                <a:ea typeface="Helvetica" pitchFamily="34" charset="-122"/>
                <a:cs typeface="Helvetica" pitchFamily="34" charset="-120"/>
              </a:rPr>
              <a:t>Evelien Bruns · 2026 · taskbuddy-gilt-one.vercel.app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TaskBuddy — onderbouwd</dc:title>
  <dc:subject>PptxGenJS Presentation</dc:subject>
  <dc:creator>Evelien Bruns</dc:creator>
  <cp:lastModifiedBy>Evelien Bruns</cp:lastModifiedBy>
  <cp:revision>1</cp:revision>
  <dcterms:created xsi:type="dcterms:W3CDTF">2026-06-11T20:01:48Z</dcterms:created>
  <dcterms:modified xsi:type="dcterms:W3CDTF">2026-06-11T20:01:48Z</dcterms:modified>
</cp:coreProperties>
</file>