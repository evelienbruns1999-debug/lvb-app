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Vandaag laat ik TaskBuddy zien. Een app die mensen met een licht verstandelijke beperking helpt hun dag te overzien, en hun begeleider grip geeft.
Belangrijk om vooraf te benoemen: dit is geen losse "leuke app". Elke kernfunctie is gebaseerd op bestaande wetenschappelijke literatuur over technologie en LVB. Dat is wat ik in deze presentatie laat zien. Eerst de app, en daarna per onderdeel waarom we het zo gemaakt hebben.
De presentatie duurt ongeveer 8 minuten. Vragen graag aan het einde.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Nederland hebben 1,1 miljoen mensen een lichte verstandelijke beperking. Voor velen van hen zijn deze vier dingen elke dag een drempel:
1. Taken opbouwen. Stap voor stap een dagelijkse handeling doen.
2. Agenda missen. Overzicht houden over wat er vandaag en morgen komt.
3. Medicijnen vergeten. Vaste momenten zonder externe trigger.
4. Vol hoofd. Plotselinge overprikkeling.
Dit zijn niet "leuke probleempjes om op te lossen met techniek". het zijn de exacte drempels die in de Nederlandse literatuur (Innovatie-impuls Academy Het Dorp, 2021) worden benoemd als belangrijkste obstakels voor zelfredzaamheid.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zit de kern van het verhaal. TaskBuddy is opgebouwd rond vier pijlers uit de literatuur.
Pijler 1: Visual Activity Schedules. Knight en collega's toonden in 2017 aan dat dit een evidence-based practice is voor dagelijkse vaardigheden.
Pijler 2: De W3C richtlijnen voor cognitieve toegankelijkheid: voorspelbaarheid, simpele taal op B1-niveau, kleine stappen.
Pijler 3: App-based token economies. Saini en collega's lieten zien dat dit zelfs tot 6 weken na het stoppen van de interventie nog effect heeft.
Pijler 4: Emotieregulatie. Recente reviews benadrukken: eerst herkennen wat je voelt, dan reguleren. Dit is de basis voor onze "vol hoofd"-feature.
Elke functie die ik straks laat zien koppel ik terug naar één van deze pijlers.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wat de cliënt ziet als hij inlogt. Grote knoppen, één doel per tegel, geen ruis.
Belangrijk: in de cliëntomgeving is geen tekst-zware uitleg. Alles is icoon + woord + spraak. Dit is precies de Steffie-methode die in Nederland al jaren bewezen werkt voor B1-communicatie.
De rechter-tegel. De beloningenboom. Is meer dan decoratie. Het is een visueel anker voor voortgang. Daar kom ik bij slide 7 op terug.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begeleider ziet 10 tegels. Alles binnen handbereik, niets verstopt in menu's. De Rapportage-tegel rechts onderin is nieuw: één klik en de AI levert een conceptrapport.
Rechts zie je de AI-functies. Dit is bewust beperkt en gericht: AI doet hier alleen dingen die de begeleider tíjd besparen. Taken voorstellen, taal vereenvoudigen, een conceptrapportage maken. De begeleider blijft eindverantwoordelijk.
De Innovatie-impuls (Academy Het Dorp, 2021) benoemt expliciet dat technologie in de gehandicaptenzorg vaak faalt omdat het de begeleider méér werk geeft. Hier hebben we omgekeerd ontworpen. De AI verlaagt belasting.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een van de twee verbeteringen die we vanuit de literatuur hebben doorgevoerd.
Vroeger was het simpel: je tikt op "vol hoofd" en je krijgt direct een lijst met rust-activiteiten.
Maar emotieregulatie-onderzoek bij LVB (Tandfonline 2024-2025) laat zien: kinderen en jongeren met een verstandelijke beperking moeten eerst hun gevoel herkennen voordat regulatie effectief is. Dus we hebben de flow uitgebreid naar drie stappen.
Stap 1: hoe voelt het? Drie kernopties. Druk, boos, verdrietig. Bewust beperkt, want te veel keuze geeft beslisstress.
Stap 2: wat helpt? Hier komt de activiteitenlijst.
Stap 3: hielp dit? Een eenvoudige duim omhoog of omlaag.
Deze stap-3 data slaan we op. Over de tijd ziet de begeleider per cliënt welke strategie het beste werkt. Dat is gericht ondersteunen, gepersonaliseerd door echte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tweede verbetering. Voorheen kreeg de cliënt zijn beloning pas als de hele taak. Dus alle stappen. Klaar was. Dat is voor mensen met LVB vaak te ver weg.
Saini en collega's lieten in 2023 zien dat app-based token economies dramatisch effectiever zijn als de beloning direct en frequent komt. Het effect bleef tot zes weken na de interventie aanhouden.
Dus nu krijgt de cliënt bij elke voltooide stap een micro-celebration: korte animatie met sterren, een +1 die opzweeft, en een vriendelijk kort geluid. 0,75 seconde. Niet storend, wel positief versterkend.
Voor de gedragskundige: dit is operant-conditioneringstechniek in zijn meest directe vorm. Positieve bekrachtiging op het moment van het gewenste gedrag.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 de gedragskundige: dit is dé slide om bij stil te staan.
In één tabel: elke kernfunctie van TaskBuddy gekoppeld aan een specifieke bron uit de literatuur. Geen functie staat hier zonder onderbouwing.
Loop even hardop door de drie meest opvallende:
- "Vol hoofd: emotie vóór actie". direct uit recent emotie-regulatie-onderzoek.
- "Beloningenboom met micro-celebrations". token economy literatuur.
- "B1-taalcheck door AI". operationaliseert WCAG-richtlijn 3.1.5.
Vraag of er specifieke functies zijn waar de gedragskundige meer over wil weten. Die kunnen we daarna in detail bespreken.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 slot: wat levert dit de organisatie op?
Vier dingen, met elk een concrete verandering:
1. Minder crisismomenten. Door de emotiekaart vangen we vroeger op wat eraan komt.
2. Snellere rapportage. AI maakt een conceptrapportage; de begeleider stuurt bij.
3. Soepele overdracht. De "op dienst"-tegel maakt op elk moment duidelijk wie de eerste contactpersoon is.
4. Datagedreven beslissingen. Per cliënt zien we wat werkt, niet alleen wat gebeurt.
En de quote rechts vat het samen: een rustig hoofd voor de cliënt, overzicht voor het team. Dat is het doel.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 brengt me bij het slot. "Klein in handen, groot in impact". die tagline vat samen wat we proberen te doen.
Rechts staan de zeven kernbronnen die de basis vormen. Telkens: de inhoudelijke kernuitspraak links, de bron rechts. Zo zie je in één oogopslag welk principe ik waarop baseer.
De drie namen die ik altijd kan terughalen als jullie willen doorvragen: Knight uit 2017 voor visuele schema's, Saini uit 2023 voor het beloningssysteem, en de Innovatie-impuls van Academy Het Dorp uit 2021 voor de Nederlandse context.
Dank voor jullie aandacht. Vragen?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645F"/>
        </a:solidFill>
      </p:bgPr>
    </p:bg>
    <p:spTree>
      <p:nvGrpSpPr>
        <p:cNvPr id="1" name=""/>
        <p:cNvGrpSpPr/>
        <p:nvPr/>
      </p:nvGrpSpPr>
      <p:grpSpPr>
        <a:xfrm>
          <a:off x="0" y="0"/>
          <a:ext cx="0" cy="0"/>
          <a:chOff x="0" y="0"/>
          <a:chExt cx="0" cy="0"/>
        </a:xfrm>
      </p:grpSpPr>
      <p:sp>
        <p:nvSpPr>
          <p:cNvPr id="2" name="Shape 0"/>
          <p:cNvSpPr/>
          <p:nvPr/>
        </p:nvSpPr>
        <p:spPr>
          <a:xfrm>
            <a:off x="8686800" y="-1828800"/>
            <a:ext cx="7315200" cy="7315200"/>
          </a:xfrm>
          <a:prstGeom prst="ellipse">
            <a:avLst/>
          </a:prstGeom>
          <a:solidFill>
            <a:srgbClr val="0E3F3C"/>
          </a:solidFill>
          <a:ln w="12700">
            <a:solidFill>
              <a:srgbClr val="0E3F3C"/>
            </a:solidFill>
            <a:prstDash val="solid"/>
          </a:ln>
        </p:spPr>
      </p:sp>
      <p:sp>
        <p:nvSpPr>
          <p:cNvPr id="3" name="Shape 1"/>
          <p:cNvSpPr/>
          <p:nvPr/>
        </p:nvSpPr>
        <p:spPr>
          <a:xfrm>
            <a:off x="9601200" y="-914400"/>
            <a:ext cx="4572000" cy="4572000"/>
          </a:xfrm>
          <a:prstGeom prst="ellipse">
            <a:avLst/>
          </a:prstGeom>
          <a:solidFill>
            <a:srgbClr val="80A599"/>
          </a:solidFill>
          <a:ln w="12700">
            <a:solidFill>
              <a:srgbClr val="80A599"/>
            </a:solidFill>
            <a:prstDash val="solid"/>
          </a:ln>
        </p:spPr>
      </p:sp>
      <p:sp>
        <p:nvSpPr>
          <p:cNvPr id="4" name="Shape 2"/>
          <p:cNvSpPr/>
          <p:nvPr/>
        </p:nvSpPr>
        <p:spPr>
          <a:xfrm>
            <a:off x="914400" y="5303520"/>
            <a:ext cx="365760" cy="365760"/>
          </a:xfrm>
          <a:prstGeom prst="ellipse">
            <a:avLst/>
          </a:prstGeom>
          <a:solidFill>
            <a:srgbClr val="FFD3C2"/>
          </a:solidFill>
          <a:ln w="12700">
            <a:solidFill>
              <a:srgbClr val="FFD3C2"/>
            </a:solidFill>
            <a:prstDash val="solid"/>
          </a:ln>
        </p:spPr>
      </p:sp>
      <p:sp>
        <p:nvSpPr>
          <p:cNvPr id="5" name="Shape 3"/>
          <p:cNvSpPr/>
          <p:nvPr/>
        </p:nvSpPr>
        <p:spPr>
          <a:xfrm>
            <a:off x="1463040" y="5669280"/>
            <a:ext cx="201168" cy="201168"/>
          </a:xfrm>
          <a:prstGeom prst="ellipse">
            <a:avLst/>
          </a:prstGeom>
          <a:solidFill>
            <a:srgbClr val="E0805A"/>
          </a:solidFill>
          <a:ln w="12700">
            <a:solidFill>
              <a:srgbClr val="E0805A"/>
            </a:solidFill>
            <a:prstDash val="solid"/>
          </a:ln>
        </p:spPr>
      </p:sp>
      <p:sp>
        <p:nvSpPr>
          <p:cNvPr id="6" name="Shape 4"/>
          <p:cNvSpPr/>
          <p:nvPr/>
        </p:nvSpPr>
        <p:spPr>
          <a:xfrm>
            <a:off x="822960" y="1280160"/>
            <a:ext cx="2743200" cy="365760"/>
          </a:xfrm>
          <a:prstGeom prst="roundRect">
            <a:avLst>
              <a:gd name="adj" fmla="val 50000"/>
            </a:avLst>
          </a:prstGeom>
          <a:solidFill>
            <a:srgbClr val="FFD3C2"/>
          </a:solidFill>
          <a:ln w="12700">
            <a:solidFill>
              <a:srgbClr val="FFD3C2"/>
            </a:solidFill>
            <a:prstDash val="solid"/>
          </a:ln>
        </p:spPr>
      </p:sp>
      <p:sp>
        <p:nvSpPr>
          <p:cNvPr id="7" name="Text 5"/>
          <p:cNvSpPr/>
          <p:nvPr/>
        </p:nvSpPr>
        <p:spPr>
          <a:xfrm>
            <a:off x="822960" y="1280160"/>
            <a:ext cx="2743200" cy="365760"/>
          </a:xfrm>
          <a:prstGeom prst="rect">
            <a:avLst/>
          </a:prstGeom>
          <a:noFill/>
          <a:ln/>
        </p:spPr>
        <p:txBody>
          <a:bodyPr wrap="square" rtlCol="0" anchor="ctr"/>
          <a:lstStyle/>
          <a:p>
            <a:pPr algn="ctr" indent="0" marL="0">
              <a:buNone/>
            </a:pPr>
            <a:r>
              <a:rPr lang="en-US" sz="1000" b="1" spc="400" kern="0" dirty="0">
                <a:solidFill>
                  <a:srgbClr val="0E3F3C"/>
                </a:solidFill>
                <a:latin typeface="Helvetica" pitchFamily="34" charset="0"/>
                <a:ea typeface="Helvetica" pitchFamily="34" charset="-122"/>
                <a:cs typeface="Helvetica" pitchFamily="34" charset="-120"/>
              </a:rPr>
              <a:t>EVIDENCE-BASED · LVB</a:t>
            </a:r>
            <a:endParaRPr lang="en-US" sz="1000" dirty="0"/>
          </a:p>
        </p:txBody>
      </p:sp>
      <p:sp>
        <p:nvSpPr>
          <p:cNvPr id="8" name="Text 6"/>
          <p:cNvSpPr/>
          <p:nvPr/>
        </p:nvSpPr>
        <p:spPr>
          <a:xfrm>
            <a:off x="777240" y="1828800"/>
            <a:ext cx="7772400" cy="1280160"/>
          </a:xfrm>
          <a:prstGeom prst="rect">
            <a:avLst/>
          </a:prstGeom>
          <a:noFill/>
          <a:ln/>
        </p:spPr>
        <p:txBody>
          <a:bodyPr wrap="square" rtlCol="0" anchor="ctr"/>
          <a:lstStyle/>
          <a:p>
            <a:pPr indent="0" marL="0">
              <a:buNone/>
            </a:pPr>
            <a:r>
              <a:rPr lang="en-US" sz="8800" b="1" dirty="0">
                <a:solidFill>
                  <a:srgbClr val="FFFFFF"/>
                </a:solidFill>
                <a:latin typeface="Helvetica Neue" pitchFamily="34" charset="0"/>
                <a:ea typeface="Helvetica Neue" pitchFamily="34" charset="-122"/>
                <a:cs typeface="Helvetica Neue" pitchFamily="34" charset="-120"/>
              </a:rPr>
              <a:t>TaskBuddy</a:t>
            </a:r>
            <a:endParaRPr lang="en-US" sz="8800" dirty="0"/>
          </a:p>
        </p:txBody>
      </p:sp>
      <p:sp>
        <p:nvSpPr>
          <p:cNvPr id="9" name="Text 7"/>
          <p:cNvSpPr/>
          <p:nvPr/>
        </p:nvSpPr>
        <p:spPr>
          <a:xfrm>
            <a:off x="822960" y="3291840"/>
            <a:ext cx="7772400" cy="1280160"/>
          </a:xfrm>
          <a:prstGeom prst="rect">
            <a:avLst/>
          </a:prstGeom>
          <a:noFill/>
          <a:ln/>
        </p:spPr>
        <p:txBody>
          <a:bodyPr wrap="square" rtlCol="0" anchor="ctr"/>
          <a:lstStyle/>
          <a:p>
            <a:pPr indent="0" marL="0">
              <a:buNone/>
            </a:pPr>
            <a:r>
              <a:rPr lang="en-US" sz="2200" i="1" dirty="0">
                <a:solidFill>
                  <a:srgbClr val="EEECDE"/>
                </a:solidFill>
                <a:latin typeface="Helvetica Neue" pitchFamily="34" charset="0"/>
                <a:ea typeface="Helvetica Neue" pitchFamily="34" charset="-122"/>
                <a:cs typeface="Helvetica Neue" pitchFamily="34" charset="-120"/>
              </a:rPr>
              <a:t>Dagstructuur voor mensen met een licht</a:t>
            </a:r>
            <a:endParaRPr lang="en-US" sz="2200" dirty="0"/>
          </a:p>
          <a:p>
            <a:pPr indent="0" marL="0">
              <a:buNone/>
            </a:pPr>
            <a:r>
              <a:rPr lang="en-US" sz="2200" i="1" dirty="0">
                <a:solidFill>
                  <a:srgbClr val="EEECDE"/>
                </a:solidFill>
                <a:latin typeface="Helvetica Neue" pitchFamily="34" charset="0"/>
                <a:ea typeface="Helvetica Neue" pitchFamily="34" charset="-122"/>
                <a:cs typeface="Helvetica Neue" pitchFamily="34" charset="-120"/>
              </a:rPr>
              <a:t>Verstandelijke beperking</a:t>
            </a:r>
            <a:endParaRPr lang="en-US" sz="2200" dirty="0"/>
          </a:p>
        </p:txBody>
      </p:sp>
      <p:sp>
        <p:nvSpPr>
          <p:cNvPr id="10" name="Text 8"/>
          <p:cNvSpPr/>
          <p:nvPr/>
        </p:nvSpPr>
        <p:spPr>
          <a:xfrm>
            <a:off x="822960" y="5029200"/>
            <a:ext cx="7772400" cy="365760"/>
          </a:xfrm>
          <a:prstGeom prst="rect">
            <a:avLst/>
          </a:prstGeom>
          <a:noFill/>
          <a:ln/>
        </p:spPr>
        <p:txBody>
          <a:bodyPr wrap="square" rtlCol="0" anchor="ctr"/>
          <a:lstStyle/>
          <a:p>
            <a:pPr indent="0" marL="0">
              <a:buNone/>
            </a:pPr>
            <a:r>
              <a:rPr lang="en-US" sz="1300" dirty="0">
                <a:solidFill>
                  <a:srgbClr val="FFD3C2"/>
                </a:solidFill>
                <a:latin typeface="Helvetica" pitchFamily="34" charset="0"/>
                <a:ea typeface="Helvetica" pitchFamily="34" charset="-122"/>
                <a:cs typeface="Helvetica" pitchFamily="34" charset="-120"/>
              </a:rPr>
              <a:t>Onderbouwd met internationale en Nederlandse literatuur</a:t>
            </a:r>
            <a:endParaRPr lang="en-US" sz="1300" dirty="0"/>
          </a:p>
        </p:txBody>
      </p:sp>
      <p:sp>
        <p:nvSpPr>
          <p:cNvPr id="11" name="Text 9"/>
          <p:cNvSpPr/>
          <p:nvPr/>
        </p:nvSpPr>
        <p:spPr>
          <a:xfrm>
            <a:off x="822960" y="5852160"/>
            <a:ext cx="3657600" cy="365760"/>
          </a:xfrm>
          <a:prstGeom prst="rect">
            <a:avLst/>
          </a:prstGeom>
          <a:noFill/>
          <a:ln/>
        </p:spPr>
        <p:txBody>
          <a:bodyPr wrap="square" rtlCol="0" anchor="ctr"/>
          <a:lstStyle/>
          <a:p>
            <a:pPr indent="0" marL="0">
              <a:buNone/>
            </a:pPr>
            <a:r>
              <a:rPr lang="en-US" sz="1300" dirty="0">
                <a:solidFill>
                  <a:srgbClr val="EEECDE"/>
                </a:solidFill>
                <a:latin typeface="Helvetica" pitchFamily="34" charset="0"/>
                <a:ea typeface="Helvetica" pitchFamily="34" charset="-122"/>
                <a:cs typeface="Helvetica" pitchFamily="34" charset="-120"/>
              </a:rPr>
              <a:t>Evelien Bruns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01 · CONTEXT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Waar lopen ze tegenaan?</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Vier terugkerende drempels in het dagelijks leven.</a:t>
            </a:r>
            <a:endParaRPr lang="en-US" sz="1500" dirty="0"/>
          </a:p>
        </p:txBody>
      </p:sp>
      <p:sp>
        <p:nvSpPr>
          <p:cNvPr id="5" name="Shape 3"/>
          <p:cNvSpPr/>
          <p:nvPr/>
        </p:nvSpPr>
        <p:spPr>
          <a:xfrm>
            <a:off x="9144000" y="822960"/>
            <a:ext cx="2560320" cy="1371600"/>
          </a:xfrm>
          <a:prstGeom prst="roundRect">
            <a:avLst>
              <a:gd name="adj" fmla="val 10000"/>
            </a:avLst>
          </a:prstGeom>
          <a:solidFill>
            <a:srgbClr val="16645F"/>
          </a:solidFill>
          <a:ln w="12700">
            <a:solidFill>
              <a:srgbClr val="16645F"/>
            </a:solidFill>
            <a:prstDash val="solid"/>
          </a:ln>
        </p:spPr>
      </p:sp>
      <p:sp>
        <p:nvSpPr>
          <p:cNvPr id="6" name="Text 4"/>
          <p:cNvSpPr/>
          <p:nvPr/>
        </p:nvSpPr>
        <p:spPr>
          <a:xfrm>
            <a:off x="9144000" y="868680"/>
            <a:ext cx="2560320" cy="640080"/>
          </a:xfrm>
          <a:prstGeom prst="rect">
            <a:avLst/>
          </a:prstGeom>
          <a:noFill/>
          <a:ln/>
        </p:spPr>
        <p:txBody>
          <a:bodyPr wrap="square" rtlCol="0" anchor="ctr"/>
          <a:lstStyle/>
          <a:p>
            <a:pPr algn="ctr" indent="0" marL="0">
              <a:buNone/>
            </a:pPr>
            <a:r>
              <a:rPr lang="en-US" sz="3600" b="1" dirty="0">
                <a:solidFill>
                  <a:srgbClr val="FFFFFF"/>
                </a:solidFill>
                <a:latin typeface="Helvetica Neue" pitchFamily="34" charset="0"/>
                <a:ea typeface="Helvetica Neue" pitchFamily="34" charset="-122"/>
                <a:cs typeface="Helvetica Neue" pitchFamily="34" charset="-120"/>
              </a:rPr>
              <a:t>1,1 mln</a:t>
            </a:r>
            <a:endParaRPr lang="en-US" sz="3600" dirty="0"/>
          </a:p>
        </p:txBody>
      </p:sp>
      <p:sp>
        <p:nvSpPr>
          <p:cNvPr id="7" name="Text 5"/>
          <p:cNvSpPr/>
          <p:nvPr/>
        </p:nvSpPr>
        <p:spPr>
          <a:xfrm>
            <a:off x="9144000" y="1554480"/>
            <a:ext cx="2560320" cy="548640"/>
          </a:xfrm>
          <a:prstGeom prst="rect">
            <a:avLst/>
          </a:prstGeom>
          <a:noFill/>
          <a:ln/>
        </p:spPr>
        <p:txBody>
          <a:bodyPr wrap="square" rtlCol="0" anchor="ctr"/>
          <a:lstStyle/>
          <a:p>
            <a:pPr algn="ctr" indent="0" marL="0">
              <a:buNone/>
            </a:pPr>
            <a:r>
              <a:rPr lang="en-US" sz="1100" i="1" dirty="0">
                <a:solidFill>
                  <a:srgbClr val="EEECDE"/>
                </a:solidFill>
                <a:latin typeface="Helvetica" pitchFamily="34" charset="0"/>
                <a:ea typeface="Helvetica" pitchFamily="34" charset="-122"/>
                <a:cs typeface="Helvetica" pitchFamily="34" charset="-120"/>
              </a:rPr>
              <a:t>mensen in NL met een LVB</a:t>
            </a:r>
            <a:endParaRPr lang="en-US" sz="1100" dirty="0"/>
          </a:p>
        </p:txBody>
      </p:sp>
      <p:sp>
        <p:nvSpPr>
          <p:cNvPr id="8" name="Shape 6"/>
          <p:cNvSpPr/>
          <p:nvPr/>
        </p:nvSpPr>
        <p:spPr>
          <a:xfrm>
            <a:off x="548640" y="2743200"/>
            <a:ext cx="5212080" cy="1691640"/>
          </a:xfrm>
          <a:prstGeom prst="roundRect">
            <a:avLst>
              <a:gd name="adj" fmla="val 8108"/>
            </a:avLst>
          </a:prstGeom>
          <a:solidFill>
            <a:srgbClr val="FFFFFF"/>
          </a:solidFill>
          <a:ln w="12700">
            <a:solidFill>
              <a:srgbClr val="DCD8C8"/>
            </a:solidFill>
            <a:prstDash val="solid"/>
          </a:ln>
        </p:spPr>
      </p:sp>
      <p:sp>
        <p:nvSpPr>
          <p:cNvPr id="9" name="Shape 7"/>
          <p:cNvSpPr/>
          <p:nvPr/>
        </p:nvSpPr>
        <p:spPr>
          <a:xfrm>
            <a:off x="822960" y="3017520"/>
            <a:ext cx="777240" cy="777240"/>
          </a:xfrm>
          <a:prstGeom prst="ellipse">
            <a:avLst/>
          </a:prstGeom>
          <a:solidFill>
            <a:srgbClr val="FFD3C2"/>
          </a:solidFill>
          <a:ln w="12700">
            <a:solidFill>
              <a:srgbClr val="FFD3C2"/>
            </a:solidFill>
            <a:prstDash val="solid"/>
          </a:ln>
        </p:spPr>
      </p:sp>
      <p:sp>
        <p:nvSpPr>
          <p:cNvPr id="10" name="Text 8"/>
          <p:cNvSpPr/>
          <p:nvPr/>
        </p:nvSpPr>
        <p:spPr>
          <a:xfrm>
            <a:off x="822960" y="301752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1" name="Text 9"/>
          <p:cNvSpPr/>
          <p:nvPr/>
        </p:nvSpPr>
        <p:spPr>
          <a:xfrm>
            <a:off x="1783080" y="303580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Taken opbouwen</a:t>
            </a:r>
            <a:endParaRPr lang="en-US" sz="1800" dirty="0"/>
          </a:p>
        </p:txBody>
      </p:sp>
      <p:sp>
        <p:nvSpPr>
          <p:cNvPr id="12" name="Text 10"/>
          <p:cNvSpPr/>
          <p:nvPr/>
        </p:nvSpPr>
        <p:spPr>
          <a:xfrm>
            <a:off x="1783080" y="347472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Stappen overzien valt vaak weg, met als gevolg afbreken of frustratie.</a:t>
            </a:r>
            <a:endParaRPr lang="en-US" sz="1200" dirty="0"/>
          </a:p>
        </p:txBody>
      </p:sp>
      <p:sp>
        <p:nvSpPr>
          <p:cNvPr id="13" name="Shape 11"/>
          <p:cNvSpPr/>
          <p:nvPr/>
        </p:nvSpPr>
        <p:spPr>
          <a:xfrm>
            <a:off x="6035040" y="2743200"/>
            <a:ext cx="5212080" cy="1691640"/>
          </a:xfrm>
          <a:prstGeom prst="roundRect">
            <a:avLst>
              <a:gd name="adj" fmla="val 8108"/>
            </a:avLst>
          </a:prstGeom>
          <a:solidFill>
            <a:srgbClr val="FFFFFF"/>
          </a:solidFill>
          <a:ln w="12700">
            <a:solidFill>
              <a:srgbClr val="DCD8C8"/>
            </a:solidFill>
            <a:prstDash val="solid"/>
          </a:ln>
        </p:spPr>
      </p:sp>
      <p:sp>
        <p:nvSpPr>
          <p:cNvPr id="14" name="Shape 12"/>
          <p:cNvSpPr/>
          <p:nvPr/>
        </p:nvSpPr>
        <p:spPr>
          <a:xfrm>
            <a:off x="6309360" y="3017520"/>
            <a:ext cx="777240" cy="777240"/>
          </a:xfrm>
          <a:prstGeom prst="ellipse">
            <a:avLst/>
          </a:prstGeom>
          <a:solidFill>
            <a:srgbClr val="FFD3C2"/>
          </a:solidFill>
          <a:ln w="12700">
            <a:solidFill>
              <a:srgbClr val="FFD3C2"/>
            </a:solidFill>
            <a:prstDash val="solid"/>
          </a:ln>
        </p:spPr>
      </p:sp>
      <p:sp>
        <p:nvSpPr>
          <p:cNvPr id="15" name="Text 13"/>
          <p:cNvSpPr/>
          <p:nvPr/>
        </p:nvSpPr>
        <p:spPr>
          <a:xfrm>
            <a:off x="6309360" y="301752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6" name="Text 14"/>
          <p:cNvSpPr/>
          <p:nvPr/>
        </p:nvSpPr>
        <p:spPr>
          <a:xfrm>
            <a:off x="7269480" y="303580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Agenda missen</a:t>
            </a:r>
            <a:endParaRPr lang="en-US" sz="1800" dirty="0"/>
          </a:p>
        </p:txBody>
      </p:sp>
      <p:sp>
        <p:nvSpPr>
          <p:cNvPr id="17" name="Text 15"/>
          <p:cNvSpPr/>
          <p:nvPr/>
        </p:nvSpPr>
        <p:spPr>
          <a:xfrm>
            <a:off x="7269480" y="347472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Wat komt er vandaag? Wat morgen? Het overzicht verdwijnt snel.</a:t>
            </a:r>
            <a:endParaRPr lang="en-US" sz="1200" dirty="0"/>
          </a:p>
        </p:txBody>
      </p:sp>
      <p:sp>
        <p:nvSpPr>
          <p:cNvPr id="18" name="Shape 16"/>
          <p:cNvSpPr/>
          <p:nvPr/>
        </p:nvSpPr>
        <p:spPr>
          <a:xfrm>
            <a:off x="548640" y="4663440"/>
            <a:ext cx="5212080" cy="1691640"/>
          </a:xfrm>
          <a:prstGeom prst="roundRect">
            <a:avLst>
              <a:gd name="adj" fmla="val 8108"/>
            </a:avLst>
          </a:prstGeom>
          <a:solidFill>
            <a:srgbClr val="FFFFFF"/>
          </a:solidFill>
          <a:ln w="12700">
            <a:solidFill>
              <a:srgbClr val="DCD8C8"/>
            </a:solidFill>
            <a:prstDash val="solid"/>
          </a:ln>
        </p:spPr>
      </p:sp>
      <p:sp>
        <p:nvSpPr>
          <p:cNvPr id="19" name="Shape 17"/>
          <p:cNvSpPr/>
          <p:nvPr/>
        </p:nvSpPr>
        <p:spPr>
          <a:xfrm>
            <a:off x="822960" y="4937760"/>
            <a:ext cx="777240" cy="777240"/>
          </a:xfrm>
          <a:prstGeom prst="ellipse">
            <a:avLst/>
          </a:prstGeom>
          <a:solidFill>
            <a:srgbClr val="FFD3C2"/>
          </a:solidFill>
          <a:ln w="12700">
            <a:solidFill>
              <a:srgbClr val="FFD3C2"/>
            </a:solidFill>
            <a:prstDash val="solid"/>
          </a:ln>
        </p:spPr>
      </p:sp>
      <p:sp>
        <p:nvSpPr>
          <p:cNvPr id="20" name="Text 18"/>
          <p:cNvSpPr/>
          <p:nvPr/>
        </p:nvSpPr>
        <p:spPr>
          <a:xfrm>
            <a:off x="822960" y="493776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1" name="Text 19"/>
          <p:cNvSpPr/>
          <p:nvPr/>
        </p:nvSpPr>
        <p:spPr>
          <a:xfrm>
            <a:off x="1783080" y="495604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Medicijnen vergeten</a:t>
            </a:r>
            <a:endParaRPr lang="en-US" sz="1800" dirty="0"/>
          </a:p>
        </p:txBody>
      </p:sp>
      <p:sp>
        <p:nvSpPr>
          <p:cNvPr id="22" name="Text 20"/>
          <p:cNvSpPr/>
          <p:nvPr/>
        </p:nvSpPr>
        <p:spPr>
          <a:xfrm>
            <a:off x="1783080" y="539496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Vaste momenten worden niet meer herinnerd zonder externe trigger.</a:t>
            </a:r>
            <a:endParaRPr lang="en-US" sz="1200" dirty="0"/>
          </a:p>
        </p:txBody>
      </p:sp>
      <p:sp>
        <p:nvSpPr>
          <p:cNvPr id="23" name="Shape 21"/>
          <p:cNvSpPr/>
          <p:nvPr/>
        </p:nvSpPr>
        <p:spPr>
          <a:xfrm>
            <a:off x="6035040" y="4663440"/>
            <a:ext cx="5212080" cy="1691640"/>
          </a:xfrm>
          <a:prstGeom prst="roundRect">
            <a:avLst>
              <a:gd name="adj" fmla="val 8108"/>
            </a:avLst>
          </a:prstGeom>
          <a:solidFill>
            <a:srgbClr val="FFFFFF"/>
          </a:solidFill>
          <a:ln w="12700">
            <a:solidFill>
              <a:srgbClr val="DCD8C8"/>
            </a:solidFill>
            <a:prstDash val="solid"/>
          </a:ln>
        </p:spPr>
      </p:sp>
      <p:sp>
        <p:nvSpPr>
          <p:cNvPr id="24" name="Shape 22"/>
          <p:cNvSpPr/>
          <p:nvPr/>
        </p:nvSpPr>
        <p:spPr>
          <a:xfrm>
            <a:off x="6309360" y="4937760"/>
            <a:ext cx="777240" cy="777240"/>
          </a:xfrm>
          <a:prstGeom prst="ellipse">
            <a:avLst/>
          </a:prstGeom>
          <a:solidFill>
            <a:srgbClr val="FFD3C2"/>
          </a:solidFill>
          <a:ln w="12700">
            <a:solidFill>
              <a:srgbClr val="FFD3C2"/>
            </a:solidFill>
            <a:prstDash val="solid"/>
          </a:ln>
        </p:spPr>
      </p:sp>
      <p:sp>
        <p:nvSpPr>
          <p:cNvPr id="25" name="Text 23"/>
          <p:cNvSpPr/>
          <p:nvPr/>
        </p:nvSpPr>
        <p:spPr>
          <a:xfrm>
            <a:off x="6309360" y="493776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6" name="Text 24"/>
          <p:cNvSpPr/>
          <p:nvPr/>
        </p:nvSpPr>
        <p:spPr>
          <a:xfrm>
            <a:off x="7269480" y="495604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Vol hoofd</a:t>
            </a:r>
            <a:endParaRPr lang="en-US" sz="1800" dirty="0"/>
          </a:p>
        </p:txBody>
      </p:sp>
      <p:sp>
        <p:nvSpPr>
          <p:cNvPr id="27" name="Text 25"/>
          <p:cNvSpPr/>
          <p:nvPr/>
        </p:nvSpPr>
        <p:spPr>
          <a:xfrm>
            <a:off x="7269480" y="539496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Overprikkeling slaat plotseling toe. Er is dan rust en houvast nodig.</a:t>
            </a:r>
            <a:endParaRPr lang="en-US" sz="1200" dirty="0"/>
          </a:p>
        </p:txBody>
      </p:sp>
      <p:sp>
        <p:nvSpPr>
          <p:cNvPr id="28" name="Shape 26"/>
          <p:cNvSpPr/>
          <p:nvPr/>
        </p:nvSpPr>
        <p:spPr>
          <a:xfrm>
            <a:off x="411480" y="6446520"/>
            <a:ext cx="228600" cy="228600"/>
          </a:xfrm>
          <a:prstGeom prst="ellipse">
            <a:avLst/>
          </a:prstGeom>
          <a:solidFill>
            <a:srgbClr val="16645F"/>
          </a:solidFill>
          <a:ln w="12700">
            <a:solidFill>
              <a:srgbClr val="16645F"/>
            </a:solidFill>
            <a:prstDash val="solid"/>
          </a:ln>
        </p:spPr>
      </p:sp>
      <p:sp>
        <p:nvSpPr>
          <p:cNvPr id="29" name="Text 27"/>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0" name="Text 28"/>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02 · THEORETISCH KADER</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Vier wetenschappelijke pijlers</a:t>
            </a:r>
            <a:endParaRPr lang="en-US" sz="3400" dirty="0"/>
          </a:p>
        </p:txBody>
      </p:sp>
      <p:sp>
        <p:nvSpPr>
          <p:cNvPr id="4" name="Text 2"/>
          <p:cNvSpPr/>
          <p:nvPr/>
        </p:nvSpPr>
        <p:spPr>
          <a:xfrm>
            <a:off x="548640" y="1783080"/>
            <a:ext cx="109728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De architectuur van TaskBuddy rust op evidence-based principes.</a:t>
            </a:r>
            <a:endParaRPr lang="en-US" sz="1500" dirty="0"/>
          </a:p>
        </p:txBody>
      </p:sp>
      <p:sp>
        <p:nvSpPr>
          <p:cNvPr id="5" name="Shape 3"/>
          <p:cNvSpPr/>
          <p:nvPr/>
        </p:nvSpPr>
        <p:spPr>
          <a:xfrm>
            <a:off x="548640" y="2331720"/>
            <a:ext cx="2743200" cy="3657600"/>
          </a:xfrm>
          <a:prstGeom prst="roundRect">
            <a:avLst>
              <a:gd name="adj" fmla="val 5000"/>
            </a:avLst>
          </a:prstGeom>
          <a:solidFill>
            <a:srgbClr val="B2DCFA"/>
          </a:solidFill>
          <a:ln w="12700">
            <a:solidFill>
              <a:srgbClr val="B2DCFA"/>
            </a:solidFill>
            <a:prstDash val="solid"/>
          </a:ln>
        </p:spPr>
      </p:sp>
      <p:sp>
        <p:nvSpPr>
          <p:cNvPr id="6" name="Shape 4"/>
          <p:cNvSpPr/>
          <p:nvPr/>
        </p:nvSpPr>
        <p:spPr>
          <a:xfrm>
            <a:off x="548640" y="2331720"/>
            <a:ext cx="2743200" cy="57150"/>
          </a:xfrm>
          <a:prstGeom prst="rect">
            <a:avLst/>
          </a:prstGeom>
          <a:solidFill>
            <a:srgbClr val="7FA4C6"/>
          </a:solidFill>
          <a:ln w="12700">
            <a:solidFill>
              <a:srgbClr val="7FA4C6"/>
            </a:solidFill>
            <a:prstDash val="solid"/>
          </a:ln>
        </p:spPr>
      </p:sp>
      <p:sp>
        <p:nvSpPr>
          <p:cNvPr id="7" name="Text 5"/>
          <p:cNvSpPr/>
          <p:nvPr/>
        </p:nvSpPr>
        <p:spPr>
          <a:xfrm>
            <a:off x="82296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1</a:t>
            </a:r>
            <a:endParaRPr lang="en-US" sz="4000" dirty="0"/>
          </a:p>
        </p:txBody>
      </p:sp>
      <p:sp>
        <p:nvSpPr>
          <p:cNvPr id="8" name="Text 6"/>
          <p:cNvSpPr/>
          <p:nvPr/>
        </p:nvSpPr>
        <p:spPr>
          <a:xfrm>
            <a:off x="82296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Visual Activity Schedules</a:t>
            </a:r>
            <a:endParaRPr lang="en-US" sz="1600" dirty="0"/>
          </a:p>
        </p:txBody>
      </p:sp>
      <p:sp>
        <p:nvSpPr>
          <p:cNvPr id="9" name="Text 7"/>
          <p:cNvSpPr/>
          <p:nvPr/>
        </p:nvSpPr>
        <p:spPr>
          <a:xfrm>
            <a:off x="82296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Visuele schema's verhogen zelfstandigheid bij dagelijkse vaardigheden. Bewezen effectief.</a:t>
            </a:r>
            <a:endParaRPr lang="en-US" sz="1150" dirty="0"/>
          </a:p>
        </p:txBody>
      </p:sp>
      <p:sp>
        <p:nvSpPr>
          <p:cNvPr id="10" name="Shape 8"/>
          <p:cNvSpPr/>
          <p:nvPr/>
        </p:nvSpPr>
        <p:spPr>
          <a:xfrm>
            <a:off x="822960" y="5486400"/>
            <a:ext cx="2194560" cy="0"/>
          </a:xfrm>
          <a:prstGeom prst="line">
            <a:avLst/>
          </a:prstGeom>
          <a:noFill/>
          <a:ln w="12700">
            <a:solidFill>
              <a:srgbClr val="0E3F3C"/>
            </a:solidFill>
            <a:prstDash val="solid"/>
          </a:ln>
        </p:spPr>
      </p:sp>
      <p:sp>
        <p:nvSpPr>
          <p:cNvPr id="11" name="Text 9"/>
          <p:cNvSpPr/>
          <p:nvPr/>
        </p:nvSpPr>
        <p:spPr>
          <a:xfrm>
            <a:off x="82296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Knight et al., 2017</a:t>
            </a:r>
            <a:endParaRPr lang="en-US" sz="1000" dirty="0"/>
          </a:p>
        </p:txBody>
      </p:sp>
      <p:sp>
        <p:nvSpPr>
          <p:cNvPr id="12" name="Shape 10"/>
          <p:cNvSpPr/>
          <p:nvPr/>
        </p:nvSpPr>
        <p:spPr>
          <a:xfrm>
            <a:off x="3429000" y="2331720"/>
            <a:ext cx="2743200" cy="3657600"/>
          </a:xfrm>
          <a:prstGeom prst="roundRect">
            <a:avLst>
              <a:gd name="adj" fmla="val 5000"/>
            </a:avLst>
          </a:prstGeom>
          <a:solidFill>
            <a:srgbClr val="E0FE9C"/>
          </a:solidFill>
          <a:ln w="12700">
            <a:solidFill>
              <a:srgbClr val="E0FE9C"/>
            </a:solidFill>
            <a:prstDash val="solid"/>
          </a:ln>
        </p:spPr>
      </p:sp>
      <p:sp>
        <p:nvSpPr>
          <p:cNvPr id="13" name="Shape 11"/>
          <p:cNvSpPr/>
          <p:nvPr/>
        </p:nvSpPr>
        <p:spPr>
          <a:xfrm>
            <a:off x="3429000" y="2331720"/>
            <a:ext cx="2743200" cy="57150"/>
          </a:xfrm>
          <a:prstGeom prst="rect">
            <a:avLst/>
          </a:prstGeom>
          <a:solidFill>
            <a:srgbClr val="80A599"/>
          </a:solidFill>
          <a:ln w="12700">
            <a:solidFill>
              <a:srgbClr val="80A599"/>
            </a:solidFill>
            <a:prstDash val="solid"/>
          </a:ln>
        </p:spPr>
      </p:sp>
      <p:sp>
        <p:nvSpPr>
          <p:cNvPr id="14" name="Text 12"/>
          <p:cNvSpPr/>
          <p:nvPr/>
        </p:nvSpPr>
        <p:spPr>
          <a:xfrm>
            <a:off x="370332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2</a:t>
            </a:r>
            <a:endParaRPr lang="en-US" sz="4000" dirty="0"/>
          </a:p>
        </p:txBody>
      </p:sp>
      <p:sp>
        <p:nvSpPr>
          <p:cNvPr id="15" name="Text 13"/>
          <p:cNvSpPr/>
          <p:nvPr/>
        </p:nvSpPr>
        <p:spPr>
          <a:xfrm>
            <a:off x="370332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WCAG · W3C COGA</a:t>
            </a:r>
            <a:endParaRPr lang="en-US" sz="1600" dirty="0"/>
          </a:p>
        </p:txBody>
      </p:sp>
      <p:sp>
        <p:nvSpPr>
          <p:cNvPr id="16" name="Text 14"/>
          <p:cNvSpPr/>
          <p:nvPr/>
        </p:nvSpPr>
        <p:spPr>
          <a:xfrm>
            <a:off x="370332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Cognitieve toegankelijkheid: voorspelbaar, simpele taal (B1), kleine stappen.</a:t>
            </a:r>
            <a:endParaRPr lang="en-US" sz="1150" dirty="0"/>
          </a:p>
        </p:txBody>
      </p:sp>
      <p:sp>
        <p:nvSpPr>
          <p:cNvPr id="17" name="Shape 15"/>
          <p:cNvSpPr/>
          <p:nvPr/>
        </p:nvSpPr>
        <p:spPr>
          <a:xfrm>
            <a:off x="3703320" y="5486400"/>
            <a:ext cx="2194560" cy="0"/>
          </a:xfrm>
          <a:prstGeom prst="line">
            <a:avLst/>
          </a:prstGeom>
          <a:noFill/>
          <a:ln w="12700">
            <a:solidFill>
              <a:srgbClr val="0E3F3C"/>
            </a:solidFill>
            <a:prstDash val="solid"/>
          </a:ln>
        </p:spPr>
      </p:sp>
      <p:sp>
        <p:nvSpPr>
          <p:cNvPr id="18" name="Text 16"/>
          <p:cNvSpPr/>
          <p:nvPr/>
        </p:nvSpPr>
        <p:spPr>
          <a:xfrm>
            <a:off x="370332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W3C, 2024</a:t>
            </a:r>
            <a:endParaRPr lang="en-US" sz="1000" dirty="0"/>
          </a:p>
        </p:txBody>
      </p:sp>
      <p:sp>
        <p:nvSpPr>
          <p:cNvPr id="19" name="Shape 17"/>
          <p:cNvSpPr/>
          <p:nvPr/>
        </p:nvSpPr>
        <p:spPr>
          <a:xfrm>
            <a:off x="6309360" y="2331720"/>
            <a:ext cx="2743200" cy="3657600"/>
          </a:xfrm>
          <a:prstGeom prst="roundRect">
            <a:avLst>
              <a:gd name="adj" fmla="val 5000"/>
            </a:avLst>
          </a:prstGeom>
          <a:solidFill>
            <a:srgbClr val="FFD3C2"/>
          </a:solidFill>
          <a:ln w="12700">
            <a:solidFill>
              <a:srgbClr val="FFD3C2"/>
            </a:solidFill>
            <a:prstDash val="solid"/>
          </a:ln>
        </p:spPr>
      </p:sp>
      <p:sp>
        <p:nvSpPr>
          <p:cNvPr id="20" name="Shape 18"/>
          <p:cNvSpPr/>
          <p:nvPr/>
        </p:nvSpPr>
        <p:spPr>
          <a:xfrm>
            <a:off x="6309360" y="2331720"/>
            <a:ext cx="2743200" cy="57150"/>
          </a:xfrm>
          <a:prstGeom prst="rect">
            <a:avLst/>
          </a:prstGeom>
          <a:solidFill>
            <a:srgbClr val="E0805A"/>
          </a:solidFill>
          <a:ln w="12700">
            <a:solidFill>
              <a:srgbClr val="E0805A"/>
            </a:solidFill>
            <a:prstDash val="solid"/>
          </a:ln>
        </p:spPr>
      </p:sp>
      <p:sp>
        <p:nvSpPr>
          <p:cNvPr id="21" name="Text 19"/>
          <p:cNvSpPr/>
          <p:nvPr/>
        </p:nvSpPr>
        <p:spPr>
          <a:xfrm>
            <a:off x="658368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3</a:t>
            </a:r>
            <a:endParaRPr lang="en-US" sz="4000" dirty="0"/>
          </a:p>
        </p:txBody>
      </p:sp>
      <p:sp>
        <p:nvSpPr>
          <p:cNvPr id="22" name="Text 20"/>
          <p:cNvSpPr/>
          <p:nvPr/>
        </p:nvSpPr>
        <p:spPr>
          <a:xfrm>
            <a:off x="658368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App-based Token Economy</a:t>
            </a:r>
            <a:endParaRPr lang="en-US" sz="1600" dirty="0"/>
          </a:p>
        </p:txBody>
      </p:sp>
      <p:sp>
        <p:nvSpPr>
          <p:cNvPr id="23" name="Text 21"/>
          <p:cNvSpPr/>
          <p:nvPr/>
        </p:nvSpPr>
        <p:spPr>
          <a:xfrm>
            <a:off x="658368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Digitale beloningssystemen verhogen taakbetrokkenheid. Effect houdt 6+ weken aan.</a:t>
            </a:r>
            <a:endParaRPr lang="en-US" sz="1150" dirty="0"/>
          </a:p>
        </p:txBody>
      </p:sp>
      <p:sp>
        <p:nvSpPr>
          <p:cNvPr id="24" name="Shape 22"/>
          <p:cNvSpPr/>
          <p:nvPr/>
        </p:nvSpPr>
        <p:spPr>
          <a:xfrm>
            <a:off x="6583680" y="5486400"/>
            <a:ext cx="2194560" cy="0"/>
          </a:xfrm>
          <a:prstGeom prst="line">
            <a:avLst/>
          </a:prstGeom>
          <a:noFill/>
          <a:ln w="12700">
            <a:solidFill>
              <a:srgbClr val="0E3F3C"/>
            </a:solidFill>
            <a:prstDash val="solid"/>
          </a:ln>
        </p:spPr>
      </p:sp>
      <p:sp>
        <p:nvSpPr>
          <p:cNvPr id="25" name="Text 23"/>
          <p:cNvSpPr/>
          <p:nvPr/>
        </p:nvSpPr>
        <p:spPr>
          <a:xfrm>
            <a:off x="658368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Saini et al., 2023</a:t>
            </a:r>
            <a:endParaRPr lang="en-US" sz="1000" dirty="0"/>
          </a:p>
        </p:txBody>
      </p:sp>
      <p:sp>
        <p:nvSpPr>
          <p:cNvPr id="26" name="Shape 24"/>
          <p:cNvSpPr/>
          <p:nvPr/>
        </p:nvSpPr>
        <p:spPr>
          <a:xfrm>
            <a:off x="9189720" y="2331720"/>
            <a:ext cx="2743200" cy="3657600"/>
          </a:xfrm>
          <a:prstGeom prst="roundRect">
            <a:avLst>
              <a:gd name="adj" fmla="val 5000"/>
            </a:avLst>
          </a:prstGeom>
          <a:solidFill>
            <a:srgbClr val="F0CDFF"/>
          </a:solidFill>
          <a:ln w="12700">
            <a:solidFill>
              <a:srgbClr val="F0CDFF"/>
            </a:solidFill>
            <a:prstDash val="solid"/>
          </a:ln>
        </p:spPr>
      </p:sp>
      <p:sp>
        <p:nvSpPr>
          <p:cNvPr id="27" name="Shape 25"/>
          <p:cNvSpPr/>
          <p:nvPr/>
        </p:nvSpPr>
        <p:spPr>
          <a:xfrm>
            <a:off x="9189720" y="2331720"/>
            <a:ext cx="2743200" cy="57150"/>
          </a:xfrm>
          <a:prstGeom prst="rect">
            <a:avLst/>
          </a:prstGeom>
          <a:solidFill>
            <a:srgbClr val="C49AD4"/>
          </a:solidFill>
          <a:ln w="12700">
            <a:solidFill>
              <a:srgbClr val="C49AD4"/>
            </a:solidFill>
            <a:prstDash val="solid"/>
          </a:ln>
        </p:spPr>
      </p:sp>
      <p:sp>
        <p:nvSpPr>
          <p:cNvPr id="28" name="Text 26"/>
          <p:cNvSpPr/>
          <p:nvPr/>
        </p:nvSpPr>
        <p:spPr>
          <a:xfrm>
            <a:off x="946404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4</a:t>
            </a:r>
            <a:endParaRPr lang="en-US" sz="4000" dirty="0"/>
          </a:p>
        </p:txBody>
      </p:sp>
      <p:sp>
        <p:nvSpPr>
          <p:cNvPr id="29" name="Text 27"/>
          <p:cNvSpPr/>
          <p:nvPr/>
        </p:nvSpPr>
        <p:spPr>
          <a:xfrm>
            <a:off x="946404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Emotieregulatie bij LVB</a:t>
            </a:r>
            <a:endParaRPr lang="en-US" sz="1600" dirty="0"/>
          </a:p>
        </p:txBody>
      </p:sp>
      <p:sp>
        <p:nvSpPr>
          <p:cNvPr id="30" name="Text 28"/>
          <p:cNvSpPr/>
          <p:nvPr/>
        </p:nvSpPr>
        <p:spPr>
          <a:xfrm>
            <a:off x="946404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Herkennen vóór reguleren. Ademhaling en sensorische strategieën werken.</a:t>
            </a:r>
            <a:endParaRPr lang="en-US" sz="1150" dirty="0"/>
          </a:p>
        </p:txBody>
      </p:sp>
      <p:sp>
        <p:nvSpPr>
          <p:cNvPr id="31" name="Shape 29"/>
          <p:cNvSpPr/>
          <p:nvPr/>
        </p:nvSpPr>
        <p:spPr>
          <a:xfrm>
            <a:off x="9464040" y="5486400"/>
            <a:ext cx="2194560" cy="0"/>
          </a:xfrm>
          <a:prstGeom prst="line">
            <a:avLst/>
          </a:prstGeom>
          <a:noFill/>
          <a:ln w="12700">
            <a:solidFill>
              <a:srgbClr val="0E3F3C"/>
            </a:solidFill>
            <a:prstDash val="solid"/>
          </a:ln>
        </p:spPr>
      </p:sp>
      <p:sp>
        <p:nvSpPr>
          <p:cNvPr id="32" name="Text 30"/>
          <p:cNvSpPr/>
          <p:nvPr/>
        </p:nvSpPr>
        <p:spPr>
          <a:xfrm>
            <a:off x="946404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Tandfonline, 2024-25</a:t>
            </a:r>
            <a:endParaRPr lang="en-US" sz="1000" dirty="0"/>
          </a:p>
        </p:txBody>
      </p:sp>
      <p:sp>
        <p:nvSpPr>
          <p:cNvPr id="33" name="Shape 31"/>
          <p:cNvSpPr/>
          <p:nvPr/>
        </p:nvSpPr>
        <p:spPr>
          <a:xfrm>
            <a:off x="411480" y="6446520"/>
            <a:ext cx="228600" cy="228600"/>
          </a:xfrm>
          <a:prstGeom prst="ellipse">
            <a:avLst/>
          </a:prstGeom>
          <a:solidFill>
            <a:srgbClr val="16645F"/>
          </a:solidFill>
          <a:ln w="12700">
            <a:solidFill>
              <a:srgbClr val="16645F"/>
            </a:solidFill>
            <a:prstDash val="solid"/>
          </a:ln>
        </p:spPr>
      </p:sp>
      <p:sp>
        <p:nvSpPr>
          <p:cNvPr id="34" name="Text 32"/>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5" name="Text 33"/>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03 · CLIËNT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Wat de cliënt op het scherm ziet</a:t>
            </a:r>
            <a:endParaRPr lang="en-US" sz="3400" dirty="0"/>
          </a:p>
        </p:txBody>
      </p:sp>
      <p:sp>
        <p:nvSpPr>
          <p:cNvPr id="4" name="Shape 2"/>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5" name="Shape 3"/>
          <p:cNvSpPr/>
          <p:nvPr/>
        </p:nvSpPr>
        <p:spPr>
          <a:xfrm>
            <a:off x="8961120" y="502920"/>
            <a:ext cx="109728" cy="868680"/>
          </a:xfrm>
          <a:prstGeom prst="rect">
            <a:avLst/>
          </a:prstGeom>
          <a:solidFill>
            <a:srgbClr val="FFD3C2"/>
          </a:solidFill>
          <a:ln w="12700">
            <a:solidFill>
              <a:srgbClr val="FFD3C2"/>
            </a:solidFill>
            <a:prstDash val="solid"/>
          </a:ln>
        </p:spPr>
      </p:sp>
      <p:sp>
        <p:nvSpPr>
          <p:cNvPr id="6" name="Text 4"/>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7" name="Text 5"/>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1 + 2</a:t>
            </a:r>
            <a:endParaRPr lang="en-US" sz="1200" dirty="0"/>
          </a:p>
        </p:txBody>
      </p:sp>
      <p:sp>
        <p:nvSpPr>
          <p:cNvPr id="8" name="Text 6"/>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Visual schedules + W3C COGA</a:t>
            </a:r>
            <a:endParaRPr lang="en-US" sz="950" dirty="0"/>
          </a:p>
        </p:txBody>
      </p:sp>
      <p:sp>
        <p:nvSpPr>
          <p:cNvPr id="9" name="Shape 7"/>
          <p:cNvSpPr/>
          <p:nvPr/>
        </p:nvSpPr>
        <p:spPr>
          <a:xfrm>
            <a:off x="548640" y="2331720"/>
            <a:ext cx="2606040" cy="1783080"/>
          </a:xfrm>
          <a:prstGeom prst="roundRect">
            <a:avLst>
              <a:gd name="adj" fmla="val 7692"/>
            </a:avLst>
          </a:prstGeom>
          <a:solidFill>
            <a:srgbClr val="FFFFFF"/>
          </a:solidFill>
          <a:ln w="12700">
            <a:solidFill>
              <a:srgbClr val="DCD8C8"/>
            </a:solidFill>
            <a:prstDash val="solid"/>
          </a:ln>
        </p:spPr>
      </p:sp>
      <p:sp>
        <p:nvSpPr>
          <p:cNvPr id="10" name="Shape 8"/>
          <p:cNvSpPr/>
          <p:nvPr/>
        </p:nvSpPr>
        <p:spPr>
          <a:xfrm>
            <a:off x="777240" y="2532888"/>
            <a:ext cx="640080" cy="640080"/>
          </a:xfrm>
          <a:prstGeom prst="ellipse">
            <a:avLst/>
          </a:prstGeom>
          <a:solidFill>
            <a:srgbClr val="B2DCFA"/>
          </a:solidFill>
          <a:ln w="12700">
            <a:solidFill>
              <a:srgbClr val="B2DCFA"/>
            </a:solidFill>
            <a:prstDash val="solid"/>
          </a:ln>
        </p:spPr>
      </p:sp>
      <p:sp>
        <p:nvSpPr>
          <p:cNvPr id="11" name="Text 9"/>
          <p:cNvSpPr/>
          <p:nvPr/>
        </p:nvSpPr>
        <p:spPr>
          <a:xfrm>
            <a:off x="77724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2" name="Text 10"/>
          <p:cNvSpPr/>
          <p:nvPr/>
        </p:nvSpPr>
        <p:spPr>
          <a:xfrm>
            <a:off x="77724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Taken</a:t>
            </a:r>
            <a:endParaRPr lang="en-US" sz="1400" dirty="0"/>
          </a:p>
        </p:txBody>
      </p:sp>
      <p:sp>
        <p:nvSpPr>
          <p:cNvPr id="13" name="Text 11"/>
          <p:cNvSpPr/>
          <p:nvPr/>
        </p:nvSpPr>
        <p:spPr>
          <a:xfrm>
            <a:off x="77724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Stappen met visuals &amp; spraak</a:t>
            </a:r>
            <a:endParaRPr lang="en-US" sz="1100" dirty="0"/>
          </a:p>
        </p:txBody>
      </p:sp>
      <p:sp>
        <p:nvSpPr>
          <p:cNvPr id="14" name="Shape 12"/>
          <p:cNvSpPr/>
          <p:nvPr/>
        </p:nvSpPr>
        <p:spPr>
          <a:xfrm>
            <a:off x="3383280" y="2331720"/>
            <a:ext cx="2606040" cy="1783080"/>
          </a:xfrm>
          <a:prstGeom prst="roundRect">
            <a:avLst>
              <a:gd name="adj" fmla="val 7692"/>
            </a:avLst>
          </a:prstGeom>
          <a:solidFill>
            <a:srgbClr val="FFFFFF"/>
          </a:solidFill>
          <a:ln w="12700">
            <a:solidFill>
              <a:srgbClr val="DCD8C8"/>
            </a:solidFill>
            <a:prstDash val="solid"/>
          </a:ln>
        </p:spPr>
      </p:sp>
      <p:sp>
        <p:nvSpPr>
          <p:cNvPr id="15" name="Shape 13"/>
          <p:cNvSpPr/>
          <p:nvPr/>
        </p:nvSpPr>
        <p:spPr>
          <a:xfrm>
            <a:off x="3611880" y="2532888"/>
            <a:ext cx="640080" cy="640080"/>
          </a:xfrm>
          <a:prstGeom prst="ellipse">
            <a:avLst/>
          </a:prstGeom>
          <a:solidFill>
            <a:srgbClr val="E0FE9C"/>
          </a:solidFill>
          <a:ln w="12700">
            <a:solidFill>
              <a:srgbClr val="E0FE9C"/>
            </a:solidFill>
            <a:prstDash val="solid"/>
          </a:ln>
        </p:spPr>
      </p:sp>
      <p:sp>
        <p:nvSpPr>
          <p:cNvPr id="16" name="Text 14"/>
          <p:cNvSpPr/>
          <p:nvPr/>
        </p:nvSpPr>
        <p:spPr>
          <a:xfrm>
            <a:off x="361188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7" name="Text 15"/>
          <p:cNvSpPr/>
          <p:nvPr/>
        </p:nvSpPr>
        <p:spPr>
          <a:xfrm>
            <a:off x="361188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Agenda</a:t>
            </a:r>
            <a:endParaRPr lang="en-US" sz="1400" dirty="0"/>
          </a:p>
        </p:txBody>
      </p:sp>
      <p:sp>
        <p:nvSpPr>
          <p:cNvPr id="18" name="Text 16"/>
          <p:cNvSpPr/>
          <p:nvPr/>
        </p:nvSpPr>
        <p:spPr>
          <a:xfrm>
            <a:off x="361188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Wat komt er vandaag?</a:t>
            </a:r>
            <a:endParaRPr lang="en-US" sz="1100" dirty="0"/>
          </a:p>
        </p:txBody>
      </p:sp>
      <p:sp>
        <p:nvSpPr>
          <p:cNvPr id="19" name="Shape 17"/>
          <p:cNvSpPr/>
          <p:nvPr/>
        </p:nvSpPr>
        <p:spPr>
          <a:xfrm>
            <a:off x="6217920" y="2331720"/>
            <a:ext cx="2606040" cy="1783080"/>
          </a:xfrm>
          <a:prstGeom prst="roundRect">
            <a:avLst>
              <a:gd name="adj" fmla="val 7692"/>
            </a:avLst>
          </a:prstGeom>
          <a:solidFill>
            <a:srgbClr val="FFFFFF"/>
          </a:solidFill>
          <a:ln w="12700">
            <a:solidFill>
              <a:srgbClr val="DCD8C8"/>
            </a:solidFill>
            <a:prstDash val="solid"/>
          </a:ln>
        </p:spPr>
      </p:sp>
      <p:sp>
        <p:nvSpPr>
          <p:cNvPr id="20" name="Shape 18"/>
          <p:cNvSpPr/>
          <p:nvPr/>
        </p:nvSpPr>
        <p:spPr>
          <a:xfrm>
            <a:off x="6446520" y="2532888"/>
            <a:ext cx="640080" cy="640080"/>
          </a:xfrm>
          <a:prstGeom prst="ellipse">
            <a:avLst/>
          </a:prstGeom>
          <a:solidFill>
            <a:srgbClr val="F0CDFF"/>
          </a:solidFill>
          <a:ln w="12700">
            <a:solidFill>
              <a:srgbClr val="F0CDFF"/>
            </a:solidFill>
            <a:prstDash val="solid"/>
          </a:ln>
        </p:spPr>
      </p:sp>
      <p:sp>
        <p:nvSpPr>
          <p:cNvPr id="21" name="Text 19"/>
          <p:cNvSpPr/>
          <p:nvPr/>
        </p:nvSpPr>
        <p:spPr>
          <a:xfrm>
            <a:off x="644652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2" name="Text 20"/>
          <p:cNvSpPr/>
          <p:nvPr/>
        </p:nvSpPr>
        <p:spPr>
          <a:xfrm>
            <a:off x="644652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Doelen</a:t>
            </a:r>
            <a:endParaRPr lang="en-US" sz="1400" dirty="0"/>
          </a:p>
        </p:txBody>
      </p:sp>
      <p:sp>
        <p:nvSpPr>
          <p:cNvPr id="23" name="Text 21"/>
          <p:cNvSpPr/>
          <p:nvPr/>
        </p:nvSpPr>
        <p:spPr>
          <a:xfrm>
            <a:off x="644652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Kleine stappen naar groot doel</a:t>
            </a:r>
            <a:endParaRPr lang="en-US" sz="1100" dirty="0"/>
          </a:p>
        </p:txBody>
      </p:sp>
      <p:sp>
        <p:nvSpPr>
          <p:cNvPr id="24" name="Shape 22"/>
          <p:cNvSpPr/>
          <p:nvPr/>
        </p:nvSpPr>
        <p:spPr>
          <a:xfrm>
            <a:off x="9052560" y="2331720"/>
            <a:ext cx="2606040" cy="1783080"/>
          </a:xfrm>
          <a:prstGeom prst="roundRect">
            <a:avLst>
              <a:gd name="adj" fmla="val 7692"/>
            </a:avLst>
          </a:prstGeom>
          <a:solidFill>
            <a:srgbClr val="FFFFFF"/>
          </a:solidFill>
          <a:ln w="12700">
            <a:solidFill>
              <a:srgbClr val="DCD8C8"/>
            </a:solidFill>
            <a:prstDash val="solid"/>
          </a:ln>
        </p:spPr>
      </p:sp>
      <p:sp>
        <p:nvSpPr>
          <p:cNvPr id="25" name="Shape 23"/>
          <p:cNvSpPr/>
          <p:nvPr/>
        </p:nvSpPr>
        <p:spPr>
          <a:xfrm>
            <a:off x="9281160" y="2532888"/>
            <a:ext cx="640080" cy="640080"/>
          </a:xfrm>
          <a:prstGeom prst="ellipse">
            <a:avLst/>
          </a:prstGeom>
          <a:solidFill>
            <a:srgbClr val="FFD3C2"/>
          </a:solidFill>
          <a:ln w="12700">
            <a:solidFill>
              <a:srgbClr val="FFD3C2"/>
            </a:solidFill>
            <a:prstDash val="solid"/>
          </a:ln>
        </p:spPr>
      </p:sp>
      <p:sp>
        <p:nvSpPr>
          <p:cNvPr id="26" name="Text 24"/>
          <p:cNvSpPr/>
          <p:nvPr/>
        </p:nvSpPr>
        <p:spPr>
          <a:xfrm>
            <a:off x="928116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7" name="Text 25"/>
          <p:cNvSpPr/>
          <p:nvPr/>
        </p:nvSpPr>
        <p:spPr>
          <a:xfrm>
            <a:off x="928116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Beloningen</a:t>
            </a:r>
            <a:endParaRPr lang="en-US" sz="1400" dirty="0"/>
          </a:p>
        </p:txBody>
      </p:sp>
      <p:sp>
        <p:nvSpPr>
          <p:cNvPr id="28" name="Text 26"/>
          <p:cNvSpPr/>
          <p:nvPr/>
        </p:nvSpPr>
        <p:spPr>
          <a:xfrm>
            <a:off x="928116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Verschijnen direct in de boom</a:t>
            </a:r>
            <a:endParaRPr lang="en-US" sz="1100" dirty="0"/>
          </a:p>
        </p:txBody>
      </p:sp>
      <p:sp>
        <p:nvSpPr>
          <p:cNvPr id="29" name="Shape 27"/>
          <p:cNvSpPr/>
          <p:nvPr/>
        </p:nvSpPr>
        <p:spPr>
          <a:xfrm>
            <a:off x="548640" y="4343400"/>
            <a:ext cx="2606040" cy="1783080"/>
          </a:xfrm>
          <a:prstGeom prst="roundRect">
            <a:avLst>
              <a:gd name="adj" fmla="val 7692"/>
            </a:avLst>
          </a:prstGeom>
          <a:solidFill>
            <a:srgbClr val="FFFFFF"/>
          </a:solidFill>
          <a:ln w="12700">
            <a:solidFill>
              <a:srgbClr val="DCD8C8"/>
            </a:solidFill>
            <a:prstDash val="solid"/>
          </a:ln>
        </p:spPr>
      </p:sp>
      <p:sp>
        <p:nvSpPr>
          <p:cNvPr id="30" name="Shape 28"/>
          <p:cNvSpPr/>
          <p:nvPr/>
        </p:nvSpPr>
        <p:spPr>
          <a:xfrm>
            <a:off x="777240" y="4544568"/>
            <a:ext cx="640080" cy="640080"/>
          </a:xfrm>
          <a:prstGeom prst="ellipse">
            <a:avLst/>
          </a:prstGeom>
          <a:solidFill>
            <a:srgbClr val="E0A9C2"/>
          </a:solidFill>
          <a:ln w="12700">
            <a:solidFill>
              <a:srgbClr val="E0A9C2"/>
            </a:solidFill>
            <a:prstDash val="solid"/>
          </a:ln>
        </p:spPr>
      </p:sp>
      <p:sp>
        <p:nvSpPr>
          <p:cNvPr id="31" name="Text 29"/>
          <p:cNvSpPr/>
          <p:nvPr/>
        </p:nvSpPr>
        <p:spPr>
          <a:xfrm>
            <a:off x="77724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2" name="Text 30"/>
          <p:cNvSpPr/>
          <p:nvPr/>
        </p:nvSpPr>
        <p:spPr>
          <a:xfrm>
            <a:off x="77724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Medicijnen</a:t>
            </a:r>
            <a:endParaRPr lang="en-US" sz="1400" dirty="0"/>
          </a:p>
        </p:txBody>
      </p:sp>
      <p:sp>
        <p:nvSpPr>
          <p:cNvPr id="33" name="Text 31"/>
          <p:cNvSpPr/>
          <p:nvPr/>
        </p:nvSpPr>
        <p:spPr>
          <a:xfrm>
            <a:off x="77724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Herinnering op vaste tijden</a:t>
            </a:r>
            <a:endParaRPr lang="en-US" sz="1100" dirty="0"/>
          </a:p>
        </p:txBody>
      </p:sp>
      <p:sp>
        <p:nvSpPr>
          <p:cNvPr id="34" name="Shape 32"/>
          <p:cNvSpPr/>
          <p:nvPr/>
        </p:nvSpPr>
        <p:spPr>
          <a:xfrm>
            <a:off x="3383280" y="4343400"/>
            <a:ext cx="2606040" cy="1783080"/>
          </a:xfrm>
          <a:prstGeom prst="roundRect">
            <a:avLst>
              <a:gd name="adj" fmla="val 7692"/>
            </a:avLst>
          </a:prstGeom>
          <a:solidFill>
            <a:srgbClr val="FFFFFF"/>
          </a:solidFill>
          <a:ln w="12700">
            <a:solidFill>
              <a:srgbClr val="DCD8C8"/>
            </a:solidFill>
            <a:prstDash val="solid"/>
          </a:ln>
        </p:spPr>
      </p:sp>
      <p:sp>
        <p:nvSpPr>
          <p:cNvPr id="35" name="Shape 33"/>
          <p:cNvSpPr/>
          <p:nvPr/>
        </p:nvSpPr>
        <p:spPr>
          <a:xfrm>
            <a:off x="3611880" y="4544568"/>
            <a:ext cx="640080" cy="640080"/>
          </a:xfrm>
          <a:prstGeom prst="ellipse">
            <a:avLst/>
          </a:prstGeom>
          <a:solidFill>
            <a:srgbClr val="F0CDFF"/>
          </a:solidFill>
          <a:ln w="12700">
            <a:solidFill>
              <a:srgbClr val="F0CDFF"/>
            </a:solidFill>
            <a:prstDash val="solid"/>
          </a:ln>
        </p:spPr>
      </p:sp>
      <p:sp>
        <p:nvSpPr>
          <p:cNvPr id="36" name="Text 34"/>
          <p:cNvSpPr/>
          <p:nvPr/>
        </p:nvSpPr>
        <p:spPr>
          <a:xfrm>
            <a:off x="361188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7" name="Text 35"/>
          <p:cNvSpPr/>
          <p:nvPr/>
        </p:nvSpPr>
        <p:spPr>
          <a:xfrm>
            <a:off x="361188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Vol hoofd</a:t>
            </a:r>
            <a:endParaRPr lang="en-US" sz="1400" dirty="0"/>
          </a:p>
        </p:txBody>
      </p:sp>
      <p:sp>
        <p:nvSpPr>
          <p:cNvPr id="38" name="Text 36"/>
          <p:cNvSpPr/>
          <p:nvPr/>
        </p:nvSpPr>
        <p:spPr>
          <a:xfrm>
            <a:off x="361188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Emotiekaart + rust-activiteit</a:t>
            </a:r>
            <a:endParaRPr lang="en-US" sz="1100" dirty="0"/>
          </a:p>
        </p:txBody>
      </p:sp>
      <p:sp>
        <p:nvSpPr>
          <p:cNvPr id="39" name="Shape 37"/>
          <p:cNvSpPr/>
          <p:nvPr/>
        </p:nvSpPr>
        <p:spPr>
          <a:xfrm>
            <a:off x="6217920" y="4343400"/>
            <a:ext cx="2606040" cy="1783080"/>
          </a:xfrm>
          <a:prstGeom prst="roundRect">
            <a:avLst>
              <a:gd name="adj" fmla="val 7692"/>
            </a:avLst>
          </a:prstGeom>
          <a:solidFill>
            <a:srgbClr val="FFFFFF"/>
          </a:solidFill>
          <a:ln w="12700">
            <a:solidFill>
              <a:srgbClr val="DCD8C8"/>
            </a:solidFill>
            <a:prstDash val="solid"/>
          </a:ln>
        </p:spPr>
      </p:sp>
      <p:sp>
        <p:nvSpPr>
          <p:cNvPr id="40" name="Shape 38"/>
          <p:cNvSpPr/>
          <p:nvPr/>
        </p:nvSpPr>
        <p:spPr>
          <a:xfrm>
            <a:off x="6446520" y="4544568"/>
            <a:ext cx="640080" cy="640080"/>
          </a:xfrm>
          <a:prstGeom prst="ellipse">
            <a:avLst/>
          </a:prstGeom>
          <a:solidFill>
            <a:srgbClr val="B2DCFA"/>
          </a:solidFill>
          <a:ln w="12700">
            <a:solidFill>
              <a:srgbClr val="B2DCFA"/>
            </a:solidFill>
            <a:prstDash val="solid"/>
          </a:ln>
        </p:spPr>
      </p:sp>
      <p:sp>
        <p:nvSpPr>
          <p:cNvPr id="41" name="Text 39"/>
          <p:cNvSpPr/>
          <p:nvPr/>
        </p:nvSpPr>
        <p:spPr>
          <a:xfrm>
            <a:off x="644652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42" name="Text 40"/>
          <p:cNvSpPr/>
          <p:nvPr/>
        </p:nvSpPr>
        <p:spPr>
          <a:xfrm>
            <a:off x="644652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Chat met spraak</a:t>
            </a:r>
            <a:endParaRPr lang="en-US" sz="1400" dirty="0"/>
          </a:p>
        </p:txBody>
      </p:sp>
      <p:sp>
        <p:nvSpPr>
          <p:cNvPr id="43" name="Text 41"/>
          <p:cNvSpPr/>
          <p:nvPr/>
        </p:nvSpPr>
        <p:spPr>
          <a:xfrm>
            <a:off x="644652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Inspreken in plaats van typen</a:t>
            </a:r>
            <a:endParaRPr lang="en-US" sz="1100" dirty="0"/>
          </a:p>
        </p:txBody>
      </p:sp>
      <p:sp>
        <p:nvSpPr>
          <p:cNvPr id="44" name="Shape 42"/>
          <p:cNvSpPr/>
          <p:nvPr/>
        </p:nvSpPr>
        <p:spPr>
          <a:xfrm>
            <a:off x="9052560" y="4343400"/>
            <a:ext cx="2606040" cy="1783080"/>
          </a:xfrm>
          <a:prstGeom prst="roundRect">
            <a:avLst>
              <a:gd name="adj" fmla="val 7692"/>
            </a:avLst>
          </a:prstGeom>
          <a:solidFill>
            <a:srgbClr val="16645F"/>
          </a:solidFill>
          <a:ln w="12700">
            <a:solidFill>
              <a:srgbClr val="16645F"/>
            </a:solidFill>
            <a:prstDash val="solid"/>
          </a:ln>
        </p:spPr>
      </p:sp>
      <p:sp>
        <p:nvSpPr>
          <p:cNvPr id="45" name="Text 43"/>
          <p:cNvSpPr/>
          <p:nvPr/>
        </p:nvSpPr>
        <p:spPr>
          <a:xfrm>
            <a:off x="9052560" y="4480560"/>
            <a:ext cx="2606040" cy="960120"/>
          </a:xfrm>
          <a:prstGeom prst="rect">
            <a:avLst/>
          </a:prstGeom>
          <a:noFill/>
          <a:ln/>
        </p:spPr>
        <p:txBody>
          <a:bodyPr wrap="square" rtlCol="0" anchor="ctr"/>
          <a:lstStyle/>
          <a:p>
            <a:pPr algn="ctr" indent="0" marL="0">
              <a:buNone/>
            </a:pPr>
            <a:r>
              <a:rPr lang="en-US" sz="5200" dirty="0">
                <a:solidFill>
                  <a:srgbClr val="000000"/>
                </a:solidFill>
              </a:rPr>
              <a:t>🌳</a:t>
            </a:r>
            <a:endParaRPr lang="en-US" sz="5200" dirty="0"/>
          </a:p>
        </p:txBody>
      </p:sp>
      <p:sp>
        <p:nvSpPr>
          <p:cNvPr id="46" name="Text 44"/>
          <p:cNvSpPr/>
          <p:nvPr/>
        </p:nvSpPr>
        <p:spPr>
          <a:xfrm>
            <a:off x="9235440" y="5440680"/>
            <a:ext cx="2240280" cy="320040"/>
          </a:xfrm>
          <a:prstGeom prst="rect">
            <a:avLst/>
          </a:prstGeom>
          <a:noFill/>
          <a:ln/>
        </p:spPr>
        <p:txBody>
          <a:bodyPr wrap="square" rtlCol="0" anchor="ctr"/>
          <a:lstStyle/>
          <a:p>
            <a:pPr algn="ctr" indent="0" marL="0">
              <a:buNone/>
            </a:pPr>
            <a:r>
              <a:rPr lang="en-US" sz="1250" b="1" dirty="0">
                <a:solidFill>
                  <a:srgbClr val="FFFFFF"/>
                </a:solidFill>
                <a:latin typeface="Helvetica Neue" pitchFamily="34" charset="0"/>
                <a:ea typeface="Helvetica Neue" pitchFamily="34" charset="-122"/>
                <a:cs typeface="Helvetica Neue" pitchFamily="34" charset="-120"/>
              </a:rPr>
              <a:t>Beloningenboom</a:t>
            </a:r>
            <a:endParaRPr lang="en-US" sz="1250" dirty="0"/>
          </a:p>
        </p:txBody>
      </p:sp>
      <p:sp>
        <p:nvSpPr>
          <p:cNvPr id="47" name="Text 45"/>
          <p:cNvSpPr/>
          <p:nvPr/>
        </p:nvSpPr>
        <p:spPr>
          <a:xfrm>
            <a:off x="9235440" y="5760720"/>
            <a:ext cx="2240280" cy="320040"/>
          </a:xfrm>
          <a:prstGeom prst="rect">
            <a:avLst/>
          </a:prstGeom>
          <a:noFill/>
          <a:ln/>
        </p:spPr>
        <p:txBody>
          <a:bodyPr wrap="square" rtlCol="0" anchor="ctr"/>
          <a:lstStyle/>
          <a:p>
            <a:pPr algn="ctr" indent="0" marL="0">
              <a:buNone/>
            </a:pPr>
            <a:r>
              <a:rPr lang="en-US" sz="1000" i="1" dirty="0">
                <a:solidFill>
                  <a:srgbClr val="EEECDE"/>
                </a:solidFill>
                <a:latin typeface="Helvetica" pitchFamily="34" charset="0"/>
                <a:ea typeface="Helvetica" pitchFamily="34" charset="-122"/>
                <a:cs typeface="Helvetica" pitchFamily="34" charset="-120"/>
              </a:rPr>
              <a:t>Groeit met elke voltooide taak</a:t>
            </a:r>
            <a:endParaRPr lang="en-US" sz="1000" dirty="0"/>
          </a:p>
        </p:txBody>
      </p:sp>
      <p:sp>
        <p:nvSpPr>
          <p:cNvPr id="48" name="Shape 46"/>
          <p:cNvSpPr/>
          <p:nvPr/>
        </p:nvSpPr>
        <p:spPr>
          <a:xfrm>
            <a:off x="411480" y="6446520"/>
            <a:ext cx="228600" cy="228600"/>
          </a:xfrm>
          <a:prstGeom prst="ellipse">
            <a:avLst/>
          </a:prstGeom>
          <a:solidFill>
            <a:srgbClr val="16645F"/>
          </a:solidFill>
          <a:ln w="12700">
            <a:solidFill>
              <a:srgbClr val="16645F"/>
            </a:solidFill>
            <a:prstDash val="solid"/>
          </a:ln>
        </p:spPr>
      </p:sp>
      <p:sp>
        <p:nvSpPr>
          <p:cNvPr id="49" name="Text 47"/>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50" name="Text 48"/>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04 · BEGELEIDER</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Het portaal, overzicht en regie</a:t>
            </a:r>
            <a:endParaRPr lang="en-US" sz="3400" dirty="0"/>
          </a:p>
        </p:txBody>
      </p:sp>
      <p:sp>
        <p:nvSpPr>
          <p:cNvPr id="4" name="Shape 2"/>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5" name="Shape 3"/>
          <p:cNvSpPr/>
          <p:nvPr/>
        </p:nvSpPr>
        <p:spPr>
          <a:xfrm>
            <a:off x="8961120" y="502920"/>
            <a:ext cx="109728" cy="868680"/>
          </a:xfrm>
          <a:prstGeom prst="rect">
            <a:avLst/>
          </a:prstGeom>
          <a:solidFill>
            <a:srgbClr val="FFD3C2"/>
          </a:solidFill>
          <a:ln w="12700">
            <a:solidFill>
              <a:srgbClr val="FFD3C2"/>
            </a:solidFill>
            <a:prstDash val="solid"/>
          </a:ln>
        </p:spPr>
      </p:sp>
      <p:sp>
        <p:nvSpPr>
          <p:cNvPr id="6" name="Text 4"/>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7" name="Text 5"/>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Innovatie-impuls</a:t>
            </a:r>
            <a:endParaRPr lang="en-US" sz="1200" dirty="0"/>
          </a:p>
        </p:txBody>
      </p:sp>
      <p:sp>
        <p:nvSpPr>
          <p:cNvPr id="8" name="Text 6"/>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Verlagen begeleidersbelasting, 2021</a:t>
            </a:r>
            <a:endParaRPr lang="en-US" sz="950" dirty="0"/>
          </a:p>
        </p:txBody>
      </p:sp>
      <p:sp>
        <p:nvSpPr>
          <p:cNvPr id="9" name="Shape 7"/>
          <p:cNvSpPr/>
          <p:nvPr/>
        </p:nvSpPr>
        <p:spPr>
          <a:xfrm>
            <a:off x="548640" y="2423160"/>
            <a:ext cx="1033272" cy="1234440"/>
          </a:xfrm>
          <a:prstGeom prst="roundRect">
            <a:avLst>
              <a:gd name="adj" fmla="val 8850"/>
            </a:avLst>
          </a:prstGeom>
          <a:solidFill>
            <a:srgbClr val="B2DCFA"/>
          </a:solidFill>
          <a:ln w="12700">
            <a:solidFill>
              <a:srgbClr val="DCD8C8"/>
            </a:solidFill>
            <a:prstDash val="solid"/>
          </a:ln>
        </p:spPr>
      </p:sp>
      <p:sp>
        <p:nvSpPr>
          <p:cNvPr id="10" name="Text 8"/>
          <p:cNvSpPr/>
          <p:nvPr/>
        </p:nvSpPr>
        <p:spPr>
          <a:xfrm>
            <a:off x="548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1" name="Text 9"/>
          <p:cNvSpPr/>
          <p:nvPr/>
        </p:nvSpPr>
        <p:spPr>
          <a:xfrm>
            <a:off x="548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Cliënten</a:t>
            </a:r>
            <a:endParaRPr lang="en-US" sz="900" dirty="0"/>
          </a:p>
        </p:txBody>
      </p:sp>
      <p:sp>
        <p:nvSpPr>
          <p:cNvPr id="12" name="Shape 10"/>
          <p:cNvSpPr/>
          <p:nvPr/>
        </p:nvSpPr>
        <p:spPr>
          <a:xfrm>
            <a:off x="1691640" y="2423160"/>
            <a:ext cx="1033272" cy="1234440"/>
          </a:xfrm>
          <a:prstGeom prst="roundRect">
            <a:avLst>
              <a:gd name="adj" fmla="val 8850"/>
            </a:avLst>
          </a:prstGeom>
          <a:solidFill>
            <a:srgbClr val="E0FE9C"/>
          </a:solidFill>
          <a:ln w="12700">
            <a:solidFill>
              <a:srgbClr val="DCD8C8"/>
            </a:solidFill>
            <a:prstDash val="solid"/>
          </a:ln>
        </p:spPr>
      </p:sp>
      <p:sp>
        <p:nvSpPr>
          <p:cNvPr id="13" name="Text 11"/>
          <p:cNvSpPr/>
          <p:nvPr/>
        </p:nvSpPr>
        <p:spPr>
          <a:xfrm>
            <a:off x="1691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4" name="Text 12"/>
          <p:cNvSpPr/>
          <p:nvPr/>
        </p:nvSpPr>
        <p:spPr>
          <a:xfrm>
            <a:off x="1691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Taken</a:t>
            </a:r>
            <a:endParaRPr lang="en-US" sz="900" dirty="0"/>
          </a:p>
        </p:txBody>
      </p:sp>
      <p:sp>
        <p:nvSpPr>
          <p:cNvPr id="15" name="Shape 13"/>
          <p:cNvSpPr/>
          <p:nvPr/>
        </p:nvSpPr>
        <p:spPr>
          <a:xfrm>
            <a:off x="2834640" y="2423160"/>
            <a:ext cx="1033272" cy="1234440"/>
          </a:xfrm>
          <a:prstGeom prst="roundRect">
            <a:avLst>
              <a:gd name="adj" fmla="val 8850"/>
            </a:avLst>
          </a:prstGeom>
          <a:solidFill>
            <a:srgbClr val="F0CDFF"/>
          </a:solidFill>
          <a:ln w="12700">
            <a:solidFill>
              <a:srgbClr val="DCD8C8"/>
            </a:solidFill>
            <a:prstDash val="solid"/>
          </a:ln>
        </p:spPr>
      </p:sp>
      <p:sp>
        <p:nvSpPr>
          <p:cNvPr id="16" name="Text 14"/>
          <p:cNvSpPr/>
          <p:nvPr/>
        </p:nvSpPr>
        <p:spPr>
          <a:xfrm>
            <a:off x="2834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2834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Doelen</a:t>
            </a:r>
            <a:endParaRPr lang="en-US" sz="900" dirty="0"/>
          </a:p>
        </p:txBody>
      </p:sp>
      <p:sp>
        <p:nvSpPr>
          <p:cNvPr id="18" name="Shape 16"/>
          <p:cNvSpPr/>
          <p:nvPr/>
        </p:nvSpPr>
        <p:spPr>
          <a:xfrm>
            <a:off x="3977640" y="2423160"/>
            <a:ext cx="1033272" cy="1234440"/>
          </a:xfrm>
          <a:prstGeom prst="roundRect">
            <a:avLst>
              <a:gd name="adj" fmla="val 8850"/>
            </a:avLst>
          </a:prstGeom>
          <a:solidFill>
            <a:srgbClr val="FFD3C2"/>
          </a:solidFill>
          <a:ln w="12700">
            <a:solidFill>
              <a:srgbClr val="DCD8C8"/>
            </a:solidFill>
            <a:prstDash val="solid"/>
          </a:ln>
        </p:spPr>
      </p:sp>
      <p:sp>
        <p:nvSpPr>
          <p:cNvPr id="19" name="Text 17"/>
          <p:cNvSpPr/>
          <p:nvPr/>
        </p:nvSpPr>
        <p:spPr>
          <a:xfrm>
            <a:off x="3977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0" name="Text 18"/>
          <p:cNvSpPr/>
          <p:nvPr/>
        </p:nvSpPr>
        <p:spPr>
          <a:xfrm>
            <a:off x="3977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Beloningen</a:t>
            </a:r>
            <a:endParaRPr lang="en-US" sz="900" dirty="0"/>
          </a:p>
        </p:txBody>
      </p:sp>
      <p:sp>
        <p:nvSpPr>
          <p:cNvPr id="21" name="Shape 19"/>
          <p:cNvSpPr/>
          <p:nvPr/>
        </p:nvSpPr>
        <p:spPr>
          <a:xfrm>
            <a:off x="5120640" y="2423160"/>
            <a:ext cx="1033272" cy="1234440"/>
          </a:xfrm>
          <a:prstGeom prst="roundRect">
            <a:avLst>
              <a:gd name="adj" fmla="val 8850"/>
            </a:avLst>
          </a:prstGeom>
          <a:solidFill>
            <a:srgbClr val="B2DCFA"/>
          </a:solidFill>
          <a:ln w="12700">
            <a:solidFill>
              <a:srgbClr val="DCD8C8"/>
            </a:solidFill>
            <a:prstDash val="solid"/>
          </a:ln>
        </p:spPr>
      </p:sp>
      <p:sp>
        <p:nvSpPr>
          <p:cNvPr id="22" name="Text 20"/>
          <p:cNvSpPr/>
          <p:nvPr/>
        </p:nvSpPr>
        <p:spPr>
          <a:xfrm>
            <a:off x="5120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3" name="Text 21"/>
          <p:cNvSpPr/>
          <p:nvPr/>
        </p:nvSpPr>
        <p:spPr>
          <a:xfrm>
            <a:off x="5120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Chat</a:t>
            </a:r>
            <a:endParaRPr lang="en-US" sz="900" dirty="0"/>
          </a:p>
        </p:txBody>
      </p:sp>
      <p:sp>
        <p:nvSpPr>
          <p:cNvPr id="24" name="Shape 22"/>
          <p:cNvSpPr/>
          <p:nvPr/>
        </p:nvSpPr>
        <p:spPr>
          <a:xfrm>
            <a:off x="548640" y="3767328"/>
            <a:ext cx="1033272" cy="1234440"/>
          </a:xfrm>
          <a:prstGeom prst="roundRect">
            <a:avLst>
              <a:gd name="adj" fmla="val 8850"/>
            </a:avLst>
          </a:prstGeom>
          <a:solidFill>
            <a:srgbClr val="E0A9C2"/>
          </a:solidFill>
          <a:ln w="12700">
            <a:solidFill>
              <a:srgbClr val="DCD8C8"/>
            </a:solidFill>
            <a:prstDash val="solid"/>
          </a:ln>
        </p:spPr>
      </p:sp>
      <p:sp>
        <p:nvSpPr>
          <p:cNvPr id="25" name="Text 23"/>
          <p:cNvSpPr/>
          <p:nvPr/>
        </p:nvSpPr>
        <p:spPr>
          <a:xfrm>
            <a:off x="548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6" name="Text 24"/>
          <p:cNvSpPr/>
          <p:nvPr/>
        </p:nvSpPr>
        <p:spPr>
          <a:xfrm>
            <a:off x="548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Medicijnen</a:t>
            </a:r>
            <a:endParaRPr lang="en-US" sz="900" dirty="0"/>
          </a:p>
        </p:txBody>
      </p:sp>
      <p:sp>
        <p:nvSpPr>
          <p:cNvPr id="27" name="Shape 25"/>
          <p:cNvSpPr/>
          <p:nvPr/>
        </p:nvSpPr>
        <p:spPr>
          <a:xfrm>
            <a:off x="1691640" y="3767328"/>
            <a:ext cx="1033272" cy="1234440"/>
          </a:xfrm>
          <a:prstGeom prst="roundRect">
            <a:avLst>
              <a:gd name="adj" fmla="val 8850"/>
            </a:avLst>
          </a:prstGeom>
          <a:solidFill>
            <a:srgbClr val="F0CDFF"/>
          </a:solidFill>
          <a:ln w="12700">
            <a:solidFill>
              <a:srgbClr val="DCD8C8"/>
            </a:solidFill>
            <a:prstDash val="solid"/>
          </a:ln>
        </p:spPr>
      </p:sp>
      <p:sp>
        <p:nvSpPr>
          <p:cNvPr id="28" name="Text 26"/>
          <p:cNvSpPr/>
          <p:nvPr/>
        </p:nvSpPr>
        <p:spPr>
          <a:xfrm>
            <a:off x="1691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9" name="Text 27"/>
          <p:cNvSpPr/>
          <p:nvPr/>
        </p:nvSpPr>
        <p:spPr>
          <a:xfrm>
            <a:off x="1691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Vol hoofd</a:t>
            </a:r>
            <a:endParaRPr lang="en-US" sz="900" dirty="0"/>
          </a:p>
        </p:txBody>
      </p:sp>
      <p:sp>
        <p:nvSpPr>
          <p:cNvPr id="30" name="Shape 28"/>
          <p:cNvSpPr/>
          <p:nvPr/>
        </p:nvSpPr>
        <p:spPr>
          <a:xfrm>
            <a:off x="2834640" y="3767328"/>
            <a:ext cx="1033272" cy="1234440"/>
          </a:xfrm>
          <a:prstGeom prst="roundRect">
            <a:avLst>
              <a:gd name="adj" fmla="val 8850"/>
            </a:avLst>
          </a:prstGeom>
          <a:solidFill>
            <a:srgbClr val="80A599"/>
          </a:solidFill>
          <a:ln w="12700">
            <a:solidFill>
              <a:srgbClr val="DCD8C8"/>
            </a:solidFill>
            <a:prstDash val="solid"/>
          </a:ln>
        </p:spPr>
      </p:sp>
      <p:sp>
        <p:nvSpPr>
          <p:cNvPr id="31" name="Text 29"/>
          <p:cNvSpPr/>
          <p:nvPr/>
        </p:nvSpPr>
        <p:spPr>
          <a:xfrm>
            <a:off x="2834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2" name="Text 30"/>
          <p:cNvSpPr/>
          <p:nvPr/>
        </p:nvSpPr>
        <p:spPr>
          <a:xfrm>
            <a:off x="2834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Op dienst</a:t>
            </a:r>
            <a:endParaRPr lang="en-US" sz="900" dirty="0"/>
          </a:p>
        </p:txBody>
      </p:sp>
      <p:sp>
        <p:nvSpPr>
          <p:cNvPr id="33" name="Shape 31"/>
          <p:cNvSpPr/>
          <p:nvPr/>
        </p:nvSpPr>
        <p:spPr>
          <a:xfrm>
            <a:off x="3977640" y="3767328"/>
            <a:ext cx="1033272" cy="1234440"/>
          </a:xfrm>
          <a:prstGeom prst="roundRect">
            <a:avLst>
              <a:gd name="adj" fmla="val 8850"/>
            </a:avLst>
          </a:prstGeom>
          <a:solidFill>
            <a:srgbClr val="FFD3C2"/>
          </a:solidFill>
          <a:ln w="12700">
            <a:solidFill>
              <a:srgbClr val="DCD8C8"/>
            </a:solidFill>
            <a:prstDash val="solid"/>
          </a:ln>
        </p:spPr>
      </p:sp>
      <p:sp>
        <p:nvSpPr>
          <p:cNvPr id="34" name="Text 32"/>
          <p:cNvSpPr/>
          <p:nvPr/>
        </p:nvSpPr>
        <p:spPr>
          <a:xfrm>
            <a:off x="3977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5" name="Text 33"/>
          <p:cNvSpPr/>
          <p:nvPr/>
        </p:nvSpPr>
        <p:spPr>
          <a:xfrm>
            <a:off x="3977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Rapportage</a:t>
            </a:r>
            <a:endParaRPr lang="en-US" sz="900" dirty="0"/>
          </a:p>
        </p:txBody>
      </p:sp>
      <p:sp>
        <p:nvSpPr>
          <p:cNvPr id="36" name="Shape 34"/>
          <p:cNvSpPr/>
          <p:nvPr/>
        </p:nvSpPr>
        <p:spPr>
          <a:xfrm>
            <a:off x="5120640" y="3767328"/>
            <a:ext cx="1033272" cy="1234440"/>
          </a:xfrm>
          <a:prstGeom prst="roundRect">
            <a:avLst>
              <a:gd name="adj" fmla="val 8850"/>
            </a:avLst>
          </a:prstGeom>
          <a:solidFill>
            <a:srgbClr val="FFFFFF"/>
          </a:solidFill>
          <a:ln w="12700">
            <a:solidFill>
              <a:srgbClr val="DCD8C8"/>
            </a:solidFill>
            <a:prstDash val="solid"/>
          </a:ln>
        </p:spPr>
      </p:sp>
      <p:sp>
        <p:nvSpPr>
          <p:cNvPr id="37" name="Text 35"/>
          <p:cNvSpPr/>
          <p:nvPr/>
        </p:nvSpPr>
        <p:spPr>
          <a:xfrm>
            <a:off x="5120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8" name="Text 36"/>
          <p:cNvSpPr/>
          <p:nvPr/>
        </p:nvSpPr>
        <p:spPr>
          <a:xfrm>
            <a:off x="5120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Instellingen</a:t>
            </a:r>
            <a:endParaRPr lang="en-US" sz="900" dirty="0"/>
          </a:p>
        </p:txBody>
      </p:sp>
      <p:sp>
        <p:nvSpPr>
          <p:cNvPr id="39" name="Shape 37"/>
          <p:cNvSpPr/>
          <p:nvPr/>
        </p:nvSpPr>
        <p:spPr>
          <a:xfrm>
            <a:off x="6217920" y="2331720"/>
            <a:ext cx="5486400" cy="4160520"/>
          </a:xfrm>
          <a:prstGeom prst="roundRect">
            <a:avLst>
              <a:gd name="adj" fmla="val 4396"/>
            </a:avLst>
          </a:prstGeom>
          <a:solidFill>
            <a:srgbClr val="16645F"/>
          </a:solidFill>
          <a:ln w="12700">
            <a:solidFill>
              <a:srgbClr val="16645F"/>
            </a:solidFill>
            <a:prstDash val="solid"/>
          </a:ln>
        </p:spPr>
      </p:sp>
      <p:sp>
        <p:nvSpPr>
          <p:cNvPr id="40" name="Shape 38"/>
          <p:cNvSpPr/>
          <p:nvPr/>
        </p:nvSpPr>
        <p:spPr>
          <a:xfrm>
            <a:off x="6583680" y="2697480"/>
            <a:ext cx="1645920" cy="365760"/>
          </a:xfrm>
          <a:prstGeom prst="roundRect">
            <a:avLst>
              <a:gd name="adj" fmla="val 50000"/>
            </a:avLst>
          </a:prstGeom>
          <a:solidFill>
            <a:srgbClr val="E0805A"/>
          </a:solidFill>
          <a:ln w="12700">
            <a:solidFill>
              <a:srgbClr val="E0805A"/>
            </a:solidFill>
            <a:prstDash val="solid"/>
          </a:ln>
        </p:spPr>
      </p:sp>
      <p:sp>
        <p:nvSpPr>
          <p:cNvPr id="41" name="Text 39"/>
          <p:cNvSpPr/>
          <p:nvPr/>
        </p:nvSpPr>
        <p:spPr>
          <a:xfrm>
            <a:off x="6583680" y="2697480"/>
            <a:ext cx="1645920" cy="365760"/>
          </a:xfrm>
          <a:prstGeom prst="rect">
            <a:avLst/>
          </a:prstGeom>
          <a:noFill/>
          <a:ln/>
        </p:spPr>
        <p:txBody>
          <a:bodyPr wrap="square" rtlCol="0" anchor="ctr"/>
          <a:lstStyle/>
          <a:p>
            <a:pPr algn="ctr" indent="0" marL="0">
              <a:buNone/>
            </a:pPr>
            <a:r>
              <a:rPr lang="en-US" sz="1000" b="1" spc="400" kern="0" dirty="0">
                <a:solidFill>
                  <a:srgbClr val="FFFFFF"/>
                </a:solidFill>
                <a:latin typeface="Helvetica" pitchFamily="34" charset="0"/>
                <a:ea typeface="Helvetica" pitchFamily="34" charset="-122"/>
                <a:cs typeface="Helvetica" pitchFamily="34" charset="-120"/>
              </a:rPr>
              <a:t>AI INGEBOUWD</a:t>
            </a:r>
            <a:endParaRPr lang="en-US" sz="1000" dirty="0"/>
          </a:p>
        </p:txBody>
      </p:sp>
      <p:sp>
        <p:nvSpPr>
          <p:cNvPr id="42" name="Text 40"/>
          <p:cNvSpPr/>
          <p:nvPr/>
        </p:nvSpPr>
        <p:spPr>
          <a:xfrm>
            <a:off x="6583680" y="3246120"/>
            <a:ext cx="4754880" cy="502920"/>
          </a:xfrm>
          <a:prstGeom prst="rect">
            <a:avLst/>
          </a:prstGeom>
          <a:noFill/>
          <a:ln/>
        </p:spPr>
        <p:txBody>
          <a:bodyPr wrap="square" rtlCol="0" anchor="ctr"/>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Slim &amp; lichter werk</a:t>
            </a:r>
            <a:endParaRPr lang="en-US" sz="2400" dirty="0"/>
          </a:p>
        </p:txBody>
      </p:sp>
      <p:sp>
        <p:nvSpPr>
          <p:cNvPr id="43" name="Shape 41"/>
          <p:cNvSpPr/>
          <p:nvPr/>
        </p:nvSpPr>
        <p:spPr>
          <a:xfrm>
            <a:off x="6583680" y="4023360"/>
            <a:ext cx="411480" cy="411480"/>
          </a:xfrm>
          <a:prstGeom prst="ellipse">
            <a:avLst/>
          </a:prstGeom>
          <a:solidFill>
            <a:srgbClr val="80A599"/>
          </a:solidFill>
          <a:ln w="12700">
            <a:solidFill>
              <a:srgbClr val="80A599"/>
            </a:solidFill>
            <a:prstDash val="solid"/>
          </a:ln>
        </p:spPr>
      </p:sp>
      <p:sp>
        <p:nvSpPr>
          <p:cNvPr id="44" name="Text 42"/>
          <p:cNvSpPr/>
          <p:nvPr/>
        </p:nvSpPr>
        <p:spPr>
          <a:xfrm>
            <a:off x="6583680" y="4023360"/>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45" name="Text 43"/>
          <p:cNvSpPr/>
          <p:nvPr/>
        </p:nvSpPr>
        <p:spPr>
          <a:xfrm>
            <a:off x="7132320" y="4005072"/>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Taken genereren uit een korte beschrijving</a:t>
            </a:r>
            <a:endParaRPr lang="en-US" sz="1350" dirty="0"/>
          </a:p>
        </p:txBody>
      </p:sp>
      <p:sp>
        <p:nvSpPr>
          <p:cNvPr id="46" name="Shape 44"/>
          <p:cNvSpPr/>
          <p:nvPr/>
        </p:nvSpPr>
        <p:spPr>
          <a:xfrm>
            <a:off x="6583680" y="4590288"/>
            <a:ext cx="411480" cy="411480"/>
          </a:xfrm>
          <a:prstGeom prst="ellipse">
            <a:avLst/>
          </a:prstGeom>
          <a:solidFill>
            <a:srgbClr val="80A599"/>
          </a:solidFill>
          <a:ln w="12700">
            <a:solidFill>
              <a:srgbClr val="80A599"/>
            </a:solidFill>
            <a:prstDash val="solid"/>
          </a:ln>
        </p:spPr>
      </p:sp>
      <p:sp>
        <p:nvSpPr>
          <p:cNvPr id="47" name="Text 45"/>
          <p:cNvSpPr/>
          <p:nvPr/>
        </p:nvSpPr>
        <p:spPr>
          <a:xfrm>
            <a:off x="6583680" y="4590288"/>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48" name="Text 46"/>
          <p:cNvSpPr/>
          <p:nvPr/>
        </p:nvSpPr>
        <p:spPr>
          <a:xfrm>
            <a:off x="7132320" y="4572000"/>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Stappen herschrijven naar B1-taalniveau</a:t>
            </a:r>
            <a:endParaRPr lang="en-US" sz="1350" dirty="0"/>
          </a:p>
        </p:txBody>
      </p:sp>
      <p:sp>
        <p:nvSpPr>
          <p:cNvPr id="49" name="Shape 47"/>
          <p:cNvSpPr/>
          <p:nvPr/>
        </p:nvSpPr>
        <p:spPr>
          <a:xfrm>
            <a:off x="6583680" y="5157216"/>
            <a:ext cx="411480" cy="411480"/>
          </a:xfrm>
          <a:prstGeom prst="ellipse">
            <a:avLst/>
          </a:prstGeom>
          <a:solidFill>
            <a:srgbClr val="80A599"/>
          </a:solidFill>
          <a:ln w="12700">
            <a:solidFill>
              <a:srgbClr val="80A599"/>
            </a:solidFill>
            <a:prstDash val="solid"/>
          </a:ln>
        </p:spPr>
      </p:sp>
      <p:sp>
        <p:nvSpPr>
          <p:cNvPr id="50" name="Text 48"/>
          <p:cNvSpPr/>
          <p:nvPr/>
        </p:nvSpPr>
        <p:spPr>
          <a:xfrm>
            <a:off x="6583680" y="5157216"/>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51" name="Text 49"/>
          <p:cNvSpPr/>
          <p:nvPr/>
        </p:nvSpPr>
        <p:spPr>
          <a:xfrm>
            <a:off x="7132320" y="5138928"/>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Dagrapportages met één klik</a:t>
            </a:r>
            <a:endParaRPr lang="en-US" sz="1350" dirty="0"/>
          </a:p>
        </p:txBody>
      </p:sp>
      <p:sp>
        <p:nvSpPr>
          <p:cNvPr id="52" name="Shape 50"/>
          <p:cNvSpPr/>
          <p:nvPr/>
        </p:nvSpPr>
        <p:spPr>
          <a:xfrm>
            <a:off x="6583680" y="5724144"/>
            <a:ext cx="411480" cy="411480"/>
          </a:xfrm>
          <a:prstGeom prst="ellipse">
            <a:avLst/>
          </a:prstGeom>
          <a:solidFill>
            <a:srgbClr val="80A599"/>
          </a:solidFill>
          <a:ln w="12700">
            <a:solidFill>
              <a:srgbClr val="80A599"/>
            </a:solidFill>
            <a:prstDash val="solid"/>
          </a:ln>
        </p:spPr>
      </p:sp>
      <p:sp>
        <p:nvSpPr>
          <p:cNvPr id="53" name="Text 51"/>
          <p:cNvSpPr/>
          <p:nvPr/>
        </p:nvSpPr>
        <p:spPr>
          <a:xfrm>
            <a:off x="6583680" y="5724144"/>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54" name="Text 52"/>
          <p:cNvSpPr/>
          <p:nvPr/>
        </p:nvSpPr>
        <p:spPr>
          <a:xfrm>
            <a:off x="7132320" y="5705856"/>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Patroonanalyse over 30 dagen</a:t>
            </a:r>
            <a:endParaRPr lang="en-US" sz="1350" dirty="0"/>
          </a:p>
        </p:txBody>
      </p:sp>
      <p:sp>
        <p:nvSpPr>
          <p:cNvPr id="55" name="Shape 53"/>
          <p:cNvSpPr/>
          <p:nvPr/>
        </p:nvSpPr>
        <p:spPr>
          <a:xfrm>
            <a:off x="411480" y="6446520"/>
            <a:ext cx="228600" cy="228600"/>
          </a:xfrm>
          <a:prstGeom prst="ellipse">
            <a:avLst/>
          </a:prstGeom>
          <a:solidFill>
            <a:srgbClr val="16645F"/>
          </a:solidFill>
          <a:ln w="12700">
            <a:solidFill>
              <a:srgbClr val="16645F"/>
            </a:solidFill>
            <a:prstDash val="solid"/>
          </a:ln>
        </p:spPr>
      </p:sp>
      <p:sp>
        <p:nvSpPr>
          <p:cNvPr id="56" name="Text 54"/>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57" name="Text 55"/>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05 · FEATURE SPOTLIGHT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Eerst herkennen, dán reguleren</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De nieuwe vol hoofd-flow.</a:t>
            </a:r>
            <a:endParaRPr lang="en-US" sz="1500" dirty="0"/>
          </a:p>
        </p:txBody>
      </p:sp>
      <p:sp>
        <p:nvSpPr>
          <p:cNvPr id="5" name="Shape 3"/>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6" name="Shape 4"/>
          <p:cNvSpPr/>
          <p:nvPr/>
        </p:nvSpPr>
        <p:spPr>
          <a:xfrm>
            <a:off x="8961120" y="502920"/>
            <a:ext cx="109728" cy="868680"/>
          </a:xfrm>
          <a:prstGeom prst="rect">
            <a:avLst/>
          </a:prstGeom>
          <a:solidFill>
            <a:srgbClr val="FFD3C2"/>
          </a:solidFill>
          <a:ln w="12700">
            <a:solidFill>
              <a:srgbClr val="FFD3C2"/>
            </a:solidFill>
            <a:prstDash val="solid"/>
          </a:ln>
        </p:spPr>
      </p:sp>
      <p:sp>
        <p:nvSpPr>
          <p:cNvPr id="7" name="Text 5"/>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8" name="Text 6"/>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4</a:t>
            </a:r>
            <a:endParaRPr lang="en-US" sz="1200" dirty="0"/>
          </a:p>
        </p:txBody>
      </p:sp>
      <p:sp>
        <p:nvSpPr>
          <p:cNvPr id="9" name="Text 7"/>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Emotion regulation in ID, Tandfonline 2024</a:t>
            </a:r>
            <a:endParaRPr lang="en-US" sz="950" dirty="0"/>
          </a:p>
        </p:txBody>
      </p:sp>
      <p:sp>
        <p:nvSpPr>
          <p:cNvPr id="10" name="Shape 8"/>
          <p:cNvSpPr/>
          <p:nvPr/>
        </p:nvSpPr>
        <p:spPr>
          <a:xfrm>
            <a:off x="548640" y="2606040"/>
            <a:ext cx="3657600" cy="2286000"/>
          </a:xfrm>
          <a:prstGeom prst="roundRect">
            <a:avLst>
              <a:gd name="adj" fmla="val 6000"/>
            </a:avLst>
          </a:prstGeom>
          <a:solidFill>
            <a:srgbClr val="FFFFFF"/>
          </a:solidFill>
          <a:ln w="12700">
            <a:solidFill>
              <a:srgbClr val="DCD8C8"/>
            </a:solidFill>
            <a:prstDash val="solid"/>
          </a:ln>
        </p:spPr>
      </p:sp>
      <p:sp>
        <p:nvSpPr>
          <p:cNvPr id="11" name="Shape 9"/>
          <p:cNvSpPr/>
          <p:nvPr/>
        </p:nvSpPr>
        <p:spPr>
          <a:xfrm>
            <a:off x="1828800" y="2880360"/>
            <a:ext cx="1097280" cy="1097280"/>
          </a:xfrm>
          <a:prstGeom prst="ellipse">
            <a:avLst/>
          </a:prstGeom>
          <a:solidFill>
            <a:srgbClr val="F0CDFF"/>
          </a:solidFill>
          <a:ln w="12700">
            <a:solidFill>
              <a:srgbClr val="F0CDFF"/>
            </a:solidFill>
            <a:prstDash val="solid"/>
          </a:ln>
        </p:spPr>
      </p:sp>
      <p:sp>
        <p:nvSpPr>
          <p:cNvPr id="12" name="Text 10"/>
          <p:cNvSpPr/>
          <p:nvPr/>
        </p:nvSpPr>
        <p:spPr>
          <a:xfrm>
            <a:off x="182880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13" name="Text 11"/>
          <p:cNvSpPr/>
          <p:nvPr/>
        </p:nvSpPr>
        <p:spPr>
          <a:xfrm>
            <a:off x="73152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1. Hoe voelt het?</a:t>
            </a:r>
            <a:endParaRPr lang="en-US" sz="1600" dirty="0"/>
          </a:p>
        </p:txBody>
      </p:sp>
      <p:sp>
        <p:nvSpPr>
          <p:cNvPr id="14" name="Text 12"/>
          <p:cNvSpPr/>
          <p:nvPr/>
        </p:nvSpPr>
        <p:spPr>
          <a:xfrm>
            <a:off x="73152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Druk · Boos · Verdrietig</a:t>
            </a:r>
            <a:endParaRPr lang="en-US" sz="1150" dirty="0"/>
          </a:p>
        </p:txBody>
      </p:sp>
      <p:sp>
        <p:nvSpPr>
          <p:cNvPr id="15" name="Shape 13"/>
          <p:cNvSpPr/>
          <p:nvPr/>
        </p:nvSpPr>
        <p:spPr>
          <a:xfrm>
            <a:off x="4389120" y="2606040"/>
            <a:ext cx="3657600" cy="2286000"/>
          </a:xfrm>
          <a:prstGeom prst="roundRect">
            <a:avLst>
              <a:gd name="adj" fmla="val 6000"/>
            </a:avLst>
          </a:prstGeom>
          <a:solidFill>
            <a:srgbClr val="FFFFFF"/>
          </a:solidFill>
          <a:ln w="12700">
            <a:solidFill>
              <a:srgbClr val="DCD8C8"/>
            </a:solidFill>
            <a:prstDash val="solid"/>
          </a:ln>
        </p:spPr>
      </p:sp>
      <p:sp>
        <p:nvSpPr>
          <p:cNvPr id="16" name="Shape 14"/>
          <p:cNvSpPr/>
          <p:nvPr/>
        </p:nvSpPr>
        <p:spPr>
          <a:xfrm>
            <a:off x="5669280" y="2880360"/>
            <a:ext cx="1097280" cy="1097280"/>
          </a:xfrm>
          <a:prstGeom prst="ellipse">
            <a:avLst/>
          </a:prstGeom>
          <a:solidFill>
            <a:srgbClr val="FFD3C2"/>
          </a:solidFill>
          <a:ln w="12700">
            <a:solidFill>
              <a:srgbClr val="FFD3C2"/>
            </a:solidFill>
            <a:prstDash val="solid"/>
          </a:ln>
        </p:spPr>
      </p:sp>
      <p:sp>
        <p:nvSpPr>
          <p:cNvPr id="17" name="Text 15"/>
          <p:cNvSpPr/>
          <p:nvPr/>
        </p:nvSpPr>
        <p:spPr>
          <a:xfrm>
            <a:off x="566928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18" name="Text 16"/>
          <p:cNvSpPr/>
          <p:nvPr/>
        </p:nvSpPr>
        <p:spPr>
          <a:xfrm>
            <a:off x="457200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2. Wat helpt nu?</a:t>
            </a:r>
            <a:endParaRPr lang="en-US" sz="1600" dirty="0"/>
          </a:p>
        </p:txBody>
      </p:sp>
      <p:sp>
        <p:nvSpPr>
          <p:cNvPr id="19" name="Text 17"/>
          <p:cNvSpPr/>
          <p:nvPr/>
        </p:nvSpPr>
        <p:spPr>
          <a:xfrm>
            <a:off x="457200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Passende activiteit kiezen</a:t>
            </a:r>
            <a:endParaRPr lang="en-US" sz="1150" dirty="0"/>
          </a:p>
        </p:txBody>
      </p:sp>
      <p:sp>
        <p:nvSpPr>
          <p:cNvPr id="20" name="Shape 18"/>
          <p:cNvSpPr/>
          <p:nvPr/>
        </p:nvSpPr>
        <p:spPr>
          <a:xfrm>
            <a:off x="8229600" y="2606040"/>
            <a:ext cx="3657600" cy="2286000"/>
          </a:xfrm>
          <a:prstGeom prst="roundRect">
            <a:avLst>
              <a:gd name="adj" fmla="val 6000"/>
            </a:avLst>
          </a:prstGeom>
          <a:solidFill>
            <a:srgbClr val="FFFFFF"/>
          </a:solidFill>
          <a:ln w="12700">
            <a:solidFill>
              <a:srgbClr val="DCD8C8"/>
            </a:solidFill>
            <a:prstDash val="solid"/>
          </a:ln>
        </p:spPr>
      </p:sp>
      <p:sp>
        <p:nvSpPr>
          <p:cNvPr id="21" name="Shape 19"/>
          <p:cNvSpPr/>
          <p:nvPr/>
        </p:nvSpPr>
        <p:spPr>
          <a:xfrm>
            <a:off x="9509760" y="2880360"/>
            <a:ext cx="1097280" cy="1097280"/>
          </a:xfrm>
          <a:prstGeom prst="ellipse">
            <a:avLst/>
          </a:prstGeom>
          <a:solidFill>
            <a:srgbClr val="E0FE9C"/>
          </a:solidFill>
          <a:ln w="12700">
            <a:solidFill>
              <a:srgbClr val="E0FE9C"/>
            </a:solidFill>
            <a:prstDash val="solid"/>
          </a:ln>
        </p:spPr>
      </p:sp>
      <p:sp>
        <p:nvSpPr>
          <p:cNvPr id="22" name="Text 20"/>
          <p:cNvSpPr/>
          <p:nvPr/>
        </p:nvSpPr>
        <p:spPr>
          <a:xfrm>
            <a:off x="950976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23" name="Text 21"/>
          <p:cNvSpPr/>
          <p:nvPr/>
        </p:nvSpPr>
        <p:spPr>
          <a:xfrm>
            <a:off x="841248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3. Hielp dit?</a:t>
            </a:r>
            <a:endParaRPr lang="en-US" sz="1600" dirty="0"/>
          </a:p>
        </p:txBody>
      </p:sp>
      <p:sp>
        <p:nvSpPr>
          <p:cNvPr id="24" name="Text 22"/>
          <p:cNvSpPr/>
          <p:nvPr/>
        </p:nvSpPr>
        <p:spPr>
          <a:xfrm>
            <a:off x="841248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Feedback van de cliënt zelf</a:t>
            </a:r>
            <a:endParaRPr lang="en-US" sz="1150" dirty="0"/>
          </a:p>
        </p:txBody>
      </p:sp>
      <p:sp>
        <p:nvSpPr>
          <p:cNvPr id="25" name="Text 23"/>
          <p:cNvSpPr/>
          <p:nvPr/>
        </p:nvSpPr>
        <p:spPr>
          <a:xfrm>
            <a:off x="4206240" y="3520440"/>
            <a:ext cx="182880" cy="457200"/>
          </a:xfrm>
          <a:prstGeom prst="rect">
            <a:avLst/>
          </a:prstGeom>
          <a:noFill/>
          <a:ln/>
        </p:spPr>
        <p:txBody>
          <a:bodyPr wrap="square" rtlCol="0" anchor="ctr"/>
          <a:lstStyle/>
          <a:p>
            <a:pPr algn="ctr" indent="0" marL="0">
              <a:buNone/>
            </a:pPr>
            <a:r>
              <a:rPr lang="en-US" sz="2200" b="1" dirty="0">
                <a:solidFill>
                  <a:srgbClr val="E0805A"/>
                </a:solidFill>
              </a:rPr>
              <a:t>→</a:t>
            </a:r>
            <a:endParaRPr lang="en-US" sz="2200" dirty="0"/>
          </a:p>
        </p:txBody>
      </p:sp>
      <p:sp>
        <p:nvSpPr>
          <p:cNvPr id="26" name="Text 24"/>
          <p:cNvSpPr/>
          <p:nvPr/>
        </p:nvSpPr>
        <p:spPr>
          <a:xfrm>
            <a:off x="8046720" y="3520440"/>
            <a:ext cx="182880" cy="457200"/>
          </a:xfrm>
          <a:prstGeom prst="rect">
            <a:avLst/>
          </a:prstGeom>
          <a:noFill/>
          <a:ln/>
        </p:spPr>
        <p:txBody>
          <a:bodyPr wrap="square" rtlCol="0" anchor="ctr"/>
          <a:lstStyle/>
          <a:p>
            <a:pPr algn="ctr" indent="0" marL="0">
              <a:buNone/>
            </a:pPr>
            <a:r>
              <a:rPr lang="en-US" sz="2200" b="1" dirty="0">
                <a:solidFill>
                  <a:srgbClr val="E0805A"/>
                </a:solidFill>
              </a:rPr>
              <a:t>→</a:t>
            </a:r>
            <a:endParaRPr lang="en-US" sz="2200" dirty="0"/>
          </a:p>
        </p:txBody>
      </p:sp>
      <p:sp>
        <p:nvSpPr>
          <p:cNvPr id="27" name="Shape 25"/>
          <p:cNvSpPr/>
          <p:nvPr/>
        </p:nvSpPr>
        <p:spPr>
          <a:xfrm>
            <a:off x="548640" y="5212080"/>
            <a:ext cx="11155680" cy="1097280"/>
          </a:xfrm>
          <a:prstGeom prst="roundRect">
            <a:avLst>
              <a:gd name="adj" fmla="val 12500"/>
            </a:avLst>
          </a:prstGeom>
          <a:solidFill>
            <a:srgbClr val="16645F"/>
          </a:solidFill>
          <a:ln w="12700">
            <a:solidFill>
              <a:srgbClr val="16645F"/>
            </a:solidFill>
            <a:prstDash val="solid"/>
          </a:ln>
        </p:spPr>
      </p:sp>
      <p:sp>
        <p:nvSpPr>
          <p:cNvPr id="28" name="Text 26"/>
          <p:cNvSpPr/>
          <p:nvPr/>
        </p:nvSpPr>
        <p:spPr>
          <a:xfrm>
            <a:off x="777240" y="5303520"/>
            <a:ext cx="3657600" cy="32004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Waarom dit werkt</a:t>
            </a:r>
            <a:endParaRPr lang="en-US" sz="1100" dirty="0"/>
          </a:p>
        </p:txBody>
      </p:sp>
      <p:sp>
        <p:nvSpPr>
          <p:cNvPr id="29" name="Text 27"/>
          <p:cNvSpPr/>
          <p:nvPr/>
        </p:nvSpPr>
        <p:spPr>
          <a:xfrm>
            <a:off x="777240" y="5577840"/>
            <a:ext cx="10972800" cy="640080"/>
          </a:xfrm>
          <a:prstGeom prst="rect">
            <a:avLst/>
          </a:prstGeom>
          <a:noFill/>
          <a:ln/>
        </p:spPr>
        <p:txBody>
          <a:bodyPr wrap="square" rtlCol="0" anchor="t"/>
          <a:lstStyle/>
          <a:p>
            <a:pPr indent="0" marL="0">
              <a:buNone/>
            </a:pPr>
            <a:r>
              <a:rPr lang="en-US" sz="1200" dirty="0">
                <a:solidFill>
                  <a:srgbClr val="FFFFFF"/>
                </a:solidFill>
                <a:latin typeface="Helvetica" pitchFamily="34" charset="0"/>
                <a:ea typeface="Helvetica" pitchFamily="34" charset="-122"/>
                <a:cs typeface="Helvetica" pitchFamily="34" charset="-120"/>
              </a:rPr>
              <a:t>Onderzoek bij kinderen en jongeren met een verstandelijke beperking laat zien dat emotieregulatie pas werkt wanneer ze eerst leren herkennen wat ze voelen. Door een feedback-stap erbij leert de app per cliënt welke strategie helpt. Over de tijd.</a:t>
            </a:r>
            <a:endParaRPr lang="en-US" sz="1200" dirty="0"/>
          </a:p>
        </p:txBody>
      </p:sp>
      <p:sp>
        <p:nvSpPr>
          <p:cNvPr id="30" name="Shape 28"/>
          <p:cNvSpPr/>
          <p:nvPr/>
        </p:nvSpPr>
        <p:spPr>
          <a:xfrm>
            <a:off x="411480" y="6446520"/>
            <a:ext cx="228600" cy="228600"/>
          </a:xfrm>
          <a:prstGeom prst="ellipse">
            <a:avLst/>
          </a:prstGeom>
          <a:solidFill>
            <a:srgbClr val="16645F"/>
          </a:solidFill>
          <a:ln w="12700">
            <a:solidFill>
              <a:srgbClr val="16645F"/>
            </a:solidFill>
            <a:prstDash val="solid"/>
          </a:ln>
        </p:spPr>
      </p:sp>
      <p:sp>
        <p:nvSpPr>
          <p:cNvPr id="31" name="Text 29"/>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2" name="Text 30"/>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06 · FEATURE SPOTLIGHT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Beloning op het moment zelf</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Micro-celebrations bij elke voltooide stap.</a:t>
            </a:r>
            <a:endParaRPr lang="en-US" sz="1500" dirty="0"/>
          </a:p>
        </p:txBody>
      </p:sp>
      <p:sp>
        <p:nvSpPr>
          <p:cNvPr id="5" name="Shape 3"/>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6" name="Shape 4"/>
          <p:cNvSpPr/>
          <p:nvPr/>
        </p:nvSpPr>
        <p:spPr>
          <a:xfrm>
            <a:off x="8961120" y="502920"/>
            <a:ext cx="109728" cy="868680"/>
          </a:xfrm>
          <a:prstGeom prst="rect">
            <a:avLst/>
          </a:prstGeom>
          <a:solidFill>
            <a:srgbClr val="FFD3C2"/>
          </a:solidFill>
          <a:ln w="12700">
            <a:solidFill>
              <a:srgbClr val="FFD3C2"/>
            </a:solidFill>
            <a:prstDash val="solid"/>
          </a:ln>
        </p:spPr>
      </p:sp>
      <p:sp>
        <p:nvSpPr>
          <p:cNvPr id="7" name="Text 5"/>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8" name="Text 6"/>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3</a:t>
            </a:r>
            <a:endParaRPr lang="en-US" sz="1200" dirty="0"/>
          </a:p>
        </p:txBody>
      </p:sp>
      <p:sp>
        <p:nvSpPr>
          <p:cNvPr id="9" name="Text 7"/>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App-based token economy · Saini et al., 2023</a:t>
            </a:r>
            <a:endParaRPr lang="en-US" sz="950" dirty="0"/>
          </a:p>
        </p:txBody>
      </p:sp>
      <p:sp>
        <p:nvSpPr>
          <p:cNvPr id="10" name="Shape 8"/>
          <p:cNvSpPr/>
          <p:nvPr/>
        </p:nvSpPr>
        <p:spPr>
          <a:xfrm>
            <a:off x="548640" y="2606040"/>
            <a:ext cx="5029200" cy="3749040"/>
          </a:xfrm>
          <a:prstGeom prst="roundRect">
            <a:avLst>
              <a:gd name="adj" fmla="val 4878"/>
            </a:avLst>
          </a:prstGeom>
          <a:solidFill>
            <a:srgbClr val="16645F"/>
          </a:solidFill>
          <a:ln w="12700">
            <a:solidFill>
              <a:srgbClr val="16645F"/>
            </a:solidFill>
            <a:prstDash val="solid"/>
          </a:ln>
        </p:spPr>
      </p:sp>
      <p:sp>
        <p:nvSpPr>
          <p:cNvPr id="11" name="Text 9"/>
          <p:cNvSpPr/>
          <p:nvPr/>
        </p:nvSpPr>
        <p:spPr>
          <a:xfrm>
            <a:off x="548640" y="3108960"/>
            <a:ext cx="5029200" cy="914400"/>
          </a:xfrm>
          <a:prstGeom prst="rect">
            <a:avLst/>
          </a:prstGeom>
          <a:noFill/>
          <a:ln/>
        </p:spPr>
        <p:txBody>
          <a:bodyPr wrap="square" rtlCol="0" anchor="ctr"/>
          <a:lstStyle/>
          <a:p>
            <a:pPr algn="ctr" indent="0" marL="0">
              <a:buNone/>
            </a:pPr>
            <a:r>
              <a:rPr lang="en-US" sz="5000" dirty="0">
                <a:solidFill>
                  <a:srgbClr val="000000"/>
                </a:solidFill>
              </a:rPr>
              <a:t>⭐ ✨ 🎉 ✨ ⭐</a:t>
            </a:r>
            <a:endParaRPr lang="en-US" sz="5000" dirty="0"/>
          </a:p>
        </p:txBody>
      </p:sp>
      <p:sp>
        <p:nvSpPr>
          <p:cNvPr id="12" name="Text 10"/>
          <p:cNvSpPr/>
          <p:nvPr/>
        </p:nvSpPr>
        <p:spPr>
          <a:xfrm>
            <a:off x="548640" y="4114800"/>
            <a:ext cx="5029200" cy="1097280"/>
          </a:xfrm>
          <a:prstGeom prst="rect">
            <a:avLst/>
          </a:prstGeom>
          <a:noFill/>
          <a:ln/>
        </p:spPr>
        <p:txBody>
          <a:bodyPr wrap="square" rtlCol="0" anchor="ctr"/>
          <a:lstStyle/>
          <a:p>
            <a:pPr algn="ctr" indent="0" marL="0">
              <a:buNone/>
            </a:pPr>
            <a:r>
              <a:rPr lang="en-US" sz="9000" b="1" dirty="0">
                <a:solidFill>
                  <a:srgbClr val="FFD3C2"/>
                </a:solidFill>
                <a:latin typeface="Helvetica Neue" pitchFamily="34" charset="0"/>
                <a:ea typeface="Helvetica Neue" pitchFamily="34" charset="-122"/>
                <a:cs typeface="Helvetica Neue" pitchFamily="34" charset="-120"/>
              </a:rPr>
              <a:t>+1</a:t>
            </a:r>
            <a:endParaRPr lang="en-US" sz="9000" dirty="0"/>
          </a:p>
        </p:txBody>
      </p:sp>
      <p:sp>
        <p:nvSpPr>
          <p:cNvPr id="13" name="Text 11"/>
          <p:cNvSpPr/>
          <p:nvPr/>
        </p:nvSpPr>
        <p:spPr>
          <a:xfrm>
            <a:off x="548640" y="5852160"/>
            <a:ext cx="5029200" cy="320040"/>
          </a:xfrm>
          <a:prstGeom prst="rect">
            <a:avLst/>
          </a:prstGeom>
          <a:noFill/>
          <a:ln/>
        </p:spPr>
        <p:txBody>
          <a:bodyPr wrap="square" rtlCol="0" anchor="ctr"/>
          <a:lstStyle/>
          <a:p>
            <a:pPr algn="ctr" indent="0" marL="0">
              <a:buNone/>
            </a:pPr>
            <a:r>
              <a:rPr lang="en-US" sz="1100" i="1" dirty="0">
                <a:solidFill>
                  <a:srgbClr val="EEECDE"/>
                </a:solidFill>
                <a:latin typeface="Helvetica" pitchFamily="34" charset="0"/>
                <a:ea typeface="Helvetica" pitchFamily="34" charset="-122"/>
                <a:cs typeface="Helvetica" pitchFamily="34" charset="-120"/>
              </a:rPr>
              <a:t>0,75 seconde · zacht "chime"-geluid</a:t>
            </a:r>
            <a:endParaRPr lang="en-US" sz="1100" dirty="0"/>
          </a:p>
        </p:txBody>
      </p:sp>
      <p:sp>
        <p:nvSpPr>
          <p:cNvPr id="14" name="Text 12"/>
          <p:cNvSpPr/>
          <p:nvPr/>
        </p:nvSpPr>
        <p:spPr>
          <a:xfrm>
            <a:off x="5852160" y="2606040"/>
            <a:ext cx="5943600" cy="45720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Wat verandert er?</a:t>
            </a:r>
            <a:endParaRPr lang="en-US" sz="1800" dirty="0"/>
          </a:p>
        </p:txBody>
      </p:sp>
      <p:sp>
        <p:nvSpPr>
          <p:cNvPr id="15" name="Shape 13"/>
          <p:cNvSpPr/>
          <p:nvPr/>
        </p:nvSpPr>
        <p:spPr>
          <a:xfrm>
            <a:off x="5852160" y="3200400"/>
            <a:ext cx="5943600" cy="841248"/>
          </a:xfrm>
          <a:prstGeom prst="roundRect">
            <a:avLst>
              <a:gd name="adj" fmla="val 10870"/>
            </a:avLst>
          </a:prstGeom>
          <a:solidFill>
            <a:srgbClr val="EEECDE"/>
          </a:solidFill>
          <a:ln w="12700">
            <a:solidFill>
              <a:srgbClr val="DCD8C8"/>
            </a:solidFill>
            <a:prstDash val="solid"/>
          </a:ln>
        </p:spPr>
      </p:sp>
      <p:sp>
        <p:nvSpPr>
          <p:cNvPr id="16" name="Text 14"/>
          <p:cNvSpPr/>
          <p:nvPr/>
        </p:nvSpPr>
        <p:spPr>
          <a:xfrm>
            <a:off x="6035040" y="325526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17" name="Text 15"/>
          <p:cNvSpPr/>
          <p:nvPr/>
        </p:nvSpPr>
        <p:spPr>
          <a:xfrm>
            <a:off x="6035040" y="349300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Beloning pas na hele taak</a:t>
            </a:r>
            <a:endParaRPr lang="en-US" sz="1200" dirty="0"/>
          </a:p>
        </p:txBody>
      </p:sp>
      <p:sp>
        <p:nvSpPr>
          <p:cNvPr id="18" name="Text 16"/>
          <p:cNvSpPr/>
          <p:nvPr/>
        </p:nvSpPr>
        <p:spPr>
          <a:xfrm>
            <a:off x="9052560" y="325526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19" name="Text 17"/>
          <p:cNvSpPr/>
          <p:nvPr/>
        </p:nvSpPr>
        <p:spPr>
          <a:xfrm>
            <a:off x="9052560" y="349300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Beloning bij élke stap</a:t>
            </a:r>
            <a:endParaRPr lang="en-US" sz="1200" dirty="0"/>
          </a:p>
        </p:txBody>
      </p:sp>
      <p:sp>
        <p:nvSpPr>
          <p:cNvPr id="20" name="Shape 18"/>
          <p:cNvSpPr/>
          <p:nvPr/>
        </p:nvSpPr>
        <p:spPr>
          <a:xfrm>
            <a:off x="5852160" y="4160520"/>
            <a:ext cx="5943600" cy="841248"/>
          </a:xfrm>
          <a:prstGeom prst="roundRect">
            <a:avLst>
              <a:gd name="adj" fmla="val 10870"/>
            </a:avLst>
          </a:prstGeom>
          <a:solidFill>
            <a:srgbClr val="EEECDE"/>
          </a:solidFill>
          <a:ln w="12700">
            <a:solidFill>
              <a:srgbClr val="DCD8C8"/>
            </a:solidFill>
            <a:prstDash val="solid"/>
          </a:ln>
        </p:spPr>
      </p:sp>
      <p:sp>
        <p:nvSpPr>
          <p:cNvPr id="21" name="Text 19"/>
          <p:cNvSpPr/>
          <p:nvPr/>
        </p:nvSpPr>
        <p:spPr>
          <a:xfrm>
            <a:off x="6035040" y="421538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22" name="Text 20"/>
          <p:cNvSpPr/>
          <p:nvPr/>
        </p:nvSpPr>
        <p:spPr>
          <a:xfrm>
            <a:off x="6035040" y="445312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Eén punt aan het einde</a:t>
            </a:r>
            <a:endParaRPr lang="en-US" sz="1200" dirty="0"/>
          </a:p>
        </p:txBody>
      </p:sp>
      <p:sp>
        <p:nvSpPr>
          <p:cNvPr id="23" name="Text 21"/>
          <p:cNvSpPr/>
          <p:nvPr/>
        </p:nvSpPr>
        <p:spPr>
          <a:xfrm>
            <a:off x="9052560" y="421538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24" name="Text 22"/>
          <p:cNvSpPr/>
          <p:nvPr/>
        </p:nvSpPr>
        <p:spPr>
          <a:xfrm>
            <a:off x="9052560" y="445312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Direct visueel + auditief signaal</a:t>
            </a:r>
            <a:endParaRPr lang="en-US" sz="1200" dirty="0"/>
          </a:p>
        </p:txBody>
      </p:sp>
      <p:sp>
        <p:nvSpPr>
          <p:cNvPr id="25" name="Shape 23"/>
          <p:cNvSpPr/>
          <p:nvPr/>
        </p:nvSpPr>
        <p:spPr>
          <a:xfrm>
            <a:off x="5852160" y="5120640"/>
            <a:ext cx="5943600" cy="841248"/>
          </a:xfrm>
          <a:prstGeom prst="roundRect">
            <a:avLst>
              <a:gd name="adj" fmla="val 10870"/>
            </a:avLst>
          </a:prstGeom>
          <a:solidFill>
            <a:srgbClr val="EEECDE"/>
          </a:solidFill>
          <a:ln w="12700">
            <a:solidFill>
              <a:srgbClr val="DCD8C8"/>
            </a:solidFill>
            <a:prstDash val="solid"/>
          </a:ln>
        </p:spPr>
      </p:sp>
      <p:sp>
        <p:nvSpPr>
          <p:cNvPr id="26" name="Text 24"/>
          <p:cNvSpPr/>
          <p:nvPr/>
        </p:nvSpPr>
        <p:spPr>
          <a:xfrm>
            <a:off x="6035040" y="517550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27" name="Text 25"/>
          <p:cNvSpPr/>
          <p:nvPr/>
        </p:nvSpPr>
        <p:spPr>
          <a:xfrm>
            <a:off x="6035040" y="541324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Voortgang abstract</a:t>
            </a:r>
            <a:endParaRPr lang="en-US" sz="1200" dirty="0"/>
          </a:p>
        </p:txBody>
      </p:sp>
      <p:sp>
        <p:nvSpPr>
          <p:cNvPr id="28" name="Text 26"/>
          <p:cNvSpPr/>
          <p:nvPr/>
        </p:nvSpPr>
        <p:spPr>
          <a:xfrm>
            <a:off x="9052560" y="517550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29" name="Text 27"/>
          <p:cNvSpPr/>
          <p:nvPr/>
        </p:nvSpPr>
        <p:spPr>
          <a:xfrm>
            <a:off x="9052560" y="541324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Voortgang zichtbaar én voelbaar</a:t>
            </a:r>
            <a:endParaRPr lang="en-US" sz="1200" dirty="0"/>
          </a:p>
        </p:txBody>
      </p:sp>
      <p:sp>
        <p:nvSpPr>
          <p:cNvPr id="30" name="Text 28"/>
          <p:cNvSpPr/>
          <p:nvPr/>
        </p:nvSpPr>
        <p:spPr>
          <a:xfrm>
            <a:off x="5852160" y="6172200"/>
            <a:ext cx="1645920" cy="274320"/>
          </a:xfrm>
          <a:prstGeom prst="rect">
            <a:avLst/>
          </a:prstGeom>
          <a:noFill/>
          <a:ln/>
        </p:spPr>
        <p:txBody>
          <a:bodyPr wrap="square" rtlCol="0" anchor="ctr"/>
          <a:lstStyle/>
          <a:p>
            <a:pPr indent="0" marL="0">
              <a:buNone/>
            </a:pPr>
            <a:r>
              <a:rPr lang="en-US" sz="1000" b="1" dirty="0">
                <a:solidFill>
                  <a:srgbClr val="0E3F3C"/>
                </a:solidFill>
                <a:latin typeface="Helvetica" pitchFamily="34" charset="0"/>
                <a:ea typeface="Helvetica" pitchFamily="34" charset="-122"/>
                <a:cs typeface="Helvetica" pitchFamily="34" charset="-120"/>
              </a:rPr>
              <a:t>Waarom dit werkt: </a:t>
            </a:r>
            <a:endParaRPr lang="en-US" sz="1000" dirty="0"/>
          </a:p>
        </p:txBody>
      </p:sp>
      <p:sp>
        <p:nvSpPr>
          <p:cNvPr id="31" name="Text 29"/>
          <p:cNvSpPr/>
          <p:nvPr/>
        </p:nvSpPr>
        <p:spPr>
          <a:xfrm>
            <a:off x="7132320" y="6172200"/>
            <a:ext cx="5029200" cy="274320"/>
          </a:xfrm>
          <a:prstGeom prst="rect">
            <a:avLst/>
          </a:prstGeom>
          <a:noFill/>
          <a:ln/>
        </p:spPr>
        <p:txBody>
          <a:bodyPr wrap="square" rtlCol="0" anchor="ctr"/>
          <a:lstStyle/>
          <a:p>
            <a:pPr indent="0" marL="0">
              <a:buNone/>
            </a:pPr>
            <a:r>
              <a:rPr lang="en-US" sz="1000" i="1" dirty="0">
                <a:solidFill>
                  <a:srgbClr val="5A6E69"/>
                </a:solidFill>
                <a:latin typeface="Helvetica" pitchFamily="34" charset="0"/>
                <a:ea typeface="Helvetica" pitchFamily="34" charset="-122"/>
                <a:cs typeface="Helvetica" pitchFamily="34" charset="-120"/>
              </a:rPr>
              <a:t>Saini et al. (2023): app-based token economy verhoogt taakbetrokkenheid, effect houdt 6+ weken aan.</a:t>
            </a:r>
            <a:endParaRPr lang="en-US" sz="1000" dirty="0"/>
          </a:p>
        </p:txBody>
      </p:sp>
      <p:sp>
        <p:nvSpPr>
          <p:cNvPr id="32" name="Shape 30"/>
          <p:cNvSpPr/>
          <p:nvPr/>
        </p:nvSpPr>
        <p:spPr>
          <a:xfrm>
            <a:off x="411480" y="6446520"/>
            <a:ext cx="228600" cy="228600"/>
          </a:xfrm>
          <a:prstGeom prst="ellipse">
            <a:avLst/>
          </a:prstGeom>
          <a:solidFill>
            <a:srgbClr val="16645F"/>
          </a:solidFill>
          <a:ln w="12700">
            <a:solidFill>
              <a:srgbClr val="16645F"/>
            </a:solidFill>
            <a:prstDash val="solid"/>
          </a:ln>
        </p:spPr>
      </p:sp>
      <p:sp>
        <p:nvSpPr>
          <p:cNvPr id="33" name="Text 31"/>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4" name="Text 32"/>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07 · ONDERBOUWING IN ÉÉN OOGOPSLAG</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Elke functie ↔ bron</a:t>
            </a:r>
            <a:endParaRPr lang="en-US" sz="3400" dirty="0"/>
          </a:p>
        </p:txBody>
      </p:sp>
      <p:sp>
        <p:nvSpPr>
          <p:cNvPr id="4" name="Shape 2"/>
          <p:cNvSpPr/>
          <p:nvPr/>
        </p:nvSpPr>
        <p:spPr>
          <a:xfrm>
            <a:off x="548640" y="2194560"/>
            <a:ext cx="10972800" cy="502920"/>
          </a:xfrm>
          <a:prstGeom prst="roundRect">
            <a:avLst>
              <a:gd name="adj" fmla="val 14545"/>
            </a:avLst>
          </a:prstGeom>
          <a:solidFill>
            <a:srgbClr val="16645F"/>
          </a:solidFill>
          <a:ln w="12700">
            <a:solidFill>
              <a:srgbClr val="16645F"/>
            </a:solidFill>
            <a:prstDash val="solid"/>
          </a:ln>
        </p:spPr>
      </p:sp>
      <p:sp>
        <p:nvSpPr>
          <p:cNvPr id="5" name="Text 3"/>
          <p:cNvSpPr/>
          <p:nvPr/>
        </p:nvSpPr>
        <p:spPr>
          <a:xfrm>
            <a:off x="731520" y="2267712"/>
            <a:ext cx="365760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TaskBuddy-functie</a:t>
            </a:r>
            <a:endParaRPr lang="en-US" sz="1100" dirty="0"/>
          </a:p>
        </p:txBody>
      </p:sp>
      <p:sp>
        <p:nvSpPr>
          <p:cNvPr id="6" name="Text 4"/>
          <p:cNvSpPr/>
          <p:nvPr/>
        </p:nvSpPr>
        <p:spPr>
          <a:xfrm>
            <a:off x="4572000" y="2267712"/>
            <a:ext cx="438912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Onderbouwd door</a:t>
            </a:r>
            <a:endParaRPr lang="en-US" sz="1100" dirty="0"/>
          </a:p>
        </p:txBody>
      </p:sp>
      <p:sp>
        <p:nvSpPr>
          <p:cNvPr id="7" name="Text 5"/>
          <p:cNvSpPr/>
          <p:nvPr/>
        </p:nvSpPr>
        <p:spPr>
          <a:xfrm>
            <a:off x="9144000" y="2267712"/>
            <a:ext cx="237744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Bron</a:t>
            </a:r>
            <a:endParaRPr lang="en-US" sz="1100" dirty="0"/>
          </a:p>
        </p:txBody>
      </p:sp>
      <p:sp>
        <p:nvSpPr>
          <p:cNvPr id="8" name="Text 6"/>
          <p:cNvSpPr/>
          <p:nvPr/>
        </p:nvSpPr>
        <p:spPr>
          <a:xfrm>
            <a:off x="731520" y="274320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Taken met visuele stappen</a:t>
            </a:r>
            <a:endParaRPr lang="en-US" sz="1100" dirty="0"/>
          </a:p>
        </p:txBody>
      </p:sp>
      <p:sp>
        <p:nvSpPr>
          <p:cNvPr id="9" name="Text 7"/>
          <p:cNvSpPr/>
          <p:nvPr/>
        </p:nvSpPr>
        <p:spPr>
          <a:xfrm>
            <a:off x="4572000" y="274320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Visual Activity Schedules. Evidence-based practice</a:t>
            </a:r>
            <a:endParaRPr lang="en-US" sz="1050" dirty="0"/>
          </a:p>
        </p:txBody>
      </p:sp>
      <p:sp>
        <p:nvSpPr>
          <p:cNvPr id="10" name="Text 8"/>
          <p:cNvSpPr/>
          <p:nvPr/>
        </p:nvSpPr>
        <p:spPr>
          <a:xfrm>
            <a:off x="9144000" y="274320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Knight et al., 2017</a:t>
            </a:r>
            <a:endParaRPr lang="en-US" sz="1000" dirty="0"/>
          </a:p>
        </p:txBody>
      </p:sp>
      <p:sp>
        <p:nvSpPr>
          <p:cNvPr id="11" name="Shape 9"/>
          <p:cNvSpPr/>
          <p:nvPr/>
        </p:nvSpPr>
        <p:spPr>
          <a:xfrm>
            <a:off x="548640" y="3108960"/>
            <a:ext cx="10972800" cy="411480"/>
          </a:xfrm>
          <a:prstGeom prst="rect">
            <a:avLst/>
          </a:prstGeom>
          <a:solidFill>
            <a:srgbClr val="FFFFFF"/>
          </a:solidFill>
          <a:ln w="12700">
            <a:solidFill>
              <a:srgbClr val="FFFFFF"/>
            </a:solidFill>
            <a:prstDash val="solid"/>
          </a:ln>
        </p:spPr>
      </p:sp>
      <p:sp>
        <p:nvSpPr>
          <p:cNvPr id="12" name="Text 10"/>
          <p:cNvSpPr/>
          <p:nvPr/>
        </p:nvSpPr>
        <p:spPr>
          <a:xfrm>
            <a:off x="731520" y="315468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B1-taalcheck door AI</a:t>
            </a:r>
            <a:endParaRPr lang="en-US" sz="1100" dirty="0"/>
          </a:p>
        </p:txBody>
      </p:sp>
      <p:sp>
        <p:nvSpPr>
          <p:cNvPr id="13" name="Text 11"/>
          <p:cNvSpPr/>
          <p:nvPr/>
        </p:nvSpPr>
        <p:spPr>
          <a:xfrm>
            <a:off x="4572000" y="315468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WCAG 3.1.5: lower secondary reading level</a:t>
            </a:r>
            <a:endParaRPr lang="en-US" sz="1050" dirty="0"/>
          </a:p>
        </p:txBody>
      </p:sp>
      <p:sp>
        <p:nvSpPr>
          <p:cNvPr id="14" name="Text 12"/>
          <p:cNvSpPr/>
          <p:nvPr/>
        </p:nvSpPr>
        <p:spPr>
          <a:xfrm>
            <a:off x="9144000" y="315468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15" name="Text 13"/>
          <p:cNvSpPr/>
          <p:nvPr/>
        </p:nvSpPr>
        <p:spPr>
          <a:xfrm>
            <a:off x="731520" y="356616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Beloningenboom + micro-celebr.</a:t>
            </a:r>
            <a:endParaRPr lang="en-US" sz="1100" dirty="0"/>
          </a:p>
        </p:txBody>
      </p:sp>
      <p:sp>
        <p:nvSpPr>
          <p:cNvPr id="16" name="Text 14"/>
          <p:cNvSpPr/>
          <p:nvPr/>
        </p:nvSpPr>
        <p:spPr>
          <a:xfrm>
            <a:off x="4572000" y="356616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App-based token economy → 6 wk effect</a:t>
            </a:r>
            <a:endParaRPr lang="en-US" sz="1050" dirty="0"/>
          </a:p>
        </p:txBody>
      </p:sp>
      <p:sp>
        <p:nvSpPr>
          <p:cNvPr id="17" name="Text 15"/>
          <p:cNvSpPr/>
          <p:nvPr/>
        </p:nvSpPr>
        <p:spPr>
          <a:xfrm>
            <a:off x="9144000" y="356616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Saini et al., 2023</a:t>
            </a:r>
            <a:endParaRPr lang="en-US" sz="1000" dirty="0"/>
          </a:p>
        </p:txBody>
      </p:sp>
      <p:sp>
        <p:nvSpPr>
          <p:cNvPr id="18" name="Shape 16"/>
          <p:cNvSpPr/>
          <p:nvPr/>
        </p:nvSpPr>
        <p:spPr>
          <a:xfrm>
            <a:off x="548640" y="3931920"/>
            <a:ext cx="10972800" cy="411480"/>
          </a:xfrm>
          <a:prstGeom prst="rect">
            <a:avLst/>
          </a:prstGeom>
          <a:solidFill>
            <a:srgbClr val="FFFFFF"/>
          </a:solidFill>
          <a:ln w="12700">
            <a:solidFill>
              <a:srgbClr val="FFFFFF"/>
            </a:solidFill>
            <a:prstDash val="solid"/>
          </a:ln>
        </p:spPr>
      </p:sp>
      <p:sp>
        <p:nvSpPr>
          <p:cNvPr id="19" name="Text 17"/>
          <p:cNvSpPr/>
          <p:nvPr/>
        </p:nvSpPr>
        <p:spPr>
          <a:xfrm>
            <a:off x="731520" y="397764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Vol hoofd: emotie vóór actie</a:t>
            </a:r>
            <a:endParaRPr lang="en-US" sz="1100" dirty="0"/>
          </a:p>
        </p:txBody>
      </p:sp>
      <p:sp>
        <p:nvSpPr>
          <p:cNvPr id="20" name="Text 18"/>
          <p:cNvSpPr/>
          <p:nvPr/>
        </p:nvSpPr>
        <p:spPr>
          <a:xfrm>
            <a:off x="4572000" y="397764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Herkennen vóór reguleren bij LVB</a:t>
            </a:r>
            <a:endParaRPr lang="en-US" sz="1050" dirty="0"/>
          </a:p>
        </p:txBody>
      </p:sp>
      <p:sp>
        <p:nvSpPr>
          <p:cNvPr id="21" name="Text 19"/>
          <p:cNvSpPr/>
          <p:nvPr/>
        </p:nvSpPr>
        <p:spPr>
          <a:xfrm>
            <a:off x="9144000" y="397764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Tandfonline, 2024-25</a:t>
            </a:r>
            <a:endParaRPr lang="en-US" sz="1000" dirty="0"/>
          </a:p>
        </p:txBody>
      </p:sp>
      <p:sp>
        <p:nvSpPr>
          <p:cNvPr id="22" name="Text 20"/>
          <p:cNvSpPr/>
          <p:nvPr/>
        </p:nvSpPr>
        <p:spPr>
          <a:xfrm>
            <a:off x="731520" y="438912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Spraakinvoer (chat, taken)</a:t>
            </a:r>
            <a:endParaRPr lang="en-US" sz="1100" dirty="0"/>
          </a:p>
        </p:txBody>
      </p:sp>
      <p:sp>
        <p:nvSpPr>
          <p:cNvPr id="23" name="Text 21"/>
          <p:cNvSpPr/>
          <p:nvPr/>
        </p:nvSpPr>
        <p:spPr>
          <a:xfrm>
            <a:off x="4572000" y="438912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Cognitieve toegankelijkheid. Verlaagt drempel</a:t>
            </a:r>
            <a:endParaRPr lang="en-US" sz="1050" dirty="0"/>
          </a:p>
        </p:txBody>
      </p:sp>
      <p:sp>
        <p:nvSpPr>
          <p:cNvPr id="24" name="Text 22"/>
          <p:cNvSpPr/>
          <p:nvPr/>
        </p:nvSpPr>
        <p:spPr>
          <a:xfrm>
            <a:off x="9144000" y="438912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25" name="Shape 23"/>
          <p:cNvSpPr/>
          <p:nvPr/>
        </p:nvSpPr>
        <p:spPr>
          <a:xfrm>
            <a:off x="548640" y="4754880"/>
            <a:ext cx="10972800" cy="411480"/>
          </a:xfrm>
          <a:prstGeom prst="rect">
            <a:avLst/>
          </a:prstGeom>
          <a:solidFill>
            <a:srgbClr val="FFFFFF"/>
          </a:solidFill>
          <a:ln w="12700">
            <a:solidFill>
              <a:srgbClr val="FFFFFF"/>
            </a:solidFill>
            <a:prstDash val="solid"/>
          </a:ln>
        </p:spPr>
      </p:sp>
      <p:sp>
        <p:nvSpPr>
          <p:cNvPr id="26" name="Text 24"/>
          <p:cNvSpPr/>
          <p:nvPr/>
        </p:nvSpPr>
        <p:spPr>
          <a:xfrm>
            <a:off x="731520" y="480060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AI-dagrapportage</a:t>
            </a:r>
            <a:endParaRPr lang="en-US" sz="1100" dirty="0"/>
          </a:p>
        </p:txBody>
      </p:sp>
      <p:sp>
        <p:nvSpPr>
          <p:cNvPr id="27" name="Text 25"/>
          <p:cNvSpPr/>
          <p:nvPr/>
        </p:nvSpPr>
        <p:spPr>
          <a:xfrm>
            <a:off x="4572000" y="480060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Verlagen begeleiderslast bij tech-adoptie</a:t>
            </a:r>
            <a:endParaRPr lang="en-US" sz="1050" dirty="0"/>
          </a:p>
        </p:txBody>
      </p:sp>
      <p:sp>
        <p:nvSpPr>
          <p:cNvPr id="28" name="Text 26"/>
          <p:cNvSpPr/>
          <p:nvPr/>
        </p:nvSpPr>
        <p:spPr>
          <a:xfrm>
            <a:off x="9144000" y="480060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Innovatie-impuls, 2021</a:t>
            </a:r>
            <a:endParaRPr lang="en-US" sz="1000" dirty="0"/>
          </a:p>
        </p:txBody>
      </p:sp>
      <p:sp>
        <p:nvSpPr>
          <p:cNvPr id="29" name="Text 27"/>
          <p:cNvSpPr/>
          <p:nvPr/>
        </p:nvSpPr>
        <p:spPr>
          <a:xfrm>
            <a:off x="731520" y="521208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Op-dienst tegel</a:t>
            </a:r>
            <a:endParaRPr lang="en-US" sz="1100" dirty="0"/>
          </a:p>
        </p:txBody>
      </p:sp>
      <p:sp>
        <p:nvSpPr>
          <p:cNvPr id="30" name="Text 28"/>
          <p:cNvSpPr/>
          <p:nvPr/>
        </p:nvSpPr>
        <p:spPr>
          <a:xfrm>
            <a:off x="4572000" y="521208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Continuïteit van zorg in 24-uurs settings</a:t>
            </a:r>
            <a:endParaRPr lang="en-US" sz="1050" dirty="0"/>
          </a:p>
        </p:txBody>
      </p:sp>
      <p:sp>
        <p:nvSpPr>
          <p:cNvPr id="31" name="Text 29"/>
          <p:cNvSpPr/>
          <p:nvPr/>
        </p:nvSpPr>
        <p:spPr>
          <a:xfrm>
            <a:off x="9144000" y="521208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Zelfredzaamheid (Acad. Het Dorp)</a:t>
            </a:r>
            <a:endParaRPr lang="en-US" sz="1000" dirty="0"/>
          </a:p>
        </p:txBody>
      </p:sp>
      <p:sp>
        <p:nvSpPr>
          <p:cNvPr id="32" name="Shape 30"/>
          <p:cNvSpPr/>
          <p:nvPr/>
        </p:nvSpPr>
        <p:spPr>
          <a:xfrm>
            <a:off x="548640" y="5577840"/>
            <a:ext cx="10972800" cy="411480"/>
          </a:xfrm>
          <a:prstGeom prst="rect">
            <a:avLst/>
          </a:prstGeom>
          <a:solidFill>
            <a:srgbClr val="FFFFFF"/>
          </a:solidFill>
          <a:ln w="12700">
            <a:solidFill>
              <a:srgbClr val="FFFFFF"/>
            </a:solidFill>
            <a:prstDash val="solid"/>
          </a:ln>
        </p:spPr>
      </p:sp>
      <p:sp>
        <p:nvSpPr>
          <p:cNvPr id="33" name="Text 31"/>
          <p:cNvSpPr/>
          <p:nvPr/>
        </p:nvSpPr>
        <p:spPr>
          <a:xfrm>
            <a:off x="731520" y="562356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3 keuzes max in stappen</a:t>
            </a:r>
            <a:endParaRPr lang="en-US" sz="1100" dirty="0"/>
          </a:p>
        </p:txBody>
      </p:sp>
      <p:sp>
        <p:nvSpPr>
          <p:cNvPr id="34" name="Text 32"/>
          <p:cNvSpPr/>
          <p:nvPr/>
        </p:nvSpPr>
        <p:spPr>
          <a:xfrm>
            <a:off x="4572000" y="562356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Choice architecture bij cognitieve overload</a:t>
            </a:r>
            <a:endParaRPr lang="en-US" sz="1050" dirty="0"/>
          </a:p>
        </p:txBody>
      </p:sp>
      <p:sp>
        <p:nvSpPr>
          <p:cNvPr id="35" name="Text 33"/>
          <p:cNvSpPr/>
          <p:nvPr/>
        </p:nvSpPr>
        <p:spPr>
          <a:xfrm>
            <a:off x="9144000" y="562356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36" name="Shape 34"/>
          <p:cNvSpPr/>
          <p:nvPr/>
        </p:nvSpPr>
        <p:spPr>
          <a:xfrm>
            <a:off x="411480" y="6446520"/>
            <a:ext cx="228600" cy="228600"/>
          </a:xfrm>
          <a:prstGeom prst="ellipse">
            <a:avLst/>
          </a:prstGeom>
          <a:solidFill>
            <a:srgbClr val="16645F"/>
          </a:solidFill>
          <a:ln w="12700">
            <a:solidFill>
              <a:srgbClr val="16645F"/>
            </a:solidFill>
            <a:prstDash val="solid"/>
          </a:ln>
        </p:spPr>
      </p:sp>
      <p:sp>
        <p:nvSpPr>
          <p:cNvPr id="37" name="Text 35"/>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8" name="Text 36"/>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08 · WAARDE</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Wat het de organisatie oplevert</a:t>
            </a:r>
            <a:endParaRPr lang="en-US" sz="3400" dirty="0"/>
          </a:p>
        </p:txBody>
      </p:sp>
      <p:sp>
        <p:nvSpPr>
          <p:cNvPr id="4" name="Shape 2"/>
          <p:cNvSpPr/>
          <p:nvPr/>
        </p:nvSpPr>
        <p:spPr>
          <a:xfrm>
            <a:off x="548640" y="2331720"/>
            <a:ext cx="685800" cy="685800"/>
          </a:xfrm>
          <a:prstGeom prst="ellipse">
            <a:avLst/>
          </a:prstGeom>
          <a:solidFill>
            <a:srgbClr val="80A599"/>
          </a:solidFill>
          <a:ln w="12700">
            <a:solidFill>
              <a:srgbClr val="80A599"/>
            </a:solidFill>
            <a:prstDash val="solid"/>
          </a:ln>
        </p:spPr>
      </p:sp>
      <p:sp>
        <p:nvSpPr>
          <p:cNvPr id="5" name="Text 3"/>
          <p:cNvSpPr/>
          <p:nvPr/>
        </p:nvSpPr>
        <p:spPr>
          <a:xfrm>
            <a:off x="548640" y="233172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6" name="Text 4"/>
          <p:cNvSpPr/>
          <p:nvPr/>
        </p:nvSpPr>
        <p:spPr>
          <a:xfrm>
            <a:off x="1417320" y="228600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Minder crisismomenten</a:t>
            </a:r>
            <a:endParaRPr lang="en-US" sz="1700" dirty="0"/>
          </a:p>
        </p:txBody>
      </p:sp>
      <p:sp>
        <p:nvSpPr>
          <p:cNvPr id="7" name="Text 5"/>
          <p:cNvSpPr/>
          <p:nvPr/>
        </p:nvSpPr>
        <p:spPr>
          <a:xfrm>
            <a:off x="1417320" y="267919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Emotiekaart + activiteiten vangen overprikkeling vroeg op.</a:t>
            </a:r>
            <a:endParaRPr lang="en-US" sz="1250" dirty="0"/>
          </a:p>
        </p:txBody>
      </p:sp>
      <p:sp>
        <p:nvSpPr>
          <p:cNvPr id="8" name="Shape 6"/>
          <p:cNvSpPr/>
          <p:nvPr/>
        </p:nvSpPr>
        <p:spPr>
          <a:xfrm>
            <a:off x="548640" y="3291840"/>
            <a:ext cx="685800" cy="685800"/>
          </a:xfrm>
          <a:prstGeom prst="ellipse">
            <a:avLst/>
          </a:prstGeom>
          <a:solidFill>
            <a:srgbClr val="80A599"/>
          </a:solidFill>
          <a:ln w="12700">
            <a:solidFill>
              <a:srgbClr val="80A599"/>
            </a:solidFill>
            <a:prstDash val="solid"/>
          </a:ln>
        </p:spPr>
      </p:sp>
      <p:sp>
        <p:nvSpPr>
          <p:cNvPr id="9" name="Text 7"/>
          <p:cNvSpPr/>
          <p:nvPr/>
        </p:nvSpPr>
        <p:spPr>
          <a:xfrm>
            <a:off x="548640" y="329184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0" name="Text 8"/>
          <p:cNvSpPr/>
          <p:nvPr/>
        </p:nvSpPr>
        <p:spPr>
          <a:xfrm>
            <a:off x="1417320" y="324612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Snellere rapportage</a:t>
            </a:r>
            <a:endParaRPr lang="en-US" sz="1700" dirty="0"/>
          </a:p>
        </p:txBody>
      </p:sp>
      <p:sp>
        <p:nvSpPr>
          <p:cNvPr id="11" name="Text 9"/>
          <p:cNvSpPr/>
          <p:nvPr/>
        </p:nvSpPr>
        <p:spPr>
          <a:xfrm>
            <a:off x="1417320" y="363931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AI levert dagrapportage klaar voor dossier. Minuten in plaats van uren.</a:t>
            </a:r>
            <a:endParaRPr lang="en-US" sz="1250" dirty="0"/>
          </a:p>
        </p:txBody>
      </p:sp>
      <p:sp>
        <p:nvSpPr>
          <p:cNvPr id="12" name="Shape 10"/>
          <p:cNvSpPr/>
          <p:nvPr/>
        </p:nvSpPr>
        <p:spPr>
          <a:xfrm>
            <a:off x="548640" y="4251960"/>
            <a:ext cx="685800" cy="685800"/>
          </a:xfrm>
          <a:prstGeom prst="ellipse">
            <a:avLst/>
          </a:prstGeom>
          <a:solidFill>
            <a:srgbClr val="80A599"/>
          </a:solidFill>
          <a:ln w="12700">
            <a:solidFill>
              <a:srgbClr val="80A599"/>
            </a:solidFill>
            <a:prstDash val="solid"/>
          </a:ln>
        </p:spPr>
      </p:sp>
      <p:sp>
        <p:nvSpPr>
          <p:cNvPr id="13" name="Text 11"/>
          <p:cNvSpPr/>
          <p:nvPr/>
        </p:nvSpPr>
        <p:spPr>
          <a:xfrm>
            <a:off x="548640" y="425196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4" name="Text 12"/>
          <p:cNvSpPr/>
          <p:nvPr/>
        </p:nvSpPr>
        <p:spPr>
          <a:xfrm>
            <a:off x="1417320" y="420624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Soepele overdracht</a:t>
            </a:r>
            <a:endParaRPr lang="en-US" sz="1700" dirty="0"/>
          </a:p>
        </p:txBody>
      </p:sp>
      <p:sp>
        <p:nvSpPr>
          <p:cNvPr id="15" name="Text 13"/>
          <p:cNvSpPr/>
          <p:nvPr/>
        </p:nvSpPr>
        <p:spPr>
          <a:xfrm>
            <a:off x="1417320" y="459943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"Op dienst" maakt verantwoordelijkheid expliciet zichtbaar.</a:t>
            </a:r>
            <a:endParaRPr lang="en-US" sz="1250" dirty="0"/>
          </a:p>
        </p:txBody>
      </p:sp>
      <p:sp>
        <p:nvSpPr>
          <p:cNvPr id="16" name="Shape 14"/>
          <p:cNvSpPr/>
          <p:nvPr/>
        </p:nvSpPr>
        <p:spPr>
          <a:xfrm>
            <a:off x="548640" y="5212080"/>
            <a:ext cx="685800" cy="685800"/>
          </a:xfrm>
          <a:prstGeom prst="ellipse">
            <a:avLst/>
          </a:prstGeom>
          <a:solidFill>
            <a:srgbClr val="80A599"/>
          </a:solidFill>
          <a:ln w="12700">
            <a:solidFill>
              <a:srgbClr val="80A599"/>
            </a:solidFill>
            <a:prstDash val="solid"/>
          </a:ln>
        </p:spPr>
      </p:sp>
      <p:sp>
        <p:nvSpPr>
          <p:cNvPr id="17" name="Text 15"/>
          <p:cNvSpPr/>
          <p:nvPr/>
        </p:nvSpPr>
        <p:spPr>
          <a:xfrm>
            <a:off x="548640" y="521208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8" name="Text 16"/>
          <p:cNvSpPr/>
          <p:nvPr/>
        </p:nvSpPr>
        <p:spPr>
          <a:xfrm>
            <a:off x="1417320" y="516636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Datagedreven beslissingen</a:t>
            </a:r>
            <a:endParaRPr lang="en-US" sz="1700" dirty="0"/>
          </a:p>
        </p:txBody>
      </p:sp>
      <p:sp>
        <p:nvSpPr>
          <p:cNvPr id="19" name="Text 17"/>
          <p:cNvSpPr/>
          <p:nvPr/>
        </p:nvSpPr>
        <p:spPr>
          <a:xfrm>
            <a:off x="1417320" y="555955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Patroonanalyse en feedback per cliënt. Wat werkt voor wie?</a:t>
            </a:r>
            <a:endParaRPr lang="en-US" sz="1250" dirty="0"/>
          </a:p>
        </p:txBody>
      </p:sp>
      <p:sp>
        <p:nvSpPr>
          <p:cNvPr id="20" name="Shape 18"/>
          <p:cNvSpPr/>
          <p:nvPr/>
        </p:nvSpPr>
        <p:spPr>
          <a:xfrm>
            <a:off x="6858000" y="2331720"/>
            <a:ext cx="4846320" cy="4023360"/>
          </a:xfrm>
          <a:prstGeom prst="roundRect">
            <a:avLst>
              <a:gd name="adj" fmla="val 4545"/>
            </a:avLst>
          </a:prstGeom>
          <a:solidFill>
            <a:srgbClr val="16645F"/>
          </a:solidFill>
          <a:ln w="12700">
            <a:solidFill>
              <a:srgbClr val="16645F"/>
            </a:solidFill>
            <a:prstDash val="solid"/>
          </a:ln>
        </p:spPr>
      </p:sp>
      <p:sp>
        <p:nvSpPr>
          <p:cNvPr id="21" name="Text 19"/>
          <p:cNvSpPr/>
          <p:nvPr/>
        </p:nvSpPr>
        <p:spPr>
          <a:xfrm>
            <a:off x="7040880" y="2331720"/>
            <a:ext cx="914400" cy="1280160"/>
          </a:xfrm>
          <a:prstGeom prst="rect">
            <a:avLst/>
          </a:prstGeom>
          <a:noFill/>
          <a:ln/>
        </p:spPr>
        <p:txBody>
          <a:bodyPr wrap="square" rtlCol="0" anchor="ctr"/>
          <a:lstStyle/>
          <a:p>
            <a:pPr indent="0" marL="0">
              <a:buNone/>
            </a:pPr>
            <a:r>
              <a:rPr lang="en-US" sz="11000" b="1" dirty="0">
                <a:solidFill>
                  <a:srgbClr val="FFD3C2"/>
                </a:solidFill>
                <a:latin typeface="Helvetica Neue" pitchFamily="34" charset="0"/>
                <a:ea typeface="Helvetica Neue" pitchFamily="34" charset="-122"/>
                <a:cs typeface="Helvetica Neue" pitchFamily="34" charset="-120"/>
              </a:rPr>
              <a:t>"</a:t>
            </a:r>
            <a:endParaRPr lang="en-US" sz="11000" dirty="0"/>
          </a:p>
        </p:txBody>
      </p:sp>
      <p:sp>
        <p:nvSpPr>
          <p:cNvPr id="22" name="Text 20"/>
          <p:cNvSpPr/>
          <p:nvPr/>
        </p:nvSpPr>
        <p:spPr>
          <a:xfrm>
            <a:off x="7132320" y="3520440"/>
            <a:ext cx="4389120" cy="1645920"/>
          </a:xfrm>
          <a:prstGeom prst="rect">
            <a:avLst/>
          </a:prstGeom>
          <a:noFill/>
          <a:ln/>
        </p:spPr>
        <p:txBody>
          <a:bodyPr wrap="square" rtlCol="0" anchor="ctr"/>
          <a:lstStyle/>
          <a:p>
            <a:pPr indent="0" marL="0">
              <a:buNone/>
            </a:pPr>
            <a:r>
              <a:rPr lang="en-US" sz="2200" b="1" i="1" dirty="0">
                <a:solidFill>
                  <a:srgbClr val="FFFFFF"/>
                </a:solidFill>
                <a:latin typeface="Helvetica Neue" pitchFamily="34" charset="0"/>
                <a:ea typeface="Helvetica Neue" pitchFamily="34" charset="-122"/>
                <a:cs typeface="Helvetica Neue" pitchFamily="34" charset="-120"/>
              </a:rPr>
              <a:t>Een rustig hoofd voor de cliënt,</a:t>
            </a:r>
            <a:endParaRPr lang="en-US" sz="2200" dirty="0"/>
          </a:p>
          <a:p>
            <a:pPr indent="0" marL="0">
              <a:buNone/>
            </a:pPr>
            <a:r>
              <a:rPr lang="en-US" sz="2200" b="1" i="1" dirty="0">
                <a:solidFill>
                  <a:srgbClr val="FFFFFF"/>
                </a:solidFill>
                <a:latin typeface="Helvetica Neue" pitchFamily="34" charset="0"/>
                <a:ea typeface="Helvetica Neue" pitchFamily="34" charset="-122"/>
                <a:cs typeface="Helvetica Neue" pitchFamily="34" charset="-120"/>
              </a:rPr>
              <a:t>overzicht voor het team.</a:t>
            </a:r>
            <a:endParaRPr lang="en-US" sz="2200" dirty="0"/>
          </a:p>
        </p:txBody>
      </p:sp>
      <p:sp>
        <p:nvSpPr>
          <p:cNvPr id="23" name="Text 21"/>
          <p:cNvSpPr/>
          <p:nvPr/>
        </p:nvSpPr>
        <p:spPr>
          <a:xfrm>
            <a:off x="7132320" y="5760720"/>
            <a:ext cx="4389120" cy="365760"/>
          </a:xfrm>
          <a:prstGeom prst="rect">
            <a:avLst/>
          </a:prstGeom>
          <a:noFill/>
          <a:ln/>
        </p:spPr>
        <p:txBody>
          <a:bodyPr wrap="square" rtlCol="0" anchor="ctr"/>
          <a:lstStyle/>
          <a:p>
            <a:pPr indent="0" marL="0">
              <a:buNone/>
            </a:pPr>
            <a:r>
              <a:rPr lang="en-US" sz="1200" spc="300" kern="0" dirty="0">
                <a:solidFill>
                  <a:srgbClr val="EEECDE"/>
                </a:solidFill>
                <a:latin typeface="Helvetica" pitchFamily="34" charset="0"/>
                <a:ea typeface="Helvetica" pitchFamily="34" charset="-122"/>
                <a:cs typeface="Helvetica" pitchFamily="34" charset="-120"/>
              </a:rPr>
              <a:t>Doel van TaskBuddy</a:t>
            </a:r>
            <a:endParaRPr lang="en-US" sz="1200" dirty="0"/>
          </a:p>
        </p:txBody>
      </p:sp>
      <p:sp>
        <p:nvSpPr>
          <p:cNvPr id="24" name="Shape 22"/>
          <p:cNvSpPr/>
          <p:nvPr/>
        </p:nvSpPr>
        <p:spPr>
          <a:xfrm>
            <a:off x="411480" y="6446520"/>
            <a:ext cx="228600" cy="228600"/>
          </a:xfrm>
          <a:prstGeom prst="ellipse">
            <a:avLst/>
          </a:prstGeom>
          <a:solidFill>
            <a:srgbClr val="16645F"/>
          </a:solidFill>
          <a:ln w="12700">
            <a:solidFill>
              <a:srgbClr val="16645F"/>
            </a:solidFill>
            <a:prstDash val="solid"/>
          </a:ln>
        </p:spPr>
      </p:sp>
      <p:sp>
        <p:nvSpPr>
          <p:cNvPr id="25" name="Text 23"/>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26" name="Text 24"/>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645F"/>
        </a:solidFill>
      </p:bgPr>
    </p:bg>
    <p:spTree>
      <p:nvGrpSpPr>
        <p:cNvPr id="1" name=""/>
        <p:cNvGrpSpPr/>
        <p:nvPr/>
      </p:nvGrpSpPr>
      <p:grpSpPr>
        <a:xfrm>
          <a:off x="0" y="0"/>
          <a:ext cx="0" cy="0"/>
          <a:chOff x="0" y="0"/>
          <a:chExt cx="0" cy="0"/>
        </a:xfrm>
      </p:grpSpPr>
      <p:sp>
        <p:nvSpPr>
          <p:cNvPr id="2" name="Shape 0"/>
          <p:cNvSpPr/>
          <p:nvPr/>
        </p:nvSpPr>
        <p:spPr>
          <a:xfrm>
            <a:off x="-2286000" y="4114800"/>
            <a:ext cx="7315200" cy="7315200"/>
          </a:xfrm>
          <a:prstGeom prst="ellipse">
            <a:avLst/>
          </a:prstGeom>
          <a:solidFill>
            <a:srgbClr val="0E3F3C"/>
          </a:solidFill>
          <a:ln w="12700">
            <a:solidFill>
              <a:srgbClr val="0E3F3C"/>
            </a:solidFill>
            <a:prstDash val="solid"/>
          </a:ln>
        </p:spPr>
      </p:sp>
      <p:sp>
        <p:nvSpPr>
          <p:cNvPr id="3" name="Shape 1"/>
          <p:cNvSpPr/>
          <p:nvPr/>
        </p:nvSpPr>
        <p:spPr>
          <a:xfrm>
            <a:off x="-914400" y="5029200"/>
            <a:ext cx="4114800" cy="4114800"/>
          </a:xfrm>
          <a:prstGeom prst="ellipse">
            <a:avLst/>
          </a:prstGeom>
          <a:solidFill>
            <a:srgbClr val="80A599"/>
          </a:solidFill>
          <a:ln w="12700">
            <a:solidFill>
              <a:srgbClr val="80A599"/>
            </a:solidFill>
            <a:prstDash val="solid"/>
          </a:ln>
        </p:spPr>
      </p:sp>
      <p:sp>
        <p:nvSpPr>
          <p:cNvPr id="4" name="Text 2"/>
          <p:cNvSpPr/>
          <p:nvPr/>
        </p:nvSpPr>
        <p:spPr>
          <a:xfrm>
            <a:off x="3657600" y="640080"/>
            <a:ext cx="8229600" cy="914400"/>
          </a:xfrm>
          <a:prstGeom prst="rect">
            <a:avLst/>
          </a:prstGeom>
          <a:noFill/>
          <a:ln/>
        </p:spPr>
        <p:txBody>
          <a:bodyPr wrap="square" rtlCol="0" anchor="ctr"/>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Klein in handen,</a:t>
            </a:r>
            <a:endParaRPr lang="en-US" sz="5000" dirty="0"/>
          </a:p>
        </p:txBody>
      </p:sp>
      <p:sp>
        <p:nvSpPr>
          <p:cNvPr id="5" name="Text 3"/>
          <p:cNvSpPr/>
          <p:nvPr/>
        </p:nvSpPr>
        <p:spPr>
          <a:xfrm>
            <a:off x="3657600" y="1371600"/>
            <a:ext cx="8229600" cy="914400"/>
          </a:xfrm>
          <a:prstGeom prst="rect">
            <a:avLst/>
          </a:prstGeom>
          <a:noFill/>
          <a:ln/>
        </p:spPr>
        <p:txBody>
          <a:bodyPr wrap="square" rtlCol="0" anchor="ctr"/>
          <a:lstStyle/>
          <a:p>
            <a:pPr indent="0" marL="0">
              <a:buNone/>
            </a:pPr>
            <a:r>
              <a:rPr lang="en-US" sz="5000" b="1" i="1" dirty="0">
                <a:solidFill>
                  <a:srgbClr val="FFD3C2"/>
                </a:solidFill>
                <a:latin typeface="Helvetica Neue" pitchFamily="34" charset="0"/>
                <a:ea typeface="Helvetica Neue" pitchFamily="34" charset="-122"/>
                <a:cs typeface="Helvetica Neue" pitchFamily="34" charset="-120"/>
              </a:rPr>
              <a:t>groot in impact.</a:t>
            </a:r>
            <a:endParaRPr lang="en-US" sz="5000" dirty="0"/>
          </a:p>
        </p:txBody>
      </p:sp>
      <p:sp>
        <p:nvSpPr>
          <p:cNvPr id="6" name="Shape 4"/>
          <p:cNvSpPr/>
          <p:nvPr/>
        </p:nvSpPr>
        <p:spPr>
          <a:xfrm>
            <a:off x="3657600" y="2651760"/>
            <a:ext cx="8046720" cy="3657600"/>
          </a:xfrm>
          <a:prstGeom prst="roundRect">
            <a:avLst>
              <a:gd name="adj" fmla="val 3750"/>
            </a:avLst>
          </a:prstGeom>
          <a:solidFill>
            <a:srgbClr val="0E3F3C"/>
          </a:solidFill>
          <a:ln w="12700">
            <a:solidFill>
              <a:srgbClr val="FFD3C2"/>
            </a:solidFill>
            <a:prstDash val="solid"/>
          </a:ln>
        </p:spPr>
      </p:sp>
      <p:sp>
        <p:nvSpPr>
          <p:cNvPr id="7" name="Text 5"/>
          <p:cNvSpPr/>
          <p:nvPr/>
        </p:nvSpPr>
        <p:spPr>
          <a:xfrm>
            <a:off x="3886200" y="2743200"/>
            <a:ext cx="7772400" cy="365760"/>
          </a:xfrm>
          <a:prstGeom prst="rect">
            <a:avLst/>
          </a:prstGeom>
          <a:noFill/>
          <a:ln/>
        </p:spPr>
        <p:txBody>
          <a:bodyPr wrap="square" rtlCol="0" anchor="ctr"/>
          <a:lstStyle/>
          <a:p>
            <a:pPr indent="0" marL="0">
              <a:buNone/>
            </a:pPr>
            <a:r>
              <a:rPr lang="en-US" sz="1100" b="1" spc="500" kern="0" dirty="0">
                <a:solidFill>
                  <a:srgbClr val="FFD3C2"/>
                </a:solidFill>
                <a:latin typeface="Helvetica" pitchFamily="34" charset="0"/>
                <a:ea typeface="Helvetica" pitchFamily="34" charset="-122"/>
                <a:cs typeface="Helvetica" pitchFamily="34" charset="-120"/>
              </a:rPr>
              <a:t>WETENSCHAPPELIJKE ONDERBOUWING</a:t>
            </a:r>
            <a:endParaRPr lang="en-US" sz="1100" dirty="0"/>
          </a:p>
        </p:txBody>
      </p:sp>
      <p:sp>
        <p:nvSpPr>
          <p:cNvPr id="8" name="Shape 6"/>
          <p:cNvSpPr/>
          <p:nvPr/>
        </p:nvSpPr>
        <p:spPr>
          <a:xfrm>
            <a:off x="3931920" y="3273552"/>
            <a:ext cx="109728" cy="109728"/>
          </a:xfrm>
          <a:prstGeom prst="ellipse">
            <a:avLst/>
          </a:prstGeom>
          <a:solidFill>
            <a:srgbClr val="FFD3C2"/>
          </a:solidFill>
          <a:ln w="12700">
            <a:solidFill>
              <a:srgbClr val="FFD3C2"/>
            </a:solidFill>
            <a:prstDash val="solid"/>
          </a:ln>
        </p:spPr>
      </p:sp>
      <p:sp>
        <p:nvSpPr>
          <p:cNvPr id="9" name="Text 7"/>
          <p:cNvSpPr/>
          <p:nvPr/>
        </p:nvSpPr>
        <p:spPr>
          <a:xfrm>
            <a:off x="4160520" y="3154680"/>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Visuele schema's = evidence-based</a:t>
            </a:r>
            <a:endParaRPr lang="en-US" sz="1100" dirty="0"/>
          </a:p>
        </p:txBody>
      </p:sp>
      <p:sp>
        <p:nvSpPr>
          <p:cNvPr id="10" name="Text 8"/>
          <p:cNvSpPr/>
          <p:nvPr/>
        </p:nvSpPr>
        <p:spPr>
          <a:xfrm>
            <a:off x="8595360" y="3154680"/>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Knight et al., 2017 · J. Special Education</a:t>
            </a:r>
            <a:endParaRPr lang="en-US" sz="950" dirty="0"/>
          </a:p>
        </p:txBody>
      </p:sp>
      <p:sp>
        <p:nvSpPr>
          <p:cNvPr id="11" name="Shape 9"/>
          <p:cNvSpPr/>
          <p:nvPr/>
        </p:nvSpPr>
        <p:spPr>
          <a:xfrm>
            <a:off x="3931920" y="3657600"/>
            <a:ext cx="109728" cy="109728"/>
          </a:xfrm>
          <a:prstGeom prst="ellipse">
            <a:avLst/>
          </a:prstGeom>
          <a:solidFill>
            <a:srgbClr val="FFD3C2"/>
          </a:solidFill>
          <a:ln w="12700">
            <a:solidFill>
              <a:srgbClr val="FFD3C2"/>
            </a:solidFill>
            <a:prstDash val="solid"/>
          </a:ln>
        </p:spPr>
      </p:sp>
      <p:sp>
        <p:nvSpPr>
          <p:cNvPr id="12" name="Text 10"/>
          <p:cNvSpPr/>
          <p:nvPr/>
        </p:nvSpPr>
        <p:spPr>
          <a:xfrm>
            <a:off x="4160520" y="3538728"/>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B1-taal &amp; voorspelbaarheid</a:t>
            </a:r>
            <a:endParaRPr lang="en-US" sz="1100" dirty="0"/>
          </a:p>
        </p:txBody>
      </p:sp>
      <p:sp>
        <p:nvSpPr>
          <p:cNvPr id="13" name="Text 11"/>
          <p:cNvSpPr/>
          <p:nvPr/>
        </p:nvSpPr>
        <p:spPr>
          <a:xfrm>
            <a:off x="8595360" y="3538728"/>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W3C COGA, 2024 · WCAG 3.1.5 + 3.2</a:t>
            </a:r>
            <a:endParaRPr lang="en-US" sz="950" dirty="0"/>
          </a:p>
        </p:txBody>
      </p:sp>
      <p:sp>
        <p:nvSpPr>
          <p:cNvPr id="14" name="Shape 12"/>
          <p:cNvSpPr/>
          <p:nvPr/>
        </p:nvSpPr>
        <p:spPr>
          <a:xfrm>
            <a:off x="3931920" y="4041648"/>
            <a:ext cx="109728" cy="109728"/>
          </a:xfrm>
          <a:prstGeom prst="ellipse">
            <a:avLst/>
          </a:prstGeom>
          <a:solidFill>
            <a:srgbClr val="FFD3C2"/>
          </a:solidFill>
          <a:ln w="12700">
            <a:solidFill>
              <a:srgbClr val="FFD3C2"/>
            </a:solidFill>
            <a:prstDash val="solid"/>
          </a:ln>
        </p:spPr>
      </p:sp>
      <p:sp>
        <p:nvSpPr>
          <p:cNvPr id="15" name="Text 13"/>
          <p:cNvSpPr/>
          <p:nvPr/>
        </p:nvSpPr>
        <p:spPr>
          <a:xfrm>
            <a:off x="4160520" y="3922776"/>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Token economy werkt 6+ weken na</a:t>
            </a:r>
            <a:endParaRPr lang="en-US" sz="1100" dirty="0"/>
          </a:p>
        </p:txBody>
      </p:sp>
      <p:sp>
        <p:nvSpPr>
          <p:cNvPr id="16" name="Text 14"/>
          <p:cNvSpPr/>
          <p:nvPr/>
        </p:nvSpPr>
        <p:spPr>
          <a:xfrm>
            <a:off x="8595360" y="3922776"/>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Saini et al., 2023 · Behavior Analysis Pract.</a:t>
            </a:r>
            <a:endParaRPr lang="en-US" sz="950" dirty="0"/>
          </a:p>
        </p:txBody>
      </p:sp>
      <p:sp>
        <p:nvSpPr>
          <p:cNvPr id="17" name="Shape 15"/>
          <p:cNvSpPr/>
          <p:nvPr/>
        </p:nvSpPr>
        <p:spPr>
          <a:xfrm>
            <a:off x="3931920" y="4425696"/>
            <a:ext cx="109728" cy="109728"/>
          </a:xfrm>
          <a:prstGeom prst="ellipse">
            <a:avLst/>
          </a:prstGeom>
          <a:solidFill>
            <a:srgbClr val="FFD3C2"/>
          </a:solidFill>
          <a:ln w="12700">
            <a:solidFill>
              <a:srgbClr val="FFD3C2"/>
            </a:solidFill>
            <a:prstDash val="solid"/>
          </a:ln>
        </p:spPr>
      </p:sp>
      <p:sp>
        <p:nvSpPr>
          <p:cNvPr id="18" name="Text 16"/>
          <p:cNvSpPr/>
          <p:nvPr/>
        </p:nvSpPr>
        <p:spPr>
          <a:xfrm>
            <a:off x="4160520" y="4306824"/>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Herkennen vóór reguleren</a:t>
            </a:r>
            <a:endParaRPr lang="en-US" sz="1100" dirty="0"/>
          </a:p>
        </p:txBody>
      </p:sp>
      <p:sp>
        <p:nvSpPr>
          <p:cNvPr id="19" name="Text 17"/>
          <p:cNvSpPr/>
          <p:nvPr/>
        </p:nvSpPr>
        <p:spPr>
          <a:xfrm>
            <a:off x="8595360" y="4306824"/>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Tandfonline, 2024-25 · Emotion reg. In ID</a:t>
            </a:r>
            <a:endParaRPr lang="en-US" sz="950" dirty="0"/>
          </a:p>
        </p:txBody>
      </p:sp>
      <p:sp>
        <p:nvSpPr>
          <p:cNvPr id="20" name="Shape 18"/>
          <p:cNvSpPr/>
          <p:nvPr/>
        </p:nvSpPr>
        <p:spPr>
          <a:xfrm>
            <a:off x="3931920" y="4809744"/>
            <a:ext cx="109728" cy="109728"/>
          </a:xfrm>
          <a:prstGeom prst="ellipse">
            <a:avLst/>
          </a:prstGeom>
          <a:solidFill>
            <a:srgbClr val="FFD3C2"/>
          </a:solidFill>
          <a:ln w="12700">
            <a:solidFill>
              <a:srgbClr val="FFD3C2"/>
            </a:solidFill>
            <a:prstDash val="solid"/>
          </a:ln>
        </p:spPr>
      </p:sp>
      <p:sp>
        <p:nvSpPr>
          <p:cNvPr id="21" name="Text 19"/>
          <p:cNvSpPr/>
          <p:nvPr/>
        </p:nvSpPr>
        <p:spPr>
          <a:xfrm>
            <a:off x="4160520" y="4690872"/>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Mobile-first AT verhoogt participatie</a:t>
            </a:r>
            <a:endParaRPr lang="en-US" sz="1100" dirty="0"/>
          </a:p>
        </p:txBody>
      </p:sp>
      <p:sp>
        <p:nvSpPr>
          <p:cNvPr id="22" name="Text 20"/>
          <p:cNvSpPr/>
          <p:nvPr/>
        </p:nvSpPr>
        <p:spPr>
          <a:xfrm>
            <a:off x="8595360" y="4690872"/>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Klavina et al., 2024 · SAGE</a:t>
            </a:r>
            <a:endParaRPr lang="en-US" sz="950" dirty="0"/>
          </a:p>
        </p:txBody>
      </p:sp>
      <p:sp>
        <p:nvSpPr>
          <p:cNvPr id="23" name="Shape 21"/>
          <p:cNvSpPr/>
          <p:nvPr/>
        </p:nvSpPr>
        <p:spPr>
          <a:xfrm>
            <a:off x="3931920" y="5193792"/>
            <a:ext cx="109728" cy="109728"/>
          </a:xfrm>
          <a:prstGeom prst="ellipse">
            <a:avLst/>
          </a:prstGeom>
          <a:solidFill>
            <a:srgbClr val="FFD3C2"/>
          </a:solidFill>
          <a:ln w="12700">
            <a:solidFill>
              <a:srgbClr val="FFD3C2"/>
            </a:solidFill>
            <a:prstDash val="solid"/>
          </a:ln>
        </p:spPr>
      </p:sp>
      <p:sp>
        <p:nvSpPr>
          <p:cNvPr id="24" name="Text 22"/>
          <p:cNvSpPr/>
          <p:nvPr/>
        </p:nvSpPr>
        <p:spPr>
          <a:xfrm>
            <a:off x="4160520" y="5074920"/>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Apps moeten begeleiderslast verlágen</a:t>
            </a:r>
            <a:endParaRPr lang="en-US" sz="1100" dirty="0"/>
          </a:p>
        </p:txBody>
      </p:sp>
      <p:sp>
        <p:nvSpPr>
          <p:cNvPr id="25" name="Text 23"/>
          <p:cNvSpPr/>
          <p:nvPr/>
        </p:nvSpPr>
        <p:spPr>
          <a:xfrm>
            <a:off x="8595360" y="5074920"/>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Academy Het Dorp, 2021 · Innovatie-impuls</a:t>
            </a:r>
            <a:endParaRPr lang="en-US" sz="950" dirty="0"/>
          </a:p>
        </p:txBody>
      </p:sp>
      <p:sp>
        <p:nvSpPr>
          <p:cNvPr id="26" name="Shape 24"/>
          <p:cNvSpPr/>
          <p:nvPr/>
        </p:nvSpPr>
        <p:spPr>
          <a:xfrm>
            <a:off x="3931920" y="5577840"/>
            <a:ext cx="109728" cy="109728"/>
          </a:xfrm>
          <a:prstGeom prst="ellipse">
            <a:avLst/>
          </a:prstGeom>
          <a:solidFill>
            <a:srgbClr val="FFD3C2"/>
          </a:solidFill>
          <a:ln w="12700">
            <a:solidFill>
              <a:srgbClr val="FFD3C2"/>
            </a:solidFill>
            <a:prstDash val="solid"/>
          </a:ln>
        </p:spPr>
      </p:sp>
      <p:sp>
        <p:nvSpPr>
          <p:cNvPr id="27" name="Text 25"/>
          <p:cNvSpPr/>
          <p:nvPr/>
        </p:nvSpPr>
        <p:spPr>
          <a:xfrm>
            <a:off x="4160520" y="5458968"/>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Tekst + spraak + beeld + eigen tempo</a:t>
            </a:r>
            <a:endParaRPr lang="en-US" sz="1100" dirty="0"/>
          </a:p>
        </p:txBody>
      </p:sp>
      <p:sp>
        <p:nvSpPr>
          <p:cNvPr id="28" name="Text 26"/>
          <p:cNvSpPr/>
          <p:nvPr/>
        </p:nvSpPr>
        <p:spPr>
          <a:xfrm>
            <a:off x="8595360" y="5458968"/>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Steffie.nl · NL praktijkstandaard</a:t>
            </a:r>
            <a:endParaRPr lang="en-US" sz="950" dirty="0"/>
          </a:p>
        </p:txBody>
      </p:sp>
      <p:sp>
        <p:nvSpPr>
          <p:cNvPr id="29" name="Text 27"/>
          <p:cNvSpPr/>
          <p:nvPr/>
        </p:nvSpPr>
        <p:spPr>
          <a:xfrm>
            <a:off x="3657600" y="6446520"/>
            <a:ext cx="8229600" cy="320040"/>
          </a:xfrm>
          <a:prstGeom prst="rect">
            <a:avLst/>
          </a:prstGeom>
          <a:noFill/>
          <a:ln/>
        </p:spPr>
        <p:txBody>
          <a:bodyPr wrap="square" rtlCol="0" anchor="ctr"/>
          <a:lstStyle/>
          <a:p>
            <a:pPr indent="0" marL="0">
              <a:buNone/>
            </a:pPr>
            <a:r>
              <a:rPr lang="en-US" sz="1100" dirty="0">
                <a:solidFill>
                  <a:srgbClr val="FFD3C2"/>
                </a:solidFill>
                <a:latin typeface="Helvetica" pitchFamily="34" charset="0"/>
                <a:ea typeface="Helvetica" pitchFamily="34" charset="-122"/>
                <a:cs typeface="Helvetica" pitchFamily="34" charset="-120"/>
              </a:rPr>
              <a:t>Evelien Bruns · 2026 · taskbuddy-gilt-one.vercel.app</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TaskBuddy: onderbouwd</dc:title>
  <dc:subject>PptxGenJS Presentation</dc:subject>
  <dc:creator>Evelien Bruns</dc:creator>
  <cp:lastModifiedBy>Evelien Bruns</cp:lastModifiedBy>
  <cp:revision>1</cp:revision>
  <dcterms:created xsi:type="dcterms:W3CDTF">2026-06-12T10:13:12Z</dcterms:created>
  <dcterms:modified xsi:type="dcterms:W3CDTF">2026-06-12T10:13:12Z</dcterms:modified>
</cp:coreProperties>
</file>